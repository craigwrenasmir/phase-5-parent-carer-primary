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sldIdLst>
    <p:sldId id="842" r:id="rId5"/>
    <p:sldId id="843" r:id="rId14"/>
    <p:sldId id="844" r:id="rId15"/>
    <p:sldId id="845" r:id="rId13"/>
    <p:sldId id="846" r:id="rId12"/>
    <p:sldId id="847" r:id="rId11"/>
    <p:sldId id="848" r:id="rId10"/>
    <p:sldId id="849" r:id="rId9"/>
    <p:sldId id="850" r:id="rId8"/>
    <p:sldId id="851" r:id="rId7"/>
    <p:sldId id="852" r:id="rId6"/>
    <p:sldId id="853" r:id="rId24"/>
    <p:sldId id="85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DEC358-9AF5-9F80-E7CA-D932E5596AC8}" name="Alison Macrae" initials="AM" userId="S::amacrae@autismspectrum.org.au::6553da1e-2f05-4f27-a7df-76a06554bf9d" providerId="AD"/>
  <p188:author id="{7C3F8D6F-1DEE-6615-6CEF-2DFCB510BACA}" name="Nicole Torres" initials="NT" userId="S::ntorres@autismcrc.com.au::0026055d-e81a-4ac9-a7f9-7ac97c409d2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7" dt="2026-08-25T01:16:54.2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59" autoAdjust="0"/>
    <p:restoredTop sz="80742" autoAdjust="0"/>
  </p:normalViewPr>
  <p:slideViewPr>
    <p:cSldViewPr snapToGrid="0">
      <p:cViewPr varScale="1">
        <p:scale>
          <a:sx n="99" d="100"/>
          <a:sy n="99" d="100"/>
        </p:scale>
        <p:origin x="128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11.xml"/><Relationship Id="rId7" Type="http://schemas.openxmlformats.org/officeDocument/2006/relationships/slide" Target="slides/slide10.xml"/><Relationship Id="rId8" Type="http://schemas.openxmlformats.org/officeDocument/2006/relationships/slide" Target="slides/slide9.xml"/><Relationship Id="rId9" Type="http://schemas.openxmlformats.org/officeDocument/2006/relationships/slide" Target="slides/slide8.xml"/><Relationship Id="rId10" Type="http://schemas.openxmlformats.org/officeDocument/2006/relationships/slide" Target="slides/slide7.xml"/><Relationship Id="rId11" Type="http://schemas.openxmlformats.org/officeDocument/2006/relationships/slide" Target="slides/slide6.xml"/><Relationship Id="rId12" Type="http://schemas.openxmlformats.org/officeDocument/2006/relationships/slide" Target="slides/slide5.xml"/><Relationship Id="rId13" Type="http://schemas.openxmlformats.org/officeDocument/2006/relationships/slide" Target="slides/slide4.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microsoft.com/office/2016/11/relationships/changesInfo" Target="changesInfos/changesInfo1.xml"/><Relationship Id="rId22" Type="http://schemas.microsoft.com/office/2015/10/relationships/revisionInfo" Target="revisionInfo.xml"/><Relationship Id="rId23" Type="http://schemas.microsoft.com/office/2018/10/relationships/authors" Target="authors.xml"/><Relationship Id="rId24" Type="http://schemas.openxmlformats.org/officeDocument/2006/relationships/slide" Target="slides/slide12.xml"/><Relationship Id="rId25"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Cousins" userId="S::jcousins@autismspectrum.org.au::e5107725-ce0a-4006-bfb3-3787c68d621c" providerId="AD" clId="Web-{00000000-0000-0000-0000-000000000000}"/>
    <pc:docChg chg="modSld">
      <pc:chgData name="Jen Cousins" userId="S::jcousins@autismspectrum.org.au::e5107725-ce0a-4006-bfb3-3787c68d621c" providerId="AD" clId="Web-{00000000-0000-0000-0000-000000000000}" dt="2026-08-25T01:16:54.207" v="24" actId="20577"/>
      <pc:docMkLst>
        <pc:docMk/>
      </pc:docMkLst>
      <pc:sldChg chg="modSp">
        <pc:chgData name="Jen Cousins" userId="S::jcousins@autismspectrum.org.au::e5107725-ce0a-4006-bfb3-3787c68d621c" providerId="AD" clId="Web-{00000000-0000-0000-0000-000000000000}" dt="2026-08-25T01:14:54.796" v="4" actId="20577"/>
        <pc:sldMkLst>
          <pc:docMk/>
          <pc:sldMk cId="2514732756" sldId="831"/>
        </pc:sldMkLst>
        <pc:spChg chg="mod">
          <ac:chgData name="Jen Cousins" userId="S::jcousins@autismspectrum.org.au::e5107725-ce0a-4006-bfb3-3787c68d621c" providerId="AD" clId="Web-{00000000-0000-0000-0000-000000000000}" dt="2026-08-25T01:14:54.796" v="4" actId="20577"/>
          <ac:spMkLst>
            <pc:docMk/>
            <pc:sldMk cId="2514732756" sldId="831"/>
            <ac:spMk id="11" creationId="{77185316-A130-7900-FBCC-46284722BF13}"/>
          </ac:spMkLst>
        </pc:spChg>
      </pc:sldChg>
      <pc:sldChg chg="modSp">
        <pc:chgData name="Jen Cousins" userId="S::jcousins@autismspectrum.org.au::e5107725-ce0a-4006-bfb3-3787c68d621c" providerId="AD" clId="Web-{00000000-0000-0000-0000-000000000000}" dt="2026-08-25T01:16:54.207" v="24" actId="20577"/>
        <pc:sldMkLst>
          <pc:docMk/>
          <pc:sldMk cId="909566524" sldId="845"/>
        </pc:sldMkLst>
        <pc:spChg chg="mod">
          <ac:chgData name="Jen Cousins" userId="S::jcousins@autismspectrum.org.au::e5107725-ce0a-4006-bfb3-3787c68d621c" providerId="AD" clId="Web-{00000000-0000-0000-0000-000000000000}" dt="2026-08-25T01:15:09.484" v="7" actId="20577"/>
          <ac:spMkLst>
            <pc:docMk/>
            <pc:sldMk cId="909566524" sldId="845"/>
            <ac:spMk id="2" creationId="{3AF6DD61-E9ED-68B6-3963-5981E1957F36}"/>
          </ac:spMkLst>
        </pc:spChg>
        <pc:spChg chg="mod">
          <ac:chgData name="Jen Cousins" userId="S::jcousins@autismspectrum.org.au::e5107725-ce0a-4006-bfb3-3787c68d621c" providerId="AD" clId="Web-{00000000-0000-0000-0000-000000000000}" dt="2026-08-25T01:16:54.207" v="24" actId="20577"/>
          <ac:spMkLst>
            <pc:docMk/>
            <pc:sldMk cId="909566524" sldId="845"/>
            <ac:spMk id="3" creationId="{70544750-78E2-6BA7-D6BF-05D88B8B966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914A82-6332-4EE3-858D-A919E5E1B5B0}" type="datetimeFigureOut">
              <a:rPr lang="en-AU" smtClean="0"/>
              <a:t>25/9/2026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ED845D-D26B-42D1-9889-EA4054142996}" type="slidenum">
              <a:rPr lang="en-AU" smtClean="0"/>
              <a:t>‹#›</a:t>
            </a:fld>
            <a:endParaRPr lang="en-AU"/>
          </a:p>
        </p:txBody>
      </p:sp>
    </p:spTree>
    <p:extLst>
      <p:ext uri="{BB962C8B-B14F-4D97-AF65-F5344CB8AC3E}">
        <p14:creationId xmlns:p14="http://schemas.microsoft.com/office/powerpoint/2010/main" val="480503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FA376-FBCA-E134-00AC-F76F7CBA9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82D267-8BD3-BC2F-2281-1FE0BC6E13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9679C2-2556-FDBE-AACF-C054420D9123}"/>
              </a:ext>
            </a:extLst>
          </p:cNvPr>
          <p:cNvSpPr>
            <a:spLocks noGrp="1"/>
          </p:cNvSpPr>
          <p:nvPr>
            <p:ph type="body" idx="1"/>
          </p:nvPr>
        </p:nvSpPr>
        <p:spPr/>
        <p:txBody>
          <a:bodyPr/>
          <a:lstStyle/>
          <a:p>
            <a:r>
              <a:t>SUGGESTED TIME: 1 min  ·  12:45 - 12:46</a:t>
            </a:r>
          </a:p>
          <a:p/>
          <a:p>
            <a:r>
              <a:t>PURPOSE</a:t>
            </a:r>
          </a:p>
          <a:p>
            <a:r>
              <a:t>Welcome participants back from lunch and set the practical focus for the afternoon.</a:t>
            </a:r>
          </a:p>
          <a:p/>
          <a:p>
            <a:r>
              <a:t>WHAT TO DO</a:t>
            </a:r>
          </a:p>
          <a:p>
            <a:r>
              <a:t>1. Welcome participants back from lunch.</a:t>
            </a:r>
          </a:p>
          <a:p>
            <a:r>
              <a:t>2. Name the shift from understanding Autistic experience this morning to everyday support at home and in the community.</a:t>
            </a:r>
          </a:p>
          <a:p>
            <a:r>
              <a:t>3. Explain that the ideas in this session are prompts for family judgement, not a single model of home life.</a:t>
            </a:r>
          </a:p>
          <a:p>
            <a:r>
              <a:t>4. Invite participants to take what is workable for their child and family and leave the rest.</a:t>
            </a:r>
          </a:p>
          <a:p/>
          <a:p>
            <a:r>
              <a:t>YOU MIGHT SAY</a:t>
            </a:r>
          </a:p>
          <a:p>
            <a:r>
              <a:t>This morning was about understanding. This afternoon is about what that means for everyday life. You know your family best, so take what fits and leave what doesn't.</a:t>
            </a:r>
          </a:p>
          <a:p/>
          <a:p>
            <a:r>
              <a:t>KEY MESSAGES</a:t>
            </a:r>
          </a:p>
          <a:p>
            <a:r>
              <a:t>• Home and community supports need to fit the real family.</a:t>
            </a:r>
          </a:p>
          <a:p>
            <a:r>
              <a:t>• A practical plan begins with the child's capacity, preferences and context.</a:t>
            </a:r>
          </a:p>
          <a:p/>
          <a:p>
            <a:r>
              <a:t>THREAD</a:t>
            </a:r>
          </a:p>
          <a:p>
            <a:r>
              <a:t>The afternoon builds on the batteries, spoons and masking content from Session 3.</a:t>
            </a:r>
          </a:p>
        </p:txBody>
      </p:sp>
      <p:sp>
        <p:nvSpPr>
          <p:cNvPr id="4" name="Slide Number Placeholder 3">
            <a:extLst>
              <a:ext uri="{FF2B5EF4-FFF2-40B4-BE49-F238E27FC236}">
                <a16:creationId xmlns:a16="http://schemas.microsoft.com/office/drawing/2014/main" id="{47D6F3C3-F556-9D14-0433-2A3DB64ABF86}"/>
              </a:ext>
            </a:extLst>
          </p:cNvPr>
          <p:cNvSpPr>
            <a:spLocks noGrp="1"/>
          </p:cNvSpPr>
          <p:nvPr>
            <p:ph type="sldNum" sz="quarter" idx="10"/>
          </p:nvPr>
        </p:nvSpPr>
        <p:spPr/>
        <p:txBody>
          <a:bodyPr/>
          <a:lstStyle/>
          <a:p>
            <a:fld id="{3757639E-2754-4616-B3B2-52F975BD6937}" type="slidenum">
              <a:rPr lang="en-AU" smtClean="0"/>
              <a:t>1</a:t>
            </a:fld>
            <a:endParaRPr lang="en-AU"/>
          </a:p>
        </p:txBody>
      </p:sp>
    </p:spTree>
    <p:extLst>
      <p:ext uri="{BB962C8B-B14F-4D97-AF65-F5344CB8AC3E}">
        <p14:creationId xmlns:p14="http://schemas.microsoft.com/office/powerpoint/2010/main" val="1977212194"/>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12:46 - 12:49</a:t>
            </a:r>
          </a:p>
          <a:p/>
          <a:p>
            <a:r>
              <a:t>PURPOSE</a:t>
            </a:r>
          </a:p>
          <a:p>
            <a:r>
              <a:t>Frame distress as communication about needs: what we see is often only the tip of the iceberg, with thoughts, feelings, values and needs underneath.</a:t>
            </a:r>
          </a:p>
          <a:p/>
          <a:p>
            <a:r>
              <a:t>WHAT TO DO</a:t>
            </a:r>
          </a:p>
          <a:p>
            <a:r>
              <a:t>1. Read the line at the top of the slide: what we see is often only the tip of the iceberg. Then walk through the two cards: behaviour is what we can see and hear; underneath are thoughts and feelings, values, and needs such as belonging, predictability, security and self-expression.</a:t>
            </a:r>
          </a:p>
          <a:p>
            <a:r>
              <a:t>2. Give a home example of what might come before a reaction: an unexpected change, too much noise, a demand that was too big on that day.</a:t>
            </a:r>
          </a:p>
          <a:p>
            <a:r>
              <a:t>3. Invite participants to think of a recent hard moment and what might have been underneath it. This is private thinking, not sharing.</a:t>
            </a:r>
          </a:p>
          <a:p/>
          <a:p>
            <a:r>
              <a:t>YOU MIGHT SAY</a:t>
            </a:r>
          </a:p>
          <a:p>
            <a:r>
              <a:t>What we see is often only the tip of the iceberg. Underneath are thoughts, feelings and needs we can't see straight away.</a:t>
            </a:r>
          </a:p>
          <a:p>
            <a:r>
              <a:t>When we look back at what came before, a hard moment often starts to make sense. A change of plan, a noisy shop, a request that would be fine on another day.</a:t>
            </a:r>
          </a:p>
          <a:p/>
          <a:p>
            <a:r>
              <a:t>KEY MESSAGES</a:t>
            </a:r>
          </a:p>
          <a:p>
            <a:r>
              <a:t>• A reaction is rarely a choice. It usually makes sense once we understand what came before.</a:t>
            </a:r>
          </a:p>
          <a:p>
            <a:r>
              <a:t>• Behaviour is communication. Be curious about what sits underneath.</a:t>
            </a:r>
          </a:p>
          <a:p/>
          <a:p>
            <a:r>
              <a:t>KEEP IN MIND</a:t>
            </a:r>
          </a:p>
          <a:p>
            <a:r>
              <a:t>• Some families are living with a lot of distress at home right now. Keep the tone free of blame for the child or the parent.</a:t>
            </a:r>
          </a:p>
          <a:p>
            <a:r>
              <a:t>• Link back to the batteries and spoons from Session 3 rather than introducing new theory.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12:49 - 12:52</a:t>
            </a:r>
          </a:p>
          <a:p/>
          <a:p>
            <a:r>
              <a:t>PURPOSE</a:t>
            </a:r>
          </a:p>
          <a:p>
            <a:r>
              <a:t>Describe shutdown and meltdown as involuntary responses to overwhelm.</a:t>
            </a:r>
          </a:p>
          <a:p/>
          <a:p>
            <a:r>
              <a:t>WHAT TO DO</a:t>
            </a:r>
          </a:p>
          <a:p>
            <a:r>
              <a:t>1. Explain shutdown: turning inward. Freeze or flop. Less able to speak or say what they need. It can be hidden or masked.</a:t>
            </a:r>
          </a:p>
          <a:p>
            <a:r>
              <a:t>2. Explain meltdown: turning outward. Fight or flight. It might look like crying, running away or a big emotional outburst.</a:t>
            </a:r>
          </a:p>
          <a:p>
            <a:r>
              <a:t>3. Point out that a shutdown can be easy to miss, especially if the child is quiet or masking.</a:t>
            </a:r>
          </a:p>
          <a:p/>
          <a:p>
            <a:r>
              <a:t>YOU MIGHT SAY</a:t>
            </a:r>
          </a:p>
          <a:p>
            <a:r>
              <a:t>Shutdown and meltdown are both what can happen when a child's system is overwhelmed. One turns inward and one turns outward, and neither is something the child chooses.</a:t>
            </a:r>
          </a:p>
          <a:p>
            <a:r>
              <a:t>A shutdown can be quiet. A child might go still, stop talking or seem to switch off. It can be easy to miss.</a:t>
            </a:r>
          </a:p>
          <a:p/>
          <a:p>
            <a:r>
              <a:t>KEY MESSAGES</a:t>
            </a:r>
          </a:p>
          <a:p>
            <a:r>
              <a:t>• Shutdowns and meltdowns are involuntary responses to overwhelm, not a choice.</a:t>
            </a:r>
          </a:p>
          <a:p/>
          <a:p>
            <a:r>
              <a:t>KEEP IN MIND</a:t>
            </a:r>
          </a:p>
          <a:p>
            <a:r>
              <a:t>• Avoid describing meltdowns as tantrums or as something the child can stop on request.</a:t>
            </a:r>
          </a:p>
          <a:p>
            <a:r>
              <a:t>• Parents may recognise hard experiences here. Allow a pause and keep moving gently.</a:t>
            </a:r>
          </a:p>
          <a:p/>
          <a:p>
            <a:r>
              <a:t>THREAD</a:t>
            </a:r>
          </a:p>
          <a:p>
            <a:r>
              <a:t>Links to masking in Session 3: a child who masks may shut down rather than melt down, and it may not show until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12:52 - 12:55</a:t>
            </a:r>
          </a:p>
          <a:p/>
          <a:p>
            <a:r>
              <a:t>PURPOSE</a:t>
            </a:r>
          </a:p>
          <a:p>
            <a:r>
              <a:t>Explain Autistic burnout and School Can't as signs of long-term overload, not choice or defiance.</a:t>
            </a:r>
          </a:p>
          <a:p/>
          <a:p>
            <a:r>
              <a:t>WHAT TO DO</a:t>
            </a:r>
          </a:p>
          <a:p>
            <a:r>
              <a:t>1. Explain Autistic burnout: deep physical, mental and emotional exhaustion after a long time of too much sensory and social demand. Skills and capacity can drop for a while.</a:t>
            </a:r>
          </a:p>
          <a:p>
            <a:r>
              <a:t>2. Explain School Can't: not being able to go to school because of overwhelming anxiety, fear or sensory overload. It is not a choice or defiance.</a:t>
            </a:r>
          </a:p>
          <a:p>
            <a:r>
              <a:t>3. Read the closing line on the slide.</a:t>
            </a:r>
          </a:p>
          <a:p/>
          <a:p>
            <a:r>
              <a:t>YOU MIGHT SAY</a:t>
            </a:r>
          </a:p>
          <a:p>
            <a:r>
              <a:t>Sometimes overwhelm doesn't come and go. It builds up over weeks or months.</a:t>
            </a:r>
          </a:p>
          <a:p>
            <a:r>
              <a:t>If your child has lost skills they had, or can't get through the school gate, it is not because they aren't trying. It usually means they have been carrying too much for too long.</a:t>
            </a:r>
          </a:p>
          <a:p/>
          <a:p>
            <a:r>
              <a:t>KEY MESSAGES</a:t>
            </a:r>
          </a:p>
          <a:p>
            <a:r>
              <a:t>• Burnout and School Can't are often signs that a child has been coping with more than we realised, for longer than we realised.</a:t>
            </a:r>
          </a:p>
          <a:p>
            <a:r>
              <a:t>• Looking underneath helps us find the support, adjustments and recovery they need.</a:t>
            </a:r>
          </a:p>
          <a:p/>
          <a:p>
            <a:r>
              <a:t>KEEP IN MIND</a:t>
            </a:r>
          </a:p>
          <a:p>
            <a:r>
              <a:t>• Some families in the room may be in the middle of burnout or School Can't right now. Acknowledge how hard this is. Do not offer individual advice in the room; offer to talk at a break.</a:t>
            </a:r>
          </a:p>
          <a:p>
            <a:r>
              <a:t>• Avoid 'school refusal' language, which suggests choice.</a:t>
            </a:r>
          </a:p>
          <a:p>
            <a:r>
              <a:t>• Session 5 covers working with school. Point there rather than opening a school discussion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12:55 - 12:58  ·  Workbook - My child's signs and what helps</a:t>
            </a:r>
          </a:p>
          <a:p/>
          <a:p>
            <a:r>
              <a:t>PURPOSE</a:t>
            </a:r>
          </a:p>
          <a:p>
            <a:r>
              <a:t>Give practical ways to respond during overwhelm.</a:t>
            </a:r>
          </a:p>
          <a:p/>
          <a:p>
            <a:r>
              <a:t>WHAT TO DO</a:t>
            </a:r>
          </a:p>
          <a:p>
            <a:r>
              <a:t>1. Walk through the five points on the slide.</a:t>
            </a:r>
          </a:p>
          <a:p>
            <a:r>
              <a:t>2. Emphasise reducing input: fewer words, fewer questions, less noise.</a:t>
            </a:r>
          </a:p>
          <a:p>
            <a:r>
              <a:t>3. Explain that a safe, quiet space works best when it has been agreed before, when everyone is calm.</a:t>
            </a:r>
          </a:p>
          <a:p>
            <a:r>
              <a:t>4. Remind participants that talking it through can wait until the child is calm.</a:t>
            </a:r>
          </a:p>
          <a:p/>
          <a:p>
            <a:r>
              <a:t>YOU MIGHT SAY</a:t>
            </a:r>
          </a:p>
          <a:p>
            <a:r>
              <a:t>In the moment, keep things simple: fewer words, fewer questions, less noise.</a:t>
            </a:r>
          </a:p>
          <a:p>
            <a:r>
              <a:t>The talking can come later. Once your child is calm, that's the time to understand what happened, if they want to.</a:t>
            </a:r>
          </a:p>
          <a:p/>
          <a:p>
            <a:r>
              <a:t>KEY MESSAGES</a:t>
            </a:r>
          </a:p>
          <a:p>
            <a:r>
              <a:t>• Be curious, not judgemental.</a:t>
            </a:r>
          </a:p>
          <a:p>
            <a:r>
              <a:t>• It is a body response. They are doing the best they can.</a:t>
            </a:r>
          </a:p>
          <a:p/>
          <a:p>
            <a:r>
              <a:t>KEEP IN MIND</a:t>
            </a:r>
          </a:p>
          <a:p>
            <a:r>
              <a:t>• Present these as options, not a script. Parents know what calms their own child.</a:t>
            </a:r>
          </a:p>
          <a:p>
            <a:r>
              <a:t>• Acknowledge that it is hard to stay calm when your child is distressed. That leads into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12:58 - 1:00</a:t>
            </a:r>
          </a:p>
          <a:p/>
          <a:p>
            <a:r>
              <a:t>PURPOSE</a:t>
            </a:r>
          </a:p>
          <a:p>
            <a:r>
              <a:t>Explain co-regulation as the foundation self-regulation grows from.</a:t>
            </a:r>
          </a:p>
          <a:p/>
          <a:p>
            <a:r>
              <a:t>WHAT TO DO</a:t>
            </a:r>
          </a:p>
          <a:p>
            <a:r>
              <a:t>1. Explain co-regulation: a calm, trusted adult helps the child settle. The adult's steady presence does a lot of the work.</a:t>
            </a:r>
          </a:p>
          <a:p>
            <a:r>
              <a:t>2. Explain self-regulation: what the child does to manage their own energy and feelings. It grows over time, with support.</a:t>
            </a:r>
          </a:p>
          <a:p>
            <a:r>
              <a:t>3. Read the closing line.</a:t>
            </a:r>
          </a:p>
          <a:p/>
          <a:p>
            <a:r>
              <a:t>YOU MIGHT SAY</a:t>
            </a:r>
          </a:p>
          <a:p>
            <a:r>
              <a:t>Children learn to settle with the help of a calm adult. Your calm presence does a lot of the work, even when you don't say anything.</a:t>
            </a:r>
          </a:p>
          <a:p/>
          <a:p>
            <a:r>
              <a:t>KEY MESSAGES</a:t>
            </a:r>
          </a:p>
          <a:p>
            <a:r>
              <a:t>• Co-regulation comes first. Self-regulation builds from it.</a:t>
            </a:r>
          </a:p>
          <a:p/>
          <a:p>
            <a:r>
              <a:t>KEEP IN MIND</a:t>
            </a:r>
          </a:p>
          <a:p>
            <a:r>
              <a:t>• Some parents will hear this as pressure to always be calm. Say plainly that nobody manages this every time.</a:t>
            </a:r>
          </a:p>
          <a:p/>
          <a:p>
            <a:r>
              <a:t>THREAD</a:t>
            </a:r>
          </a:p>
          <a:p>
            <a:r>
              <a:t>Your own capacity to co-regulate comes back on slide 12, Your own battery counts.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4 min  ·  1:00 - 1:04</a:t>
            </a:r>
          </a:p>
          <a:p/>
          <a:p>
            <a:r>
              <a:t>PURPOSE</a:t>
            </a:r>
          </a:p>
          <a:p>
            <a:r>
              <a:t>Help participants recognise the after-school crash and plan recovery as part of the family routine.</a:t>
            </a:r>
          </a:p>
          <a:p/>
          <a:p>
            <a:r>
              <a:t>WHAT TO DO</a:t>
            </a:r>
          </a:p>
          <a:p>
            <a:r>
              <a:t>1. Link to masking and the battery from Session 3: many Autistic children hold it together at school and let go at home.</a:t>
            </a:r>
          </a:p>
          <a:p>
            <a:r>
              <a:t>2. Walk through the four ideas: recovery first, 'How was school?' can wait, homework can wait too, keep it the same.</a:t>
            </a:r>
          </a:p>
          <a:p>
            <a:r>
              <a:t>3. Invite participants to think privately about what changes they notice after school and what helps their child recover.</a:t>
            </a:r>
          </a:p>
          <a:p>
            <a:r>
              <a:t>4. Point to "My child's signs and what helps" in the workbook (the "What helps them recover" column) for later.</a:t>
            </a:r>
          </a:p>
          <a:p/>
          <a:p>
            <a:r>
              <a:t>YOU MIGHT SAY</a:t>
            </a:r>
          </a:p>
          <a:p>
            <a:r>
              <a:t>Many children hold it together all day and let go when they get home. Often that is because home is where they feel safe.</a:t>
            </a:r>
          </a:p>
          <a:p>
            <a:r>
              <a:t>Recovery comes first. Food, quiet, movement or screen time, their choice, before questions or demands. They may tell you about their day later, often at bedtime, or not at all. That is okay.</a:t>
            </a:r>
          </a:p>
          <a:p/>
          <a:p>
            <a:r>
              <a:t>KEY MESSAGES</a:t>
            </a:r>
          </a:p>
          <a:p>
            <a:r>
              <a:t>• What happens after school can tell us about the load of the day.</a:t>
            </a:r>
          </a:p>
          <a:p>
            <a:r>
              <a:t>• Recovery time can be built into the family routine so it is there every day.</a:t>
            </a:r>
          </a:p>
          <a:p>
            <a:r>
              <a:t>• A softer landing will look different for each child and family.</a:t>
            </a:r>
          </a:p>
          <a:p/>
          <a:p>
            <a:r>
              <a:t>KEEP IN MIND</a:t>
            </a:r>
          </a:p>
          <a:p>
            <a:r>
              <a:t>• Introduce this as a pattern some families recognise, without assuming it applies to every child.</a:t>
            </a:r>
          </a:p>
          <a:p>
            <a:r>
              <a:t>• Some parents may have been told by school that their child is fine at school. Acknowledge that both can be true.</a:t>
            </a:r>
          </a:p>
          <a:p/>
          <a:p>
            <a:r>
              <a:t>THREAD</a:t>
            </a:r>
          </a:p>
          <a:p>
            <a:r>
              <a:t>Builds on 'Masking and the cost of appearing fine' in Session 3. What families see after school can be useful to share with school in Session 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1:04 - 1:07</a:t>
            </a:r>
          </a:p>
          <a:p/>
          <a:p>
            <a:r>
              <a:t>PURPOSE</a:t>
            </a:r>
          </a:p>
          <a:p>
            <a:r>
              <a:t>Explore predictability that supports the family without making home feel like school.</a:t>
            </a:r>
          </a:p>
          <a:p/>
          <a:p>
            <a:r>
              <a:t>WHAT TO DO</a:t>
            </a:r>
          </a:p>
          <a:p>
            <a:r>
              <a:t>1. Read the opening line: predictability lowers everyone's load, and home does not need to feel like school.</a:t>
            </a:r>
          </a:p>
          <a:p>
            <a:r>
              <a:t>2. Walk through the four ideas: a few routines, visual supports, warnings, and what to do when plans change.</a:t>
            </a:r>
          </a:p>
          <a:p>
            <a:r>
              <a:t>3. Invite participants to think about which one or two routines would help their family most.</a:t>
            </a:r>
          </a:p>
          <a:p/>
          <a:p>
            <a:r>
              <a:t>YOU MIGHT SAY</a:t>
            </a:r>
          </a:p>
          <a:p>
            <a:r>
              <a:t>You don't need a visual schedule for everything. Pick the parts of the day that are hardest and start there.</a:t>
            </a:r>
          </a:p>
          <a:p>
            <a:r>
              <a:t>When you give a warning, mean it. If you say five more minutes, it needs to be five minutes.</a:t>
            </a:r>
          </a:p>
          <a:p/>
          <a:p>
            <a:r>
              <a:t>KEY MESSAGES</a:t>
            </a:r>
          </a:p>
          <a:p>
            <a:r>
              <a:t>• Predictability can reduce avoidable uncertainty.</a:t>
            </a:r>
          </a:p>
          <a:p>
            <a:r>
              <a:t>• Routines and visuals should serve the family, not become extra demands.</a:t>
            </a:r>
          </a:p>
          <a:p>
            <a:r>
              <a:t>• Home can remain a place of comfort, relationship and recovery.</a:t>
            </a:r>
          </a:p>
          <a:p/>
          <a:p>
            <a:r>
              <a:t>KEEP IN MIND</a:t>
            </a:r>
          </a:p>
          <a:p>
            <a:r>
              <a:t>• Present visual supports as optional, used where they help.</a:t>
            </a:r>
          </a:p>
          <a:p>
            <a:r>
              <a:t>• Avoid implying families should run home like a classroom.</a:t>
            </a:r>
          </a:p>
          <a:p/>
          <a:p>
            <a:r>
              <a:t>THREAD</a:t>
            </a:r>
          </a:p>
          <a:p>
            <a:r>
              <a:t>Links to visual supports in Session 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2 min  ·  1:07 - 1:09</a:t>
            </a:r>
          </a:p>
          <a:p/>
          <a:p>
            <a:r>
              <a:t>PURPOSE</a:t>
            </a:r>
          </a:p>
          <a:p>
            <a:r>
              <a:t>Position deep interests as sources of regulation, connection and joy.</a:t>
            </a:r>
          </a:p>
          <a:p/>
          <a:p>
            <a:r>
              <a:t>WHAT TO DO</a:t>
            </a:r>
          </a:p>
          <a:p>
            <a:r>
              <a:t>1. Name the three ideas on the slide: regulation, connection, and joy and identity.</a:t>
            </a:r>
          </a:p>
          <a:p>
            <a:r>
              <a:t>2. Read the line at the bottom about taking interests away as a consequence.</a:t>
            </a:r>
          </a:p>
          <a:p>
            <a:r>
              <a:t>3. Invite participants to think of one of their child's interests and when it helps.</a:t>
            </a:r>
          </a:p>
          <a:p/>
          <a:p>
            <a:r>
              <a:t>YOU MIGHT SAY</a:t>
            </a:r>
          </a:p>
          <a:p>
            <a:r>
              <a:t>Time with an interest can restore energy faster than almost anything else. It is also a way into your child's world.</a:t>
            </a:r>
          </a:p>
          <a:p/>
          <a:p>
            <a:r>
              <a:t>KEY MESSAGES</a:t>
            </a:r>
          </a:p>
          <a:p>
            <a:r>
              <a:t>• Deep interests are part of who a child is, not something to ration.</a:t>
            </a:r>
          </a:p>
          <a:p>
            <a:r>
              <a:t>• Taking an interest away as a consequence often makes regulation harder.</a:t>
            </a:r>
          </a:p>
          <a:p/>
          <a:p>
            <a:r>
              <a:t>KEEP IN MIND</a:t>
            </a:r>
          </a:p>
          <a:p>
            <a:r>
              <a:t>• Avoid treating interests only as rewards or leverage for compliance.</a:t>
            </a:r>
          </a:p>
          <a:p>
            <a:r>
              <a:t>• Some parents use interest time as a consequence. Acknowledge why, without judgement, and offer the alternative.</a:t>
            </a:r>
          </a:p>
          <a:p/>
          <a:p>
            <a:r>
              <a:t>THREAD</a:t>
            </a:r>
          </a:p>
          <a:p>
            <a:r>
              <a:t>Links to deep focus and interests in Session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7 min  ·  1:09 - 1:16  ·  Workbook - Planning an outing</a:t>
            </a:r>
          </a:p>
          <a:p/>
          <a:p>
            <a:r>
              <a:t>PURPOSE</a:t>
            </a:r>
          </a:p>
          <a:p>
            <a:r>
              <a:t>Practise planning a community outing around load, exits and recovery.</a:t>
            </a:r>
          </a:p>
          <a:p/>
          <a:p>
            <a:r>
              <a:t>WHAT TO DO</a:t>
            </a:r>
          </a:p>
          <a:p>
            <a:r>
              <a:t>1. Read the question on the slide: a party, the shops, a swimming lesson. What do you already do to plan for it?</a:t>
            </a:r>
          </a:p>
          <a:p>
            <a:r>
              <a:t>2. Walk through before, during and after.</a:t>
            </a:r>
          </a:p>
          <a:p>
            <a:r>
              <a:t>3. Ask each person to choose one real or familiar outing and share one idea with their table.</a:t>
            </a:r>
          </a:p>
          <a:p>
            <a:r>
              <a:t>4. Set a timer for 6 minutes.</a:t>
            </a:r>
          </a:p>
          <a:p/>
          <a:p>
            <a:r>
              <a:t>YOU MIGHT SAY</a:t>
            </a:r>
          </a:p>
          <a:p>
            <a:r>
              <a:t>Choose one outing that's coming up, or one that's hard. Think about before, during and after.</a:t>
            </a:r>
          </a:p>
          <a:p>
            <a:r>
              <a:t>Keep an eye on how they are going rather than the time. Leaving early can still be a successful outing.</a:t>
            </a:r>
          </a:p>
          <a:p/>
          <a:p>
            <a:r>
              <a:t>KEY MESSAGES</a:t>
            </a:r>
          </a:p>
          <a:p>
            <a:r>
              <a:t>• Planning includes what happens before, during and after an outing.</a:t>
            </a:r>
          </a:p>
          <a:p>
            <a:r>
              <a:t>• Planning an exit in advance is a sensible part of the plan.</a:t>
            </a:r>
          </a:p>
          <a:p>
            <a:r>
              <a:t>• Recovery afterwards belongs in the plan.</a:t>
            </a:r>
          </a:p>
          <a:p/>
          <a:p>
            <a:r>
              <a:t>ACTIVITY: Table sharing  ·  tables  ·  6 minutes</a:t>
            </a:r>
          </a:p>
          <a:p>
            <a:r>
              <a:t>Prompt: Choose one outing. What do you already do to plan for it?</a:t>
            </a:r>
          </a:p>
          <a:p>
            <a:r>
              <a:t>1. Before: preview it. What, where, how long, and what happens if it is too much?</a:t>
            </a:r>
          </a:p>
          <a:p>
            <a:r>
              <a:t>2. During: watch their energy, not the clock. Plan an exit.</a:t>
            </a:r>
          </a:p>
          <a:p>
            <a:r>
              <a:t>3. After: plan recovery time.</a:t>
            </a:r>
          </a:p>
          <a:p>
            <a:r>
              <a:t>4. Each person shares one idea with the table. Add ideas from others to your workbook.</a:t>
            </a:r>
          </a:p>
          <a:p>
            <a:r>
              <a:t>Bring the room back:</a:t>
            </a:r>
          </a:p>
          <a:p>
            <a:r>
              <a:t>• Invite one or two practical examples from the room.</a:t>
            </a:r>
          </a:p>
          <a:p>
            <a:r>
              <a:t>Close: Adjusting, leaving early or recovering afterwards can still be part of a successful outing.</a:t>
            </a:r>
          </a:p>
          <a:p/>
          <a:p>
            <a:r>
              <a:t>KEEP IN MIND</a:t>
            </a:r>
          </a:p>
          <a:p>
            <a:r>
              <a:t>• Keep the activity practical. The aim is a workable plan, not a perfect outing.</a:t>
            </a:r>
          </a:p>
          <a:p>
            <a:r>
              <a:t>• Some families avoid outings altogether at the moment. That is a valid choice, not a failure.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1:16 - 1:19</a:t>
            </a:r>
          </a:p>
          <a:p/>
          <a:p>
            <a:r>
              <a:t>PURPOSE</a:t>
            </a:r>
          </a:p>
          <a:p>
            <a:r>
              <a:t>Acknowledge the needs of the whole family and invite realistic thinking about balance.</a:t>
            </a:r>
          </a:p>
          <a:p/>
          <a:p>
            <a:r>
              <a:t>WHAT TO DO</a:t>
            </a:r>
          </a:p>
          <a:p>
            <a:r>
              <a:t>1. Walk through the three ideas: their own time, fair is not the same, words that fit their age.</a:t>
            </a:r>
          </a:p>
          <a:p>
            <a:r>
              <a:t>2. Read the closing line.</a:t>
            </a:r>
          </a:p>
          <a:p>
            <a:r>
              <a:t>3. If participants want to note ideas, "What works in our home" in the workbook includes siblings.</a:t>
            </a:r>
          </a:p>
          <a:p/>
          <a:p>
            <a:r>
              <a:t>YOU MIGHT SAY</a:t>
            </a:r>
          </a:p>
          <a:p>
            <a:r>
              <a:t>Siblings see a lot and carry some. Small, regular one-on-one time can matter more than big outings.</a:t>
            </a:r>
          </a:p>
          <a:p>
            <a:r>
              <a:t>It can help to say out loud: in our family, everyone gets what they need, and that doesn't always look the same.</a:t>
            </a:r>
          </a:p>
          <a:p/>
          <a:p>
            <a:r>
              <a:t>KEY MESSAGES</a:t>
            </a:r>
          </a:p>
          <a:p>
            <a:r>
              <a:t>• Each child gets what they need, and that may look different for each child.</a:t>
            </a:r>
          </a:p>
          <a:p>
            <a:r>
              <a:t>• The aim is a balance the family can sustain, not a perfect arrangement.</a:t>
            </a:r>
          </a:p>
          <a:p/>
          <a:p>
            <a:r>
              <a:t>KEEP IN MIND</a:t>
            </a:r>
          </a:p>
          <a:p>
            <a:r>
              <a:t>• Do not offer a formula for fairness or family balance.</a:t>
            </a:r>
          </a:p>
          <a:p>
            <a:r>
              <a:t>• Keep the conversation free from blame and do not ask participants to disclose family conflict.</a:t>
            </a:r>
          </a:p>
          <a:p>
            <a:r>
              <a:t>• Some participants may not have other children, or may be separated or sole carers. Keep examples broad.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3 min  ·  1:19 - 1:22  ·  Workbook - My own battery</a:t>
            </a:r>
          </a:p>
          <a:p/>
          <a:p>
            <a:r>
              <a:t>PURPOSE</a:t>
            </a:r>
          </a:p>
          <a:p>
            <a:r>
              <a:t>Include parent and carer capacity in family planning.</a:t>
            </a:r>
          </a:p>
          <a:p/>
          <a:p>
            <a:r>
              <a:t>WHAT TO DO</a:t>
            </a:r>
          </a:p>
          <a:p>
            <a:r>
              <a:t>1. Connect to the battery from Session 3 and co-regulation on slide 6.</a:t>
            </a:r>
          </a:p>
          <a:p>
            <a:r>
              <a:t>2. Walk through the three ideas: it helps your child, small and daily, your supports.</a:t>
            </a:r>
          </a:p>
          <a:p>
            <a:r>
              <a:t>3. Invite participants to think quietly about what helps them recharge and what could make this week a little lighter. Point to "My own battery" in the workbook.</a:t>
            </a:r>
          </a:p>
          <a:p>
            <a:r>
              <a:t>4. Name the people in the room as one source of support.</a:t>
            </a:r>
          </a:p>
          <a:p/>
          <a:p>
            <a:r>
              <a:t>YOU MIGHT SAY</a:t>
            </a:r>
          </a:p>
          <a:p>
            <a:r>
              <a:t>It is hard to help someone else stay calm when you are running on empty.</a:t>
            </a:r>
          </a:p>
          <a:p>
            <a:r>
              <a:t>This doesn't have to be big. Ten minutes, a walk, a cup of tea in peace, or asking someone for help.</a:t>
            </a:r>
          </a:p>
          <a:p/>
          <a:p>
            <a:r>
              <a:t>KEY MESSAGES</a:t>
            </a:r>
          </a:p>
          <a:p>
            <a:r>
              <a:t>• Looking after yourself is part of looking after your family.</a:t>
            </a:r>
          </a:p>
          <a:p>
            <a:r>
              <a:t>• A small reduction in load is a valid practical action.</a:t>
            </a:r>
          </a:p>
          <a:p/>
          <a:p>
            <a:r>
              <a:t>KEEP IN MIND</a:t>
            </a:r>
          </a:p>
          <a:p>
            <a:r>
              <a:t>• Keep the focus on small, realistic choices rather than idealised self-care.</a:t>
            </a:r>
          </a:p>
          <a:p>
            <a:r>
              <a:t>• Some parents have very little support. Acknowledge this without suggesting they are doing something wrong.</a:t>
            </a:r>
          </a:p>
          <a:p>
            <a:r>
              <a:t>• Looking after your own capacity is practical planning. It says nothing about how much you love your child.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TIME: 8 min  ·  1:22 - 1:30  ·  Workbook - What works in our home</a:t>
            </a:r>
          </a:p>
          <a:p/>
          <a:p>
            <a:r>
              <a:t>PURPOSE</a:t>
            </a:r>
          </a:p>
          <a:p>
            <a:r>
              <a:t>Draw on the knowledge in the room: each person shares one thing that works at home.</a:t>
            </a:r>
          </a:p>
          <a:p/>
          <a:p>
            <a:r>
              <a:t>WHAT TO DO</a:t>
            </a:r>
          </a:p>
          <a:p>
            <a:r>
              <a:t>1. Read the opening line: families know a lot.</a:t>
            </a:r>
          </a:p>
          <a:p>
            <a:r>
              <a:t>2. Offer the topics: mornings, after school, outings, bedtime, siblings or your own battery.</a:t>
            </a:r>
          </a:p>
          <a:p>
            <a:r>
              <a:t>3. Each person shares one idea with the table. Set a timer for 8 minutes.</a:t>
            </a:r>
          </a:p>
          <a:p>
            <a:r>
              <a:t>4. Ask everyone to write down one idea they would like to try.</a:t>
            </a:r>
          </a:p>
          <a:p>
            <a:r>
              <a:t>5. To finish, ask participants to keep one thing they notice at home in mind as they move into the next session on partnership with school.</a:t>
            </a:r>
          </a:p>
          <a:p/>
          <a:p>
            <a:r>
              <a:t>YOU MIGHT SAY</a:t>
            </a:r>
          </a:p>
          <a:p>
            <a:r>
              <a:t>You've heard a lot from us today. Now it's your turn. Share one thing that works in your home, big or small.</a:t>
            </a:r>
          </a:p>
          <a:p/>
          <a:p>
            <a:r>
              <a:t>KEY MESSAGES</a:t>
            </a:r>
          </a:p>
          <a:p>
            <a:r>
              <a:t>• Families know a lot. What works in one home can help another.</a:t>
            </a:r>
          </a:p>
          <a:p>
            <a:r>
              <a:t>• What families notice at home can help shape a conversation with school.</a:t>
            </a:r>
          </a:p>
          <a:p/>
          <a:p>
            <a:r>
              <a:t>ACTIVITY: Table sharing  ·  tables  ·  8 minutes</a:t>
            </a:r>
          </a:p>
          <a:p>
            <a:r>
              <a:t>Prompt: Share one thing that works in your home.</a:t>
            </a:r>
          </a:p>
          <a:p>
            <a:r>
              <a:t>1. Choose a topic: mornings, after school, outings, bedtime, siblings or your own battery.</a:t>
            </a:r>
          </a:p>
          <a:p>
            <a:r>
              <a:t>2. Each person shares one idea with the table.</a:t>
            </a:r>
          </a:p>
          <a:p>
            <a:r>
              <a:t>3. Write down one idea you would like to try.</a:t>
            </a:r>
          </a:p>
          <a:p>
            <a:r>
              <a:t>Close: Keep one home observation in mind for Session 5, Partnership with the School.</a:t>
            </a:r>
          </a:p>
          <a:p/>
          <a:p>
            <a:r>
              <a:t>KEEP IN MIND</a:t>
            </a:r>
          </a:p>
          <a:p>
            <a:r>
              <a:t>• Sharing is optional. A participant can listen and take ideas.</a:t>
            </a:r>
          </a:p>
          <a:p>
            <a:r>
              <a:t>• Keep the table focused on what works rather than solving one family's situation.</a:t>
            </a:r>
          </a:p>
          <a:p/>
          <a:p>
            <a:r>
              <a:t>THREAD</a:t>
            </a:r>
          </a:p>
          <a:p>
            <a:r>
              <a:t>Leads into Session 5: what families notice at home can shape the next conversation with school.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8D6C9-C8AA-44C4-4931-B382C186390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190B0037-3390-A966-0EBE-D795C3F688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B24BB3E6-3703-518E-C773-70E0E4F94D36}"/>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5" name="Footer Placeholder 4">
            <a:extLst>
              <a:ext uri="{FF2B5EF4-FFF2-40B4-BE49-F238E27FC236}">
                <a16:creationId xmlns:a16="http://schemas.microsoft.com/office/drawing/2014/main" id="{46F8A0B6-825C-8E42-35F9-BC7E4501A91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C079D15-E047-F9AE-AAE7-5BD7C3EFBBC7}"/>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1320769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02C15-D2D8-8F8F-F025-D2487EFD913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21FB96AF-95C1-A5C1-E73A-831D4E2F5A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9003DA0-50A6-D538-79D9-5E4C0C004E90}"/>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5" name="Footer Placeholder 4">
            <a:extLst>
              <a:ext uri="{FF2B5EF4-FFF2-40B4-BE49-F238E27FC236}">
                <a16:creationId xmlns:a16="http://schemas.microsoft.com/office/drawing/2014/main" id="{7E2ECC71-AB07-9583-6936-B3C19E6314E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4D0FABA-841F-FE19-813D-42FA2271746B}"/>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2053149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1C130-C195-F979-C996-43C69E20B53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36A1547D-5500-AFAE-D21E-7C6357D233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4065C74-8D24-AF82-BEA1-F26C254E230D}"/>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5" name="Footer Placeholder 4">
            <a:extLst>
              <a:ext uri="{FF2B5EF4-FFF2-40B4-BE49-F238E27FC236}">
                <a16:creationId xmlns:a16="http://schemas.microsoft.com/office/drawing/2014/main" id="{63EDA315-180D-2FA3-A9BC-01C5D5D677E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3A05573-D0B6-34B1-1291-F62FAA95B81F}"/>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39431031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850D6-575C-CB41-65A7-FB804F56A61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CC1AB66-7C88-6A15-6D8D-8156EBFCDE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12BF4B84-D37C-AC67-13D5-2675C140A6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C5CB32D-1C8A-2343-22CC-E378AEF3AB09}"/>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6" name="Footer Placeholder 5">
            <a:extLst>
              <a:ext uri="{FF2B5EF4-FFF2-40B4-BE49-F238E27FC236}">
                <a16:creationId xmlns:a16="http://schemas.microsoft.com/office/drawing/2014/main" id="{D50C401E-C5C9-FF2F-F378-60ABB41EB26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9C0EAD7F-2D27-5053-D388-C766FB4DD854}"/>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1658258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3652B-4E9D-C103-17CE-5DF2B51F1F7B}"/>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3116675-A71C-4904-0FF1-D5B8D37148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0FBA880-2D6A-1AA3-9C39-74A40D9E03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9FDFA0F3-A8A7-4F4E-61E5-2658D24917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A1E242-5908-6CCF-F77A-148EE5E921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FC331BC2-4F17-83CD-8504-7E61BC3A6E31}"/>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8" name="Footer Placeholder 7">
            <a:extLst>
              <a:ext uri="{FF2B5EF4-FFF2-40B4-BE49-F238E27FC236}">
                <a16:creationId xmlns:a16="http://schemas.microsoft.com/office/drawing/2014/main" id="{0A10B8AD-E95C-5456-BBC1-328DAF3CEB56}"/>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83D86B90-A435-E3F2-EA44-6A8C8A6E6D7F}"/>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690333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C62AE-4571-FF4C-4C3E-AB065B0E8B0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05A303C8-8F3A-4539-454B-4B436868E0D4}"/>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4" name="Footer Placeholder 3">
            <a:extLst>
              <a:ext uri="{FF2B5EF4-FFF2-40B4-BE49-F238E27FC236}">
                <a16:creationId xmlns:a16="http://schemas.microsoft.com/office/drawing/2014/main" id="{2D3BA5F9-3C8B-EAF6-0B2D-6D968A2DAF25}"/>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60E689E-FF7B-4208-CD6A-F6398559771F}"/>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2990270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C7A373-84D6-6742-696A-532FEAF89569}"/>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3" name="Footer Placeholder 2">
            <a:extLst>
              <a:ext uri="{FF2B5EF4-FFF2-40B4-BE49-F238E27FC236}">
                <a16:creationId xmlns:a16="http://schemas.microsoft.com/office/drawing/2014/main" id="{73E46E7A-F9BC-67E1-8EC5-353D4A8CFD66}"/>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1A2AC8BD-6F60-7B66-0139-D144520F3736}"/>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3527705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748D2-D824-1C37-B882-FE52B8AFF4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5A77D53E-26C1-1097-D4CA-AD653C0E75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BD3CD386-9696-1756-8606-31933629B8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A04459-AEE9-32FD-67D2-E9B7F5BD2896}"/>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6" name="Footer Placeholder 5">
            <a:extLst>
              <a:ext uri="{FF2B5EF4-FFF2-40B4-BE49-F238E27FC236}">
                <a16:creationId xmlns:a16="http://schemas.microsoft.com/office/drawing/2014/main" id="{29DEA51B-3BA0-7066-34BA-F3E12AD6410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30C672D-C6E0-05A6-E1CB-1EF3705B56D3}"/>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327824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18754-344E-8F2F-37E4-8C8778665B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D378F485-F60E-3DEC-A66D-A0A001776D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5330EA3D-01BC-748B-BA48-03D96EF3D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1F00D2-2456-0349-31F3-BF594B96FE08}"/>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6" name="Footer Placeholder 5">
            <a:extLst>
              <a:ext uri="{FF2B5EF4-FFF2-40B4-BE49-F238E27FC236}">
                <a16:creationId xmlns:a16="http://schemas.microsoft.com/office/drawing/2014/main" id="{303F4A45-4B3D-E948-6973-154B5A7392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314AAF0-1024-84A7-5CE2-174823542E0E}"/>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3939389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41FC3-840A-471B-5906-04D822FE3C7A}"/>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6B75C24-F185-4C62-1569-3951DF603F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9C9F63D-BD51-529C-98FF-15F3285AA6F4}"/>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5" name="Footer Placeholder 4">
            <a:extLst>
              <a:ext uri="{FF2B5EF4-FFF2-40B4-BE49-F238E27FC236}">
                <a16:creationId xmlns:a16="http://schemas.microsoft.com/office/drawing/2014/main" id="{ABBCC688-12E0-94F5-B228-F9B1D7649FA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61C413-9089-9B05-B8EC-3DC773608D33}"/>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1359280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835A89-BCBF-4B62-DAE1-DF204AF183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AE03E82-6631-29FC-2AAA-C293B2945D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1AC9247-8721-17D1-2047-627DFC46904F}"/>
              </a:ext>
            </a:extLst>
          </p:cNvPr>
          <p:cNvSpPr>
            <a:spLocks noGrp="1"/>
          </p:cNvSpPr>
          <p:nvPr>
            <p:ph type="dt" sz="half" idx="10"/>
          </p:nvPr>
        </p:nvSpPr>
        <p:spPr/>
        <p:txBody>
          <a:bodyPr/>
          <a:lstStyle/>
          <a:p>
            <a:fld id="{0335B937-D824-4DE1-9460-FA94C74EEF6E}" type="datetimeFigureOut">
              <a:rPr lang="en-AU" smtClean="0"/>
              <a:t>25/9/2026</a:t>
            </a:fld>
            <a:endParaRPr lang="en-AU"/>
          </a:p>
        </p:txBody>
      </p:sp>
      <p:sp>
        <p:nvSpPr>
          <p:cNvPr id="5" name="Footer Placeholder 4">
            <a:extLst>
              <a:ext uri="{FF2B5EF4-FFF2-40B4-BE49-F238E27FC236}">
                <a16:creationId xmlns:a16="http://schemas.microsoft.com/office/drawing/2014/main" id="{43D6DB14-3D48-A4C9-A73F-0305080D727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EFD2F71-10E0-0071-F7F8-0B08302C3B88}"/>
              </a:ext>
            </a:extLst>
          </p:cNvPr>
          <p:cNvSpPr>
            <a:spLocks noGrp="1"/>
          </p:cNvSpPr>
          <p:nvPr>
            <p:ph type="sldNum" sz="quarter" idx="12"/>
          </p:nvPr>
        </p:nvSpPr>
        <p:spPr/>
        <p:txBody>
          <a:bodyPr/>
          <a:lstStyle/>
          <a:p>
            <a:fld id="{81EAA60F-4B3C-432D-A5A7-353D2F9511D8}" type="slidenum">
              <a:rPr lang="en-AU" smtClean="0"/>
              <a:t>‹#›</a:t>
            </a:fld>
            <a:endParaRPr lang="en-AU"/>
          </a:p>
        </p:txBody>
      </p:sp>
    </p:spTree>
    <p:extLst>
      <p:ext uri="{BB962C8B-B14F-4D97-AF65-F5344CB8AC3E}">
        <p14:creationId xmlns:p14="http://schemas.microsoft.com/office/powerpoint/2010/main" val="1482604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4E257-01C1-FF4E-A621-4CDB8E364AC2}"/>
              </a:ext>
            </a:extLst>
          </p:cNvPr>
          <p:cNvSpPr>
            <a:spLocks noGrp="1"/>
          </p:cNvSpPr>
          <p:nvPr>
            <p:ph type="title"/>
          </p:nvPr>
        </p:nvSpPr>
        <p:spPr>
          <a:xfrm>
            <a:off x="684141" y="2234624"/>
            <a:ext cx="6756008" cy="3041713"/>
          </a:xfrm>
        </p:spPr>
        <p:txBody>
          <a:bodyPr/>
          <a:lstStyle>
            <a:lvl1pPr>
              <a:defRPr>
                <a:solidFill>
                  <a:schemeClr val="tx1"/>
                </a:solidFill>
              </a:defRPr>
            </a:lvl1pPr>
          </a:lstStyle>
          <a:p>
            <a:r>
              <a:rPr lang="en-US"/>
              <a:t>Click to edit Master title style</a:t>
            </a:r>
          </a:p>
        </p:txBody>
      </p:sp>
      <p:sp>
        <p:nvSpPr>
          <p:cNvPr id="5" name="Picture Placeholder 3">
            <a:extLst>
              <a:ext uri="{FF2B5EF4-FFF2-40B4-BE49-F238E27FC236}">
                <a16:creationId xmlns:a16="http://schemas.microsoft.com/office/drawing/2014/main" id="{BC1C21F1-E016-B546-B8A2-0753B298F5B4}"/>
              </a:ext>
            </a:extLst>
          </p:cNvPr>
          <p:cNvSpPr>
            <a:spLocks noGrp="1"/>
          </p:cNvSpPr>
          <p:nvPr>
            <p:ph type="pic" sz="quarter" idx="10"/>
          </p:nvPr>
        </p:nvSpPr>
        <p:spPr>
          <a:xfrm>
            <a:off x="8016213" y="917909"/>
            <a:ext cx="3264760" cy="3375187"/>
          </a:xfrm>
          <a:prstGeom prst="roundRect">
            <a:avLst/>
          </a:prstGeom>
          <a:noFill/>
          <a:ln w="63500">
            <a:solidFill>
              <a:srgbClr val="FFFFFF"/>
            </a:solidFill>
          </a:ln>
        </p:spPr>
        <p:txBody>
          <a:bodyPr/>
          <a:lstStyle/>
          <a:p>
            <a:endParaRPr lang="en-US"/>
          </a:p>
        </p:txBody>
      </p:sp>
    </p:spTree>
    <p:extLst>
      <p:ext uri="{BB962C8B-B14F-4D97-AF65-F5344CB8AC3E}">
        <p14:creationId xmlns:p14="http://schemas.microsoft.com/office/powerpoint/2010/main" val="22086793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4C7C52-3677-EB4A-92DB-F07C343D7A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C36CDA9-E14D-7E9C-B18D-D572246A7E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BC99416-908D-9535-1946-7F6B2932D7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35B937-D824-4DE1-9460-FA94C74EEF6E}" type="datetimeFigureOut">
              <a:rPr lang="en-AU" smtClean="0"/>
              <a:t>25/9/2026</a:t>
            </a:fld>
            <a:endParaRPr lang="en-AU"/>
          </a:p>
        </p:txBody>
      </p:sp>
      <p:sp>
        <p:nvSpPr>
          <p:cNvPr id="5" name="Footer Placeholder 4">
            <a:extLst>
              <a:ext uri="{FF2B5EF4-FFF2-40B4-BE49-F238E27FC236}">
                <a16:creationId xmlns:a16="http://schemas.microsoft.com/office/drawing/2014/main" id="{815E84F6-AD10-DB0C-1F16-6CC48227FF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66A36C2-AC8A-6FAE-4E57-F75AC4E379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1EAA60F-4B3C-432D-A5A7-353D2F9511D8}" type="slidenum">
              <a:rPr lang="en-AU" smtClean="0"/>
              <a:t>‹#›</a:t>
            </a:fld>
            <a:endParaRPr lang="en-AU"/>
          </a:p>
        </p:txBody>
      </p:sp>
    </p:spTree>
    <p:extLst>
      <p:ext uri="{BB962C8B-B14F-4D97-AF65-F5344CB8AC3E}">
        <p14:creationId xmlns:p14="http://schemas.microsoft.com/office/powerpoint/2010/main" val="12075283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7.xml"/><Relationship Id="rId3" Type="http://schemas.openxmlformats.org/officeDocument/2006/relationships/notesSlide" Target="../notesSlides/notesSlide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8758A-4EC0-C24C-0414-4B79E1726AB0}"/>
            </a:ext>
          </a:extLst>
        </p:cNvPr>
        <p:cNvGrpSpPr/>
        <p:nvPr/>
      </p:nvGrpSpPr>
      <p:grpSpPr>
        <a:xfrm>
          <a:off x="0" y="0"/>
          <a:ext cx="0" cy="0"/>
          <a:chOff x="0" y="0"/>
          <a:chExt cx="0" cy="0"/>
        </a:xfrm>
      </p:grpSpPr>
      <p:sp>
        <p:nvSpPr>
          <p:cNvPr id="5" name="Oval 4"/>
          <p:cNvSpPr/>
          <p:nvPr/>
        </p:nvSpPr>
        <p:spPr>
          <a:xfrm>
            <a:off x="8549640" y="4663440"/>
            <a:ext cx="4873752" cy="4873752"/>
          </a:xfrm>
          <a:prstGeom prst="ellipse">
            <a:avLst/>
          </a:prstGeom>
          <a:solidFill>
            <a:srgbClr val="EDE8F8"/>
          </a:solidFill>
          <a:ln>
            <a:noFill/>
          </a:ln>
        </p:spPr>
        <p:txBody>
          <a:bodyPr rtlCol="0" anchor="ctr"/>
          <a:lstStyle/>
          <a:p>
            <a:pPr algn="ctr"/>
            <a:endParaRPr/>
          </a:p>
        </p:txBody>
      </p:sp>
      <p:pic>
        <p:nvPicPr>
          <p:cNvPr id="3" name="Picture 2">
            <a:extLst>
              <a:ext uri="{FF2B5EF4-FFF2-40B4-BE49-F238E27FC236}">
                <a16:creationId xmlns:a16="http://schemas.microsoft.com/office/drawing/2014/main" id="{0A49AF26-10D7-9B44-4DD4-07D17957C14E}"/>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l="15259" r="15259"/>
          <a:stretch/>
        </p:blipFill>
        <p:spPr>
          <a:xfrm>
            <a:off x="0" y="0"/>
            <a:ext cx="6766560" cy="6858000"/>
          </a:xfrm>
          <a:prstGeom prst="rect">
            <a:avLst/>
          </a:prstGeom>
        </p:spPr>
      </p:pic>
      <p:sp>
        <p:nvSpPr>
          <p:cNvPr id="4" name="Title 3">
            <a:extLst>
              <a:ext uri="{FF2B5EF4-FFF2-40B4-BE49-F238E27FC236}">
                <a16:creationId xmlns:a16="http://schemas.microsoft.com/office/drawing/2014/main" id="{260502DD-259B-5020-6871-D083521624CD}"/>
              </a:ext>
            </a:extLst>
          </p:cNvPr>
          <p:cNvSpPr txBox="1">
            <a:spLocks/>
          </p:cNvSpPr>
          <p:nvPr/>
        </p:nvSpPr>
        <p:spPr>
          <a:xfrm>
            <a:off x="7269480" y="1097280"/>
            <a:ext cx="4297680" cy="4206240"/>
          </a:xfrm>
          <a:prstGeom prst="rect">
            <a:avLst/>
          </a:prstGeom>
          <a:solidFill>
            <a:schemeClr val="bg1"/>
          </a:solidFill>
        </p:spPr>
        <p:txBody>
          <a:bodyPr vert="horz" wrap="square" lIns="0" tIns="0" rIns="0" bIns="0" rtlCol="0" anchor="ctr">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100000"/>
              </a:lnSpc>
              <a:spcBef>
                <a:spcPts val="0"/>
              </a:spcBef>
              <a:buNone/>
            </a:pPr>
            <a:r>
              <a:rPr lang="en-AU" sz="1600" b="1" dirty="0">
                <a:solidFill>
                  <a:srgbClr val="584099"/>
                </a:solidFill>
                <a:latin typeface="Arial"/>
                <a:ea typeface="Arial"/>
                <a:cs typeface="Arial"/>
              </a:rPr>
              <a:t>Parents and Carers · Primary · Session 4</a:t>
            </a:r>
          </a:p>
          <a:p>
            <a:pPr marL="0" indent="0" algn="l">
              <a:lnSpc>
                <a:spcPct val="95000"/>
              </a:lnSpc>
              <a:spcBef>
                <a:spcPts val="1000"/>
              </a:spcBef>
              <a:buNone/>
            </a:pPr>
            <a:r>
              <a:rPr lang="en-AU" sz="3600" b="0" dirty="0">
                <a:solidFill>
                  <a:srgbClr val="584099"/>
                </a:solidFill>
                <a:latin typeface="Arial Black"/>
                <a:ea typeface="Arial Black"/>
                <a:cs typeface="Arial Black"/>
              </a:rPr>
              <a:t>Home and Community</a:t>
            </a:r>
          </a:p>
        </p:txBody>
      </p:sp>
    </p:spTree>
    <p:custDataLst>
      <p:tags r:id="rId1"/>
    </p:custDataLst>
    <p:extLst>
      <p:ext uri="{BB962C8B-B14F-4D97-AF65-F5344CB8AC3E}">
        <p14:creationId xmlns:p14="http://schemas.microsoft.com/office/powerpoint/2010/main" val="3493460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Distress and unmet needs</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What we see is often only the tip of the iceberg.</a:t>
            </a:r>
          </a:p>
        </p:txBody>
      </p:sp>
      <p:sp>
        <p:nvSpPr>
          <p:cNvPr id="5" name="Rounded Rectangle 4"/>
          <p:cNvSpPr/>
          <p:nvPr/>
        </p:nvSpPr>
        <p:spPr>
          <a:xfrm>
            <a:off x="685800" y="2011680"/>
            <a:ext cx="5272888" cy="164592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960120" y="2286000"/>
            <a:ext cx="4724248" cy="118872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Behaviour</a:t>
            </a:r>
          </a:p>
          <a:p>
            <a:pPr algn="l" marL="0" indent="0">
              <a:lnSpc>
                <a:spcPct val="100000"/>
              </a:lnSpc>
              <a:spcBef>
                <a:spcPts val="800"/>
              </a:spcBef>
              <a:buNone/>
            </a:pPr>
            <a:r>
              <a:rPr lang="en-AU" sz="1600" b="0">
                <a:solidFill>
                  <a:srgbClr val="3D2A6B"/>
                </a:solidFill>
                <a:latin typeface="Arial"/>
                <a:ea typeface="Arial"/>
                <a:cs typeface="Arial"/>
              </a:rPr>
              <a:t>What we can see and hear.</a:t>
            </a:r>
          </a:p>
        </p:txBody>
      </p:sp>
      <p:sp>
        <p:nvSpPr>
          <p:cNvPr id="7" name="Rounded Rectangle 6"/>
          <p:cNvSpPr/>
          <p:nvPr/>
        </p:nvSpPr>
        <p:spPr>
          <a:xfrm>
            <a:off x="6233008" y="2011680"/>
            <a:ext cx="5272888" cy="164592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6507328" y="2286000"/>
            <a:ext cx="4724248" cy="118872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Underneath</a:t>
            </a:r>
          </a:p>
          <a:p>
            <a:pPr algn="l" marL="0" indent="0">
              <a:lnSpc>
                <a:spcPct val="100000"/>
              </a:lnSpc>
              <a:spcBef>
                <a:spcPts val="800"/>
              </a:spcBef>
              <a:buNone/>
            </a:pPr>
            <a:r>
              <a:rPr lang="en-AU" sz="1600" b="0">
                <a:solidFill>
                  <a:srgbClr val="3D2A6B"/>
                </a:solidFill>
                <a:latin typeface="Arial"/>
                <a:ea typeface="Arial"/>
                <a:cs typeface="Arial"/>
              </a:rPr>
              <a:t>Thoughts and feelings, values, and needs such as belonging, predictability, security and self-expression.</a:t>
            </a:r>
          </a:p>
        </p:txBody>
      </p:sp>
      <p:sp>
        <p:nvSpPr>
          <p:cNvPr id="9" name="TextBox 8"/>
          <p:cNvSpPr txBox="1"/>
          <p:nvPr/>
        </p:nvSpPr>
        <p:spPr>
          <a:xfrm>
            <a:off x="685800" y="3931920"/>
            <a:ext cx="10789920" cy="1280160"/>
          </a:xfrm>
          <a:prstGeom prst="rect">
            <a:avLst/>
          </a:prstGeom>
          <a:noFill/>
        </p:spPr>
        <p:txBody>
          <a:bodyPr wrap="square" lIns="0" rIns="0" tIns="0" bIns="0" anchor="t">
            <a:noAutofit/>
          </a:bodyPr>
          <a:lstStyle/>
          <a:p>
            <a:pPr algn="l" marL="0" indent="0">
              <a:lnSpc>
                <a:spcPct val="100000"/>
              </a:lnSpc>
              <a:spcBef>
                <a:spcPts val="0"/>
              </a:spcBef>
              <a:buNone/>
            </a:pPr>
            <a:r>
              <a:rPr lang="en-AU" sz="1800" b="0">
                <a:solidFill>
                  <a:srgbClr val="3D2A6B"/>
                </a:solidFill>
                <a:latin typeface="Arial"/>
                <a:ea typeface="Arial"/>
                <a:cs typeface="Arial"/>
              </a:rPr>
              <a:t>A reaction is rarely a choice. It usually makes sense once we understand what came before: an unexpected change, too much noise, a demand that was too big on that day.</a:t>
            </a:r>
          </a:p>
        </p:txBody>
      </p:sp>
      <p:sp>
        <p:nvSpPr>
          <p:cNvPr id="10" name="Rounded Rectangle 9"/>
          <p:cNvSpPr/>
          <p:nvPr/>
        </p:nvSpPr>
        <p:spPr>
          <a:xfrm>
            <a:off x="685800" y="539496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1" name="TextBox 10"/>
          <p:cNvSpPr txBox="1"/>
          <p:nvPr/>
        </p:nvSpPr>
        <p:spPr>
          <a:xfrm>
            <a:off x="960120" y="539496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600" b="1">
                <a:solidFill>
                  <a:srgbClr val="584099"/>
                </a:solidFill>
                <a:latin typeface="Arial"/>
                <a:ea typeface="Arial"/>
                <a:cs typeface="Arial"/>
              </a:rPr>
              <a:t>Behaviour is communication. Be curious about what sits underneath.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Overwhelm</a:t>
            </a:r>
          </a:p>
        </p:txBody>
      </p:sp>
      <p:sp>
        <p:nvSpPr>
          <p:cNvPr id="4" name="Rounded Rectangle 3"/>
          <p:cNvSpPr/>
          <p:nvPr/>
        </p:nvSpPr>
        <p:spPr>
          <a:xfrm>
            <a:off x="685800" y="1371600"/>
            <a:ext cx="5272888" cy="2651760"/>
          </a:xfrm>
          <a:prstGeom prst="roundRect">
            <a:avLst>
              <a:gd name="adj" fmla="val 10000"/>
            </a:avLst>
          </a:prstGeom>
          <a:solidFill>
            <a:srgbClr val="F3F0FA"/>
          </a:solidFill>
          <a:ln>
            <a:noFill/>
          </a:ln>
        </p:spPr>
        <p:txBody>
          <a:bodyPr rtlCol="0" anchor="ctr"/>
          <a:lstStyle/>
          <a:p>
            <a:pPr algn="ctr"/>
          </a:p>
        </p:txBody>
      </p:sp>
      <p:sp>
        <p:nvSpPr>
          <p:cNvPr id="5" name="TextBox 4"/>
          <p:cNvSpPr txBox="1"/>
          <p:nvPr/>
        </p:nvSpPr>
        <p:spPr>
          <a:xfrm>
            <a:off x="960120" y="1645920"/>
            <a:ext cx="472424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Shutdown</a:t>
            </a:r>
          </a:p>
          <a:p>
            <a:pPr algn="l" marL="0" indent="0">
              <a:lnSpc>
                <a:spcPct val="100000"/>
              </a:lnSpc>
              <a:spcBef>
                <a:spcPts val="800"/>
              </a:spcBef>
              <a:buNone/>
            </a:pPr>
            <a:r>
              <a:rPr lang="en-AU" sz="1800" b="0">
                <a:solidFill>
                  <a:srgbClr val="3D2A6B"/>
                </a:solidFill>
                <a:latin typeface="Arial"/>
                <a:ea typeface="Arial"/>
                <a:cs typeface="Arial"/>
              </a:rPr>
              <a:t>Turning inward. Freeze or flop. Less able to speak or say what they need. Can be hidden or masked.</a:t>
            </a:r>
          </a:p>
        </p:txBody>
      </p:sp>
      <p:sp>
        <p:nvSpPr>
          <p:cNvPr id="6" name="Rounded Rectangle 5"/>
          <p:cNvSpPr/>
          <p:nvPr/>
        </p:nvSpPr>
        <p:spPr>
          <a:xfrm>
            <a:off x="6233008" y="1371600"/>
            <a:ext cx="5272888" cy="2651760"/>
          </a:xfrm>
          <a:prstGeom prst="roundRect">
            <a:avLst>
              <a:gd name="adj" fmla="val 10000"/>
            </a:avLst>
          </a:prstGeom>
          <a:solidFill>
            <a:srgbClr val="F3F0FA"/>
          </a:solidFill>
          <a:ln>
            <a:noFill/>
          </a:ln>
        </p:spPr>
        <p:txBody>
          <a:bodyPr rtlCol="0" anchor="ctr"/>
          <a:lstStyle/>
          <a:p>
            <a:pPr algn="ctr"/>
          </a:p>
        </p:txBody>
      </p:sp>
      <p:sp>
        <p:nvSpPr>
          <p:cNvPr id="7" name="TextBox 6"/>
          <p:cNvSpPr txBox="1"/>
          <p:nvPr/>
        </p:nvSpPr>
        <p:spPr>
          <a:xfrm>
            <a:off x="6507328" y="1645920"/>
            <a:ext cx="4724248" cy="21945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Meltdown</a:t>
            </a:r>
          </a:p>
          <a:p>
            <a:pPr algn="l" marL="0" indent="0">
              <a:lnSpc>
                <a:spcPct val="100000"/>
              </a:lnSpc>
              <a:spcBef>
                <a:spcPts val="800"/>
              </a:spcBef>
              <a:buNone/>
            </a:pPr>
            <a:r>
              <a:rPr lang="en-AU" sz="1800" b="0">
                <a:solidFill>
                  <a:srgbClr val="3D2A6B"/>
                </a:solidFill>
                <a:latin typeface="Arial"/>
                <a:ea typeface="Arial"/>
                <a:cs typeface="Arial"/>
              </a:rPr>
              <a:t>Turning outward. Fight or flight. Might look like crying, running away or a big emotional outburst.</a:t>
            </a:r>
          </a:p>
        </p:txBody>
      </p:sp>
      <p:sp>
        <p:nvSpPr>
          <p:cNvPr id="8" name="Rounded Rectangle 7"/>
          <p:cNvSpPr/>
          <p:nvPr/>
        </p:nvSpPr>
        <p:spPr>
          <a:xfrm>
            <a:off x="685800" y="4389120"/>
            <a:ext cx="10820095" cy="566928"/>
          </a:xfrm>
          <a:prstGeom prst="roundRect">
            <a:avLst>
              <a:gd name="adj" fmla="val 50000"/>
            </a:avLst>
          </a:prstGeom>
          <a:solidFill>
            <a:srgbClr val="584099"/>
          </a:solidFill>
          <a:ln w="19050">
            <a:solidFill>
              <a:srgbClr val="FFFFFF"/>
            </a:solidFill>
          </a:ln>
        </p:spPr>
        <p:txBody>
          <a:bodyPr rtlCol="0" anchor="ctr"/>
          <a:lstStyle/>
          <a:p>
            <a:pPr algn="ctr"/>
          </a:p>
        </p:txBody>
      </p:sp>
      <p:sp>
        <p:nvSpPr>
          <p:cNvPr id="9" name="TextBox 8"/>
          <p:cNvSpPr txBox="1"/>
          <p:nvPr/>
        </p:nvSpPr>
        <p:spPr>
          <a:xfrm>
            <a:off x="960120" y="438912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FFFFFF"/>
                </a:solidFill>
                <a:latin typeface="Arial"/>
                <a:ea typeface="Arial"/>
                <a:cs typeface="Arial"/>
              </a:rPr>
              <a:t>These are involuntary responses to overwhelm, not a choice.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When overwhelm builds up</a:t>
            </a:r>
          </a:p>
        </p:txBody>
      </p:sp>
      <p:sp>
        <p:nvSpPr>
          <p:cNvPr id="4" name="Rounded Rectangle 3"/>
          <p:cNvSpPr/>
          <p:nvPr/>
        </p:nvSpPr>
        <p:spPr>
          <a:xfrm>
            <a:off x="685800" y="1371600"/>
            <a:ext cx="5272888" cy="2743200"/>
          </a:xfrm>
          <a:prstGeom prst="roundRect">
            <a:avLst>
              <a:gd name="adj" fmla="val 10000"/>
            </a:avLst>
          </a:prstGeom>
          <a:solidFill>
            <a:srgbClr val="F3F0FA"/>
          </a:solidFill>
          <a:ln>
            <a:noFill/>
          </a:ln>
        </p:spPr>
        <p:txBody>
          <a:bodyPr rtlCol="0" anchor="ctr"/>
          <a:lstStyle/>
          <a:p>
            <a:pPr algn="ctr"/>
          </a:p>
        </p:txBody>
      </p:sp>
      <p:sp>
        <p:nvSpPr>
          <p:cNvPr id="5" name="TextBox 4"/>
          <p:cNvSpPr txBox="1"/>
          <p:nvPr/>
        </p:nvSpPr>
        <p:spPr>
          <a:xfrm>
            <a:off x="960120" y="1645920"/>
            <a:ext cx="4724248"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Autistic burnout</a:t>
            </a:r>
          </a:p>
          <a:p>
            <a:pPr algn="l" marL="0" indent="0">
              <a:lnSpc>
                <a:spcPct val="100000"/>
              </a:lnSpc>
              <a:spcBef>
                <a:spcPts val="800"/>
              </a:spcBef>
              <a:buNone/>
            </a:pPr>
            <a:r>
              <a:rPr lang="en-AU" sz="1800" b="0">
                <a:solidFill>
                  <a:srgbClr val="3D2A6B"/>
                </a:solidFill>
                <a:latin typeface="Arial"/>
                <a:ea typeface="Arial"/>
                <a:cs typeface="Arial"/>
              </a:rPr>
              <a:t>Deep physical, mental and emotional exhaustion after a long time of too much sensory and social demand. Skills and capacity can drop for a while.</a:t>
            </a:r>
          </a:p>
        </p:txBody>
      </p:sp>
      <p:sp>
        <p:nvSpPr>
          <p:cNvPr id="6" name="Rounded Rectangle 5"/>
          <p:cNvSpPr/>
          <p:nvPr/>
        </p:nvSpPr>
        <p:spPr>
          <a:xfrm>
            <a:off x="6233008" y="1371600"/>
            <a:ext cx="5272888" cy="2743200"/>
          </a:xfrm>
          <a:prstGeom prst="roundRect">
            <a:avLst>
              <a:gd name="adj" fmla="val 10000"/>
            </a:avLst>
          </a:prstGeom>
          <a:solidFill>
            <a:srgbClr val="F3F0FA"/>
          </a:solidFill>
          <a:ln>
            <a:noFill/>
          </a:ln>
        </p:spPr>
        <p:txBody>
          <a:bodyPr rtlCol="0" anchor="ctr"/>
          <a:lstStyle/>
          <a:p>
            <a:pPr algn="ctr"/>
          </a:p>
        </p:txBody>
      </p:sp>
      <p:sp>
        <p:nvSpPr>
          <p:cNvPr id="7" name="TextBox 6"/>
          <p:cNvSpPr txBox="1"/>
          <p:nvPr/>
        </p:nvSpPr>
        <p:spPr>
          <a:xfrm>
            <a:off x="6507328" y="1645920"/>
            <a:ext cx="4724248"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School Can't</a:t>
            </a:r>
          </a:p>
          <a:p>
            <a:pPr algn="l" marL="0" indent="0">
              <a:lnSpc>
                <a:spcPct val="100000"/>
              </a:lnSpc>
              <a:spcBef>
                <a:spcPts val="800"/>
              </a:spcBef>
              <a:buNone/>
            </a:pPr>
            <a:r>
              <a:rPr lang="en-AU" sz="1800" b="0">
                <a:solidFill>
                  <a:srgbClr val="3D2A6B"/>
                </a:solidFill>
                <a:latin typeface="Arial"/>
                <a:ea typeface="Arial"/>
                <a:cs typeface="Arial"/>
              </a:rPr>
              <a:t>Not being able to go to school because of overwhelming anxiety, fear or sensory overload. It is not a choice or defiance.</a:t>
            </a:r>
          </a:p>
        </p:txBody>
      </p:sp>
      <p:sp>
        <p:nvSpPr>
          <p:cNvPr id="8" name="TextBox 7"/>
          <p:cNvSpPr txBox="1"/>
          <p:nvPr/>
        </p:nvSpPr>
        <p:spPr>
          <a:xfrm>
            <a:off x="685800" y="4389120"/>
            <a:ext cx="10789920" cy="1097280"/>
          </a:xfrm>
          <a:prstGeom prst="rect">
            <a:avLst/>
          </a:prstGeom>
          <a:noFill/>
        </p:spPr>
        <p:txBody>
          <a:bodyPr wrap="square" lIns="0" rIns="0" tIns="0" bIns="0" anchor="t">
            <a:noAutofit/>
          </a:bodyPr>
          <a:lstStyle/>
          <a:p>
            <a:pPr algn="l" marL="0" indent="0">
              <a:lnSpc>
                <a:spcPct val="100000"/>
              </a:lnSpc>
              <a:spcBef>
                <a:spcPts val="0"/>
              </a:spcBef>
              <a:buNone/>
            </a:pPr>
            <a:r>
              <a:rPr lang="en-AU" sz="1700" b="0">
                <a:solidFill>
                  <a:srgbClr val="3D2A6B"/>
                </a:solidFill>
                <a:latin typeface="Arial"/>
                <a:ea typeface="Arial"/>
                <a:cs typeface="Arial"/>
              </a:rPr>
              <a:t>Burnout and School Can't are often signs that a child has been coping with more than we realised, for longer than we realised. Looking underneath helps us find the support, adjustments and recovery they need.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What can help in the moment?</a:t>
            </a:r>
          </a:p>
        </p:txBody>
      </p:sp>
      <p:sp>
        <p:nvSpPr>
          <p:cNvPr id="4" name="Rounded Rectangle 3"/>
          <p:cNvSpPr/>
          <p:nvPr/>
        </p:nvSpPr>
        <p:spPr>
          <a:xfrm>
            <a:off x="685800" y="1325880"/>
            <a:ext cx="10820095" cy="749808"/>
          </a:xfrm>
          <a:prstGeom prst="roundRect">
            <a:avLst>
              <a:gd name="adj" fmla="val 12000"/>
            </a:avLst>
          </a:prstGeom>
          <a:solidFill>
            <a:srgbClr val="F3F0FA"/>
          </a:solidFill>
          <a:ln>
            <a:noFill/>
          </a:ln>
        </p:spPr>
        <p:txBody>
          <a:bodyPr rtlCol="0" anchor="ctr"/>
          <a:lstStyle/>
          <a:p>
            <a:pPr algn="ctr"/>
          </a:p>
        </p:txBody>
      </p:sp>
      <p:sp>
        <p:nvSpPr>
          <p:cNvPr id="5" name="TextBox 4"/>
          <p:cNvSpPr txBox="1"/>
          <p:nvPr/>
        </p:nvSpPr>
        <p:spPr>
          <a:xfrm>
            <a:off x="960120" y="1325880"/>
            <a:ext cx="10241280" cy="749808"/>
          </a:xfrm>
          <a:prstGeom prst="rect">
            <a:avLst/>
          </a:prstGeom>
          <a:noFill/>
        </p:spPr>
        <p:txBody>
          <a:bodyPr wrap="square" lIns="0" rIns="0" tIns="0" bIns="0" anchor="ctr">
            <a:noAutofit/>
          </a:bodyPr>
          <a:lstStyle/>
          <a:p>
            <a:pPr algn="l" marL="0" indent="0">
              <a:lnSpc>
                <a:spcPct val="100000"/>
              </a:lnSpc>
              <a:spcBef>
                <a:spcPts val="0"/>
              </a:spcBef>
              <a:buNone/>
            </a:pPr>
            <a:r>
              <a:rPr lang="en-AU" sz="2000" b="1">
                <a:solidFill>
                  <a:srgbClr val="3D2A6B"/>
                </a:solidFill>
                <a:latin typeface="Arial"/>
                <a:ea typeface="Arial"/>
                <a:cs typeface="Arial"/>
              </a:rPr>
              <a:t>Be curious, not judgemental.</a:t>
            </a:r>
          </a:p>
        </p:txBody>
      </p:sp>
      <p:sp>
        <p:nvSpPr>
          <p:cNvPr id="6" name="Rounded Rectangle 5"/>
          <p:cNvSpPr/>
          <p:nvPr/>
        </p:nvSpPr>
        <p:spPr>
          <a:xfrm>
            <a:off x="685800" y="2203704"/>
            <a:ext cx="10820095" cy="749808"/>
          </a:xfrm>
          <a:prstGeom prst="roundRect">
            <a:avLst>
              <a:gd name="adj" fmla="val 12000"/>
            </a:avLst>
          </a:prstGeom>
          <a:solidFill>
            <a:srgbClr val="F3F0FA"/>
          </a:solidFill>
          <a:ln>
            <a:noFill/>
          </a:ln>
        </p:spPr>
        <p:txBody>
          <a:bodyPr rtlCol="0" anchor="ctr"/>
          <a:lstStyle/>
          <a:p>
            <a:pPr algn="ctr"/>
          </a:p>
        </p:txBody>
      </p:sp>
      <p:sp>
        <p:nvSpPr>
          <p:cNvPr id="7" name="TextBox 6"/>
          <p:cNvSpPr txBox="1"/>
          <p:nvPr/>
        </p:nvSpPr>
        <p:spPr>
          <a:xfrm>
            <a:off x="960120" y="2203704"/>
            <a:ext cx="10241280" cy="749808"/>
          </a:xfrm>
          <a:prstGeom prst="rect">
            <a:avLst/>
          </a:prstGeom>
          <a:noFill/>
        </p:spPr>
        <p:txBody>
          <a:bodyPr wrap="square" lIns="0" rIns="0" tIns="0" bIns="0" anchor="ctr">
            <a:noAutofit/>
          </a:bodyPr>
          <a:lstStyle/>
          <a:p>
            <a:pPr algn="l" marL="0" indent="0">
              <a:lnSpc>
                <a:spcPct val="100000"/>
              </a:lnSpc>
              <a:spcBef>
                <a:spcPts val="0"/>
              </a:spcBef>
              <a:buNone/>
            </a:pPr>
            <a:r>
              <a:rPr lang="en-AU" sz="2000" b="1">
                <a:solidFill>
                  <a:srgbClr val="3D2A6B"/>
                </a:solidFill>
                <a:latin typeface="Arial"/>
                <a:ea typeface="Arial"/>
                <a:cs typeface="Arial"/>
              </a:rPr>
              <a:t>Reduce input: fewer words, fewer questions, less noise.</a:t>
            </a:r>
          </a:p>
        </p:txBody>
      </p:sp>
      <p:sp>
        <p:nvSpPr>
          <p:cNvPr id="8" name="Rounded Rectangle 7"/>
          <p:cNvSpPr/>
          <p:nvPr/>
        </p:nvSpPr>
        <p:spPr>
          <a:xfrm>
            <a:off x="685800" y="3081528"/>
            <a:ext cx="10820095" cy="749808"/>
          </a:xfrm>
          <a:prstGeom prst="roundRect">
            <a:avLst>
              <a:gd name="adj" fmla="val 12000"/>
            </a:avLst>
          </a:prstGeom>
          <a:solidFill>
            <a:srgbClr val="F3F0FA"/>
          </a:solidFill>
          <a:ln>
            <a:noFill/>
          </a:ln>
        </p:spPr>
        <p:txBody>
          <a:bodyPr rtlCol="0" anchor="ctr"/>
          <a:lstStyle/>
          <a:p>
            <a:pPr algn="ctr"/>
          </a:p>
        </p:txBody>
      </p:sp>
      <p:sp>
        <p:nvSpPr>
          <p:cNvPr id="9" name="TextBox 8"/>
          <p:cNvSpPr txBox="1"/>
          <p:nvPr/>
        </p:nvSpPr>
        <p:spPr>
          <a:xfrm>
            <a:off x="960120" y="3081528"/>
            <a:ext cx="10241280" cy="749808"/>
          </a:xfrm>
          <a:prstGeom prst="rect">
            <a:avLst/>
          </a:prstGeom>
          <a:noFill/>
        </p:spPr>
        <p:txBody>
          <a:bodyPr wrap="square" lIns="0" rIns="0" tIns="0" bIns="0" anchor="ctr">
            <a:noAutofit/>
          </a:bodyPr>
          <a:lstStyle/>
          <a:p>
            <a:pPr algn="l" marL="0" indent="0">
              <a:lnSpc>
                <a:spcPct val="100000"/>
              </a:lnSpc>
              <a:spcBef>
                <a:spcPts val="0"/>
              </a:spcBef>
              <a:buNone/>
            </a:pPr>
            <a:r>
              <a:rPr lang="en-AU" sz="2000" b="1">
                <a:solidFill>
                  <a:srgbClr val="3D2A6B"/>
                </a:solidFill>
                <a:latin typeface="Arial"/>
                <a:ea typeface="Arial"/>
                <a:cs typeface="Arial"/>
              </a:rPr>
              <a:t>Have a safe, quiet space you have agreed on before.</a:t>
            </a:r>
          </a:p>
        </p:txBody>
      </p:sp>
      <p:sp>
        <p:nvSpPr>
          <p:cNvPr id="10" name="Rounded Rectangle 9"/>
          <p:cNvSpPr/>
          <p:nvPr/>
        </p:nvSpPr>
        <p:spPr>
          <a:xfrm>
            <a:off x="685800" y="3959352"/>
            <a:ext cx="10820095" cy="749808"/>
          </a:xfrm>
          <a:prstGeom prst="roundRect">
            <a:avLst>
              <a:gd name="adj" fmla="val 12000"/>
            </a:avLst>
          </a:prstGeom>
          <a:solidFill>
            <a:srgbClr val="F3F0FA"/>
          </a:solidFill>
          <a:ln>
            <a:noFill/>
          </a:ln>
        </p:spPr>
        <p:txBody>
          <a:bodyPr rtlCol="0" anchor="ctr"/>
          <a:lstStyle/>
          <a:p>
            <a:pPr algn="ctr"/>
          </a:p>
        </p:txBody>
      </p:sp>
      <p:sp>
        <p:nvSpPr>
          <p:cNvPr id="11" name="TextBox 10"/>
          <p:cNvSpPr txBox="1"/>
          <p:nvPr/>
        </p:nvSpPr>
        <p:spPr>
          <a:xfrm>
            <a:off x="960120" y="3959352"/>
            <a:ext cx="10241280" cy="749808"/>
          </a:xfrm>
          <a:prstGeom prst="rect">
            <a:avLst/>
          </a:prstGeom>
          <a:noFill/>
        </p:spPr>
        <p:txBody>
          <a:bodyPr wrap="square" lIns="0" rIns="0" tIns="0" bIns="0" anchor="ctr">
            <a:noAutofit/>
          </a:bodyPr>
          <a:lstStyle/>
          <a:p>
            <a:pPr algn="l" marL="0" indent="0">
              <a:lnSpc>
                <a:spcPct val="100000"/>
              </a:lnSpc>
              <a:spcBef>
                <a:spcPts val="0"/>
              </a:spcBef>
              <a:buNone/>
            </a:pPr>
            <a:r>
              <a:rPr lang="en-AU" sz="2000" b="1">
                <a:solidFill>
                  <a:srgbClr val="3D2A6B"/>
                </a:solidFill>
                <a:latin typeface="Arial"/>
                <a:ea typeface="Arial"/>
                <a:cs typeface="Arial"/>
              </a:rPr>
              <a:t>Remember it is a body response. They are doing the best they can.</a:t>
            </a:r>
          </a:p>
        </p:txBody>
      </p:sp>
      <p:sp>
        <p:nvSpPr>
          <p:cNvPr id="12" name="Rounded Rectangle 11"/>
          <p:cNvSpPr/>
          <p:nvPr/>
        </p:nvSpPr>
        <p:spPr>
          <a:xfrm>
            <a:off x="685800" y="4837176"/>
            <a:ext cx="10820095" cy="749808"/>
          </a:xfrm>
          <a:prstGeom prst="roundRect">
            <a:avLst>
              <a:gd name="adj" fmla="val 12000"/>
            </a:avLst>
          </a:prstGeom>
          <a:solidFill>
            <a:srgbClr val="F3F0FA"/>
          </a:solidFill>
          <a:ln>
            <a:noFill/>
          </a:ln>
        </p:spPr>
        <p:txBody>
          <a:bodyPr rtlCol="0" anchor="ctr"/>
          <a:lstStyle/>
          <a:p>
            <a:pPr algn="ctr"/>
          </a:p>
        </p:txBody>
      </p:sp>
      <p:sp>
        <p:nvSpPr>
          <p:cNvPr id="13" name="TextBox 12"/>
          <p:cNvSpPr txBox="1"/>
          <p:nvPr/>
        </p:nvSpPr>
        <p:spPr>
          <a:xfrm>
            <a:off x="960120" y="4837176"/>
            <a:ext cx="10241280" cy="749808"/>
          </a:xfrm>
          <a:prstGeom prst="rect">
            <a:avLst/>
          </a:prstGeom>
          <a:noFill/>
        </p:spPr>
        <p:txBody>
          <a:bodyPr wrap="square" lIns="0" rIns="0" tIns="0" bIns="0" anchor="ctr">
            <a:noAutofit/>
          </a:bodyPr>
          <a:lstStyle/>
          <a:p>
            <a:pPr algn="l" marL="0" indent="0">
              <a:lnSpc>
                <a:spcPct val="100000"/>
              </a:lnSpc>
              <a:spcBef>
                <a:spcPts val="0"/>
              </a:spcBef>
              <a:buNone/>
            </a:pPr>
            <a:r>
              <a:rPr lang="en-AU" sz="2000" b="1">
                <a:solidFill>
                  <a:srgbClr val="3D2A6B"/>
                </a:solidFill>
                <a:latin typeface="Arial"/>
                <a:ea typeface="Arial"/>
                <a:cs typeface="Arial"/>
              </a:rPr>
              <a:t>Talking it through can wait until they are calm.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Self-regulation and co-regulation</a:t>
            </a:r>
          </a:p>
        </p:txBody>
      </p:sp>
      <p:sp>
        <p:nvSpPr>
          <p:cNvPr id="4" name="Rounded Rectangle 3"/>
          <p:cNvSpPr/>
          <p:nvPr/>
        </p:nvSpPr>
        <p:spPr>
          <a:xfrm>
            <a:off x="685800" y="1371600"/>
            <a:ext cx="5272888" cy="2560320"/>
          </a:xfrm>
          <a:prstGeom prst="roundRect">
            <a:avLst>
              <a:gd name="adj" fmla="val 10000"/>
            </a:avLst>
          </a:prstGeom>
          <a:solidFill>
            <a:srgbClr val="F3F0FA"/>
          </a:solidFill>
          <a:ln>
            <a:noFill/>
          </a:ln>
        </p:spPr>
        <p:txBody>
          <a:bodyPr rtlCol="0" anchor="ctr"/>
          <a:lstStyle/>
          <a:p>
            <a:pPr algn="ctr"/>
          </a:p>
        </p:txBody>
      </p:sp>
      <p:sp>
        <p:nvSpPr>
          <p:cNvPr id="5" name="TextBox 4"/>
          <p:cNvSpPr txBox="1"/>
          <p:nvPr/>
        </p:nvSpPr>
        <p:spPr>
          <a:xfrm>
            <a:off x="960120" y="1645920"/>
            <a:ext cx="4724248" cy="210312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Co-regulation</a:t>
            </a:r>
          </a:p>
          <a:p>
            <a:pPr algn="l" marL="0" indent="0">
              <a:lnSpc>
                <a:spcPct val="100000"/>
              </a:lnSpc>
              <a:spcBef>
                <a:spcPts val="800"/>
              </a:spcBef>
              <a:buNone/>
            </a:pPr>
            <a:r>
              <a:rPr lang="en-AU" sz="1600" b="0">
                <a:solidFill>
                  <a:srgbClr val="3D2A6B"/>
                </a:solidFill>
                <a:latin typeface="Arial"/>
                <a:ea typeface="Arial"/>
                <a:cs typeface="Arial"/>
              </a:rPr>
              <a:t>A calm, trusted adult helps your child settle. Your steady presence does a lot of the work.</a:t>
            </a:r>
          </a:p>
        </p:txBody>
      </p:sp>
      <p:sp>
        <p:nvSpPr>
          <p:cNvPr id="6" name="Rounded Rectangle 5"/>
          <p:cNvSpPr/>
          <p:nvPr/>
        </p:nvSpPr>
        <p:spPr>
          <a:xfrm>
            <a:off x="6233008" y="1371600"/>
            <a:ext cx="5272888" cy="2560320"/>
          </a:xfrm>
          <a:prstGeom prst="roundRect">
            <a:avLst>
              <a:gd name="adj" fmla="val 10000"/>
            </a:avLst>
          </a:prstGeom>
          <a:solidFill>
            <a:srgbClr val="F3F0FA"/>
          </a:solidFill>
          <a:ln>
            <a:noFill/>
          </a:ln>
        </p:spPr>
        <p:txBody>
          <a:bodyPr rtlCol="0" anchor="ctr"/>
          <a:lstStyle/>
          <a:p>
            <a:pPr algn="ctr"/>
          </a:p>
        </p:txBody>
      </p:sp>
      <p:sp>
        <p:nvSpPr>
          <p:cNvPr id="7" name="TextBox 6"/>
          <p:cNvSpPr txBox="1"/>
          <p:nvPr/>
        </p:nvSpPr>
        <p:spPr>
          <a:xfrm>
            <a:off x="6507328" y="1645920"/>
            <a:ext cx="4724248" cy="210312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Self-regulation</a:t>
            </a:r>
          </a:p>
          <a:p>
            <a:pPr algn="l" marL="0" indent="0">
              <a:lnSpc>
                <a:spcPct val="100000"/>
              </a:lnSpc>
              <a:spcBef>
                <a:spcPts val="800"/>
              </a:spcBef>
              <a:buNone/>
            </a:pPr>
            <a:r>
              <a:rPr lang="en-AU" sz="1600" b="0">
                <a:solidFill>
                  <a:srgbClr val="3D2A6B"/>
                </a:solidFill>
                <a:latin typeface="Arial"/>
                <a:ea typeface="Arial"/>
                <a:cs typeface="Arial"/>
              </a:rPr>
              <a:t>What your child does to manage their own energy and feelings. It grows over time, with support.</a:t>
            </a:r>
          </a:p>
        </p:txBody>
      </p:sp>
      <p:sp>
        <p:nvSpPr>
          <p:cNvPr id="8" name="Rounded Rectangle 7"/>
          <p:cNvSpPr/>
          <p:nvPr/>
        </p:nvSpPr>
        <p:spPr>
          <a:xfrm>
            <a:off x="685800" y="429768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9" name="TextBox 8"/>
          <p:cNvSpPr txBox="1"/>
          <p:nvPr/>
        </p:nvSpPr>
        <p:spPr>
          <a:xfrm>
            <a:off x="960120" y="429768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800" b="1">
                <a:solidFill>
                  <a:srgbClr val="584099"/>
                </a:solidFill>
                <a:latin typeface="Arial"/>
                <a:ea typeface="Arial"/>
                <a:cs typeface="Arial"/>
              </a:rPr>
              <a:t>Co-regulation comes first. Self-regulation builds from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The after-school crash</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Many Autistic children hold it together at school and let go at home.</a:t>
            </a:r>
          </a:p>
        </p:txBody>
      </p:sp>
      <p:sp>
        <p:nvSpPr>
          <p:cNvPr id="5" name="Rounded Rectangle 4"/>
          <p:cNvSpPr/>
          <p:nvPr/>
        </p:nvSpPr>
        <p:spPr>
          <a:xfrm>
            <a:off x="685800" y="2103120"/>
            <a:ext cx="2554148" cy="274320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960120"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Recovery first</a:t>
            </a:r>
          </a:p>
          <a:p>
            <a:pPr algn="l" marL="0" indent="0">
              <a:lnSpc>
                <a:spcPct val="100000"/>
              </a:lnSpc>
              <a:spcBef>
                <a:spcPts val="800"/>
              </a:spcBef>
              <a:buNone/>
            </a:pPr>
            <a:r>
              <a:rPr lang="en-AU" sz="1700" b="0">
                <a:solidFill>
                  <a:srgbClr val="3D2A6B"/>
                </a:solidFill>
                <a:latin typeface="Arial"/>
                <a:ea typeface="Arial"/>
                <a:cs typeface="Arial"/>
              </a:rPr>
              <a:t>Food, quiet, movement or screen time, their choice, before any questions or demands.</a:t>
            </a:r>
          </a:p>
        </p:txBody>
      </p:sp>
      <p:sp>
        <p:nvSpPr>
          <p:cNvPr id="7" name="Rounded Rectangle 6"/>
          <p:cNvSpPr/>
          <p:nvPr/>
        </p:nvSpPr>
        <p:spPr>
          <a:xfrm>
            <a:off x="3441116" y="2103120"/>
            <a:ext cx="2554148" cy="274320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3715436"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Talk later</a:t>
            </a:r>
          </a:p>
          <a:p>
            <a:pPr algn="l" marL="0" indent="0">
              <a:lnSpc>
                <a:spcPct val="100000"/>
              </a:lnSpc>
              <a:spcBef>
                <a:spcPts val="800"/>
              </a:spcBef>
              <a:buNone/>
            </a:pPr>
            <a:r>
              <a:rPr lang="en-AU" sz="1700" b="0">
                <a:solidFill>
                  <a:srgbClr val="3D2A6B"/>
                </a:solidFill>
                <a:latin typeface="Arial"/>
                <a:ea typeface="Arial"/>
                <a:cs typeface="Arial"/>
              </a:rPr>
              <a:t>"How was school?" can wait. They may tell you later, often late in the evening, or not at all.</a:t>
            </a:r>
          </a:p>
        </p:txBody>
      </p:sp>
      <p:sp>
        <p:nvSpPr>
          <p:cNvPr id="9" name="Rounded Rectangle 8"/>
          <p:cNvSpPr/>
          <p:nvPr/>
        </p:nvSpPr>
        <p:spPr>
          <a:xfrm>
            <a:off x="6196432" y="2103120"/>
            <a:ext cx="2554148" cy="2743200"/>
          </a:xfrm>
          <a:prstGeom prst="roundRect">
            <a:avLst>
              <a:gd name="adj" fmla="val 10000"/>
            </a:avLst>
          </a:prstGeom>
          <a:solidFill>
            <a:srgbClr val="F3F0FA"/>
          </a:solidFill>
          <a:ln>
            <a:noFill/>
          </a:ln>
        </p:spPr>
        <p:txBody>
          <a:bodyPr rtlCol="0" anchor="ctr"/>
          <a:lstStyle/>
          <a:p>
            <a:pPr algn="ctr"/>
          </a:p>
        </p:txBody>
      </p:sp>
      <p:sp>
        <p:nvSpPr>
          <p:cNvPr id="10" name="TextBox 9"/>
          <p:cNvSpPr txBox="1"/>
          <p:nvPr/>
        </p:nvSpPr>
        <p:spPr>
          <a:xfrm>
            <a:off x="6470752"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Homework can wait too</a:t>
            </a:r>
          </a:p>
          <a:p>
            <a:pPr algn="l" marL="0" indent="0">
              <a:lnSpc>
                <a:spcPct val="100000"/>
              </a:lnSpc>
              <a:spcBef>
                <a:spcPts val="800"/>
              </a:spcBef>
              <a:buNone/>
            </a:pPr>
            <a:r>
              <a:rPr lang="en-AU" sz="1700" b="0">
                <a:solidFill>
                  <a:srgbClr val="3D2A6B"/>
                </a:solidFill>
                <a:latin typeface="Arial"/>
                <a:ea typeface="Arial"/>
                <a:cs typeface="Arial"/>
              </a:rPr>
              <a:t>Straight after school, the battery is often empty.</a:t>
            </a:r>
          </a:p>
        </p:txBody>
      </p:sp>
      <p:sp>
        <p:nvSpPr>
          <p:cNvPr id="11" name="Rounded Rectangle 10"/>
          <p:cNvSpPr/>
          <p:nvPr/>
        </p:nvSpPr>
        <p:spPr>
          <a:xfrm>
            <a:off x="8951747" y="2103120"/>
            <a:ext cx="2554148" cy="2743200"/>
          </a:xfrm>
          <a:prstGeom prst="roundRect">
            <a:avLst>
              <a:gd name="adj" fmla="val 10000"/>
            </a:avLst>
          </a:prstGeom>
          <a:solidFill>
            <a:srgbClr val="F3F0FA"/>
          </a:solidFill>
          <a:ln>
            <a:noFill/>
          </a:ln>
        </p:spPr>
        <p:txBody>
          <a:bodyPr rtlCol="0" anchor="ctr"/>
          <a:lstStyle/>
          <a:p>
            <a:pPr algn="ctr"/>
          </a:p>
        </p:txBody>
      </p:sp>
      <p:sp>
        <p:nvSpPr>
          <p:cNvPr id="12" name="TextBox 11"/>
          <p:cNvSpPr txBox="1"/>
          <p:nvPr/>
        </p:nvSpPr>
        <p:spPr>
          <a:xfrm>
            <a:off x="9226067"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Keep it the same</a:t>
            </a:r>
          </a:p>
          <a:p>
            <a:pPr algn="l" marL="0" indent="0">
              <a:lnSpc>
                <a:spcPct val="100000"/>
              </a:lnSpc>
              <a:spcBef>
                <a:spcPts val="800"/>
              </a:spcBef>
              <a:buNone/>
            </a:pPr>
            <a:r>
              <a:rPr lang="en-AU" sz="1700" b="0">
                <a:solidFill>
                  <a:srgbClr val="3D2A6B"/>
                </a:solidFill>
                <a:latin typeface="Arial"/>
                <a:ea typeface="Arial"/>
                <a:cs typeface="Arial"/>
              </a:rPr>
              <a:t>A simple after-school routine they can rely 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Predictability at home</a:t>
            </a:r>
          </a:p>
        </p:txBody>
      </p:sp>
      <p:sp>
        <p:nvSpPr>
          <p:cNvPr id="4" name="TextBox 3"/>
          <p:cNvSpPr txBox="1"/>
          <p:nvPr/>
        </p:nvSpPr>
        <p:spPr>
          <a:xfrm>
            <a:off x="685800" y="1325880"/>
            <a:ext cx="10789920" cy="54864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3D2A6B"/>
                </a:solidFill>
                <a:latin typeface="Arial"/>
                <a:ea typeface="Arial"/>
                <a:cs typeface="Arial"/>
              </a:rPr>
              <a:t>Predictability lowers everyone's load, and home does not need to feel like school.</a:t>
            </a:r>
          </a:p>
        </p:txBody>
      </p:sp>
      <p:sp>
        <p:nvSpPr>
          <p:cNvPr id="5" name="Rounded Rectangle 4"/>
          <p:cNvSpPr/>
          <p:nvPr/>
        </p:nvSpPr>
        <p:spPr>
          <a:xfrm>
            <a:off x="685800" y="2103120"/>
            <a:ext cx="2554148" cy="2743200"/>
          </a:xfrm>
          <a:prstGeom prst="roundRect">
            <a:avLst>
              <a:gd name="adj" fmla="val 10000"/>
            </a:avLst>
          </a:prstGeom>
          <a:solidFill>
            <a:srgbClr val="F3F0FA"/>
          </a:solidFill>
          <a:ln>
            <a:noFill/>
          </a:ln>
        </p:spPr>
        <p:txBody>
          <a:bodyPr rtlCol="0" anchor="ctr"/>
          <a:lstStyle/>
          <a:p>
            <a:pPr algn="ctr"/>
          </a:p>
        </p:txBody>
      </p:sp>
      <p:sp>
        <p:nvSpPr>
          <p:cNvPr id="6" name="TextBox 5"/>
          <p:cNvSpPr txBox="1"/>
          <p:nvPr/>
        </p:nvSpPr>
        <p:spPr>
          <a:xfrm>
            <a:off x="960120"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A few routines</a:t>
            </a:r>
          </a:p>
          <a:p>
            <a:pPr algn="l" marL="0" indent="0">
              <a:lnSpc>
                <a:spcPct val="100000"/>
              </a:lnSpc>
              <a:spcBef>
                <a:spcPts val="800"/>
              </a:spcBef>
              <a:buNone/>
            </a:pPr>
            <a:r>
              <a:rPr lang="en-AU" sz="1700" b="0">
                <a:solidFill>
                  <a:srgbClr val="3D2A6B"/>
                </a:solidFill>
                <a:latin typeface="Arial"/>
                <a:ea typeface="Arial"/>
                <a:cs typeface="Arial"/>
              </a:rPr>
              <a:t>Pick the ones that help your family most: mornings, after school, bedtime.</a:t>
            </a:r>
          </a:p>
        </p:txBody>
      </p:sp>
      <p:sp>
        <p:nvSpPr>
          <p:cNvPr id="7" name="Rounded Rectangle 6"/>
          <p:cNvSpPr/>
          <p:nvPr/>
        </p:nvSpPr>
        <p:spPr>
          <a:xfrm>
            <a:off x="3441116" y="2103120"/>
            <a:ext cx="2554148" cy="2743200"/>
          </a:xfrm>
          <a:prstGeom prst="roundRect">
            <a:avLst>
              <a:gd name="adj" fmla="val 10000"/>
            </a:avLst>
          </a:prstGeom>
          <a:solidFill>
            <a:srgbClr val="F3F0FA"/>
          </a:solidFill>
          <a:ln>
            <a:noFill/>
          </a:ln>
        </p:spPr>
        <p:txBody>
          <a:bodyPr rtlCol="0" anchor="ctr"/>
          <a:lstStyle/>
          <a:p>
            <a:pPr algn="ctr"/>
          </a:p>
        </p:txBody>
      </p:sp>
      <p:sp>
        <p:nvSpPr>
          <p:cNvPr id="8" name="TextBox 7"/>
          <p:cNvSpPr txBox="1"/>
          <p:nvPr/>
        </p:nvSpPr>
        <p:spPr>
          <a:xfrm>
            <a:off x="3715436"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Visual supports</a:t>
            </a:r>
          </a:p>
          <a:p>
            <a:pPr algn="l" marL="0" indent="0">
              <a:lnSpc>
                <a:spcPct val="100000"/>
              </a:lnSpc>
              <a:spcBef>
                <a:spcPts val="800"/>
              </a:spcBef>
              <a:buNone/>
            </a:pPr>
            <a:r>
              <a:rPr lang="en-AU" sz="1700" b="0">
                <a:solidFill>
                  <a:srgbClr val="3D2A6B"/>
                </a:solidFill>
                <a:latin typeface="Arial"/>
                <a:ea typeface="Arial"/>
                <a:cs typeface="Arial"/>
              </a:rPr>
              <a:t>A schedule on the fridge or a now-and-next card, where they help.</a:t>
            </a:r>
          </a:p>
        </p:txBody>
      </p:sp>
      <p:sp>
        <p:nvSpPr>
          <p:cNvPr id="9" name="Rounded Rectangle 8"/>
          <p:cNvSpPr/>
          <p:nvPr/>
        </p:nvSpPr>
        <p:spPr>
          <a:xfrm>
            <a:off x="6196432" y="2103120"/>
            <a:ext cx="2554148" cy="2743200"/>
          </a:xfrm>
          <a:prstGeom prst="roundRect">
            <a:avLst>
              <a:gd name="adj" fmla="val 10000"/>
            </a:avLst>
          </a:prstGeom>
          <a:solidFill>
            <a:srgbClr val="F3F0FA"/>
          </a:solidFill>
          <a:ln>
            <a:noFill/>
          </a:ln>
        </p:spPr>
        <p:txBody>
          <a:bodyPr rtlCol="0" anchor="ctr"/>
          <a:lstStyle/>
          <a:p>
            <a:pPr algn="ctr"/>
          </a:p>
        </p:txBody>
      </p:sp>
      <p:sp>
        <p:nvSpPr>
          <p:cNvPr id="10" name="TextBox 9"/>
          <p:cNvSpPr txBox="1"/>
          <p:nvPr/>
        </p:nvSpPr>
        <p:spPr>
          <a:xfrm>
            <a:off x="6470752"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Warnings</a:t>
            </a:r>
          </a:p>
          <a:p>
            <a:pPr algn="l" marL="0" indent="0">
              <a:lnSpc>
                <a:spcPct val="100000"/>
              </a:lnSpc>
              <a:spcBef>
                <a:spcPts val="800"/>
              </a:spcBef>
              <a:buNone/>
            </a:pPr>
            <a:r>
              <a:rPr lang="en-AU" sz="1700" b="0">
                <a:solidFill>
                  <a:srgbClr val="3D2A6B"/>
                </a:solidFill>
                <a:latin typeface="Arial"/>
                <a:ea typeface="Arial"/>
                <a:cs typeface="Arial"/>
              </a:rPr>
              <a:t>Warn before a change or transition, and mean it: "five more minutes".</a:t>
            </a:r>
          </a:p>
        </p:txBody>
      </p:sp>
      <p:sp>
        <p:nvSpPr>
          <p:cNvPr id="11" name="Rounded Rectangle 10"/>
          <p:cNvSpPr/>
          <p:nvPr/>
        </p:nvSpPr>
        <p:spPr>
          <a:xfrm>
            <a:off x="8951747" y="2103120"/>
            <a:ext cx="2554148" cy="2743200"/>
          </a:xfrm>
          <a:prstGeom prst="roundRect">
            <a:avLst>
              <a:gd name="adj" fmla="val 10000"/>
            </a:avLst>
          </a:prstGeom>
          <a:solidFill>
            <a:srgbClr val="F3F0FA"/>
          </a:solidFill>
          <a:ln>
            <a:noFill/>
          </a:ln>
        </p:spPr>
        <p:txBody>
          <a:bodyPr rtlCol="0" anchor="ctr"/>
          <a:lstStyle/>
          <a:p>
            <a:pPr algn="ctr"/>
          </a:p>
        </p:txBody>
      </p:sp>
      <p:sp>
        <p:nvSpPr>
          <p:cNvPr id="12" name="TextBox 11"/>
          <p:cNvSpPr txBox="1"/>
          <p:nvPr/>
        </p:nvSpPr>
        <p:spPr>
          <a:xfrm>
            <a:off x="9226067" y="2377440"/>
            <a:ext cx="2005508" cy="2286000"/>
          </a:xfrm>
          <a:prstGeom prst="rect">
            <a:avLst/>
          </a:prstGeom>
          <a:noFill/>
        </p:spPr>
        <p:txBody>
          <a:bodyPr wrap="square" lIns="0" rIns="0" tIns="0" bIns="0" anchor="t">
            <a:noAutofit/>
          </a:bodyPr>
          <a:lstStyle/>
          <a:p>
            <a:pPr algn="l" marL="0" indent="0">
              <a:lnSpc>
                <a:spcPct val="100000"/>
              </a:lnSpc>
              <a:spcBef>
                <a:spcPts val="0"/>
              </a:spcBef>
              <a:buNone/>
            </a:pPr>
            <a:r>
              <a:rPr lang="en-AU" sz="1900" b="1">
                <a:solidFill>
                  <a:srgbClr val="584099"/>
                </a:solidFill>
                <a:latin typeface="Arial"/>
                <a:ea typeface="Arial"/>
                <a:cs typeface="Arial"/>
              </a:rPr>
              <a:t>When plans change</a:t>
            </a:r>
          </a:p>
          <a:p>
            <a:pPr algn="l" marL="0" indent="0">
              <a:lnSpc>
                <a:spcPct val="100000"/>
              </a:lnSpc>
              <a:spcBef>
                <a:spcPts val="800"/>
              </a:spcBef>
              <a:buNone/>
            </a:pPr>
            <a:r>
              <a:rPr lang="en-AU" sz="1700" b="0">
                <a:solidFill>
                  <a:srgbClr val="3D2A6B"/>
                </a:solidFill>
                <a:latin typeface="Arial"/>
                <a:ea typeface="Arial"/>
                <a:cs typeface="Arial"/>
              </a:rPr>
              <a:t>Name it, show it, and give as much warning as you can.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Interests are an anchor</a:t>
            </a:r>
          </a:p>
        </p:txBody>
      </p:sp>
      <p:sp>
        <p:nvSpPr>
          <p:cNvPr id="4" name="Rounded Rectangle 3"/>
          <p:cNvSpPr/>
          <p:nvPr/>
        </p:nvSpPr>
        <p:spPr>
          <a:xfrm>
            <a:off x="685800" y="1371600"/>
            <a:ext cx="3472586" cy="2743200"/>
          </a:xfrm>
          <a:prstGeom prst="roundRect">
            <a:avLst>
              <a:gd name="adj" fmla="val 10000"/>
            </a:avLst>
          </a:prstGeom>
          <a:solidFill>
            <a:srgbClr val="F3F0FA"/>
          </a:solidFill>
          <a:ln>
            <a:noFill/>
          </a:ln>
        </p:spPr>
        <p:txBody>
          <a:bodyPr rtlCol="0" anchor="ctr"/>
          <a:lstStyle/>
          <a:p>
            <a:pPr algn="ctr"/>
          </a:p>
        </p:txBody>
      </p:sp>
      <p:sp>
        <p:nvSpPr>
          <p:cNvPr id="5" name="TextBox 4"/>
          <p:cNvSpPr txBox="1"/>
          <p:nvPr/>
        </p:nvSpPr>
        <p:spPr>
          <a:xfrm>
            <a:off x="960120" y="1645920"/>
            <a:ext cx="2923946"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Regulation</a:t>
            </a:r>
          </a:p>
          <a:p>
            <a:pPr algn="l" marL="0" indent="0">
              <a:lnSpc>
                <a:spcPct val="100000"/>
              </a:lnSpc>
              <a:spcBef>
                <a:spcPts val="800"/>
              </a:spcBef>
              <a:buNone/>
            </a:pPr>
            <a:r>
              <a:rPr lang="en-AU" sz="1800" b="0">
                <a:solidFill>
                  <a:srgbClr val="3D2A6B"/>
                </a:solidFill>
                <a:latin typeface="Arial"/>
                <a:ea typeface="Arial"/>
                <a:cs typeface="Arial"/>
              </a:rPr>
              <a:t>Time with an interest can restore energy faster than almost anything else.</a:t>
            </a:r>
          </a:p>
        </p:txBody>
      </p:sp>
      <p:sp>
        <p:nvSpPr>
          <p:cNvPr id="6" name="Rounded Rectangle 5"/>
          <p:cNvSpPr/>
          <p:nvPr/>
        </p:nvSpPr>
        <p:spPr>
          <a:xfrm>
            <a:off x="4359554" y="1371600"/>
            <a:ext cx="3472586" cy="2743200"/>
          </a:xfrm>
          <a:prstGeom prst="roundRect">
            <a:avLst>
              <a:gd name="adj" fmla="val 10000"/>
            </a:avLst>
          </a:prstGeom>
          <a:solidFill>
            <a:srgbClr val="F3F0FA"/>
          </a:solidFill>
          <a:ln>
            <a:noFill/>
          </a:ln>
        </p:spPr>
        <p:txBody>
          <a:bodyPr rtlCol="0" anchor="ctr"/>
          <a:lstStyle/>
          <a:p>
            <a:pPr algn="ctr"/>
          </a:p>
        </p:txBody>
      </p:sp>
      <p:sp>
        <p:nvSpPr>
          <p:cNvPr id="7" name="TextBox 6"/>
          <p:cNvSpPr txBox="1"/>
          <p:nvPr/>
        </p:nvSpPr>
        <p:spPr>
          <a:xfrm>
            <a:off x="4633874" y="1645920"/>
            <a:ext cx="2923946"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Connection</a:t>
            </a:r>
          </a:p>
          <a:p>
            <a:pPr algn="l" marL="0" indent="0">
              <a:lnSpc>
                <a:spcPct val="100000"/>
              </a:lnSpc>
              <a:spcBef>
                <a:spcPts val="800"/>
              </a:spcBef>
              <a:buNone/>
            </a:pPr>
            <a:r>
              <a:rPr lang="en-AU" sz="1800" b="0">
                <a:solidFill>
                  <a:srgbClr val="3D2A6B"/>
                </a:solidFill>
                <a:latin typeface="Arial"/>
                <a:ea typeface="Arial"/>
                <a:cs typeface="Arial"/>
              </a:rPr>
              <a:t>Their interest is a way in. Connection often starts inside their world.</a:t>
            </a:r>
          </a:p>
        </p:txBody>
      </p:sp>
      <p:sp>
        <p:nvSpPr>
          <p:cNvPr id="8" name="Rounded Rectangle 7"/>
          <p:cNvSpPr/>
          <p:nvPr/>
        </p:nvSpPr>
        <p:spPr>
          <a:xfrm>
            <a:off x="8033309" y="1371600"/>
            <a:ext cx="3472586" cy="2743200"/>
          </a:xfrm>
          <a:prstGeom prst="roundRect">
            <a:avLst>
              <a:gd name="adj" fmla="val 10000"/>
            </a:avLst>
          </a:prstGeom>
          <a:solidFill>
            <a:srgbClr val="F3F0FA"/>
          </a:solidFill>
          <a:ln>
            <a:noFill/>
          </a:ln>
        </p:spPr>
        <p:txBody>
          <a:bodyPr rtlCol="0" anchor="ctr"/>
          <a:lstStyle/>
          <a:p>
            <a:pPr algn="ctr"/>
          </a:p>
        </p:txBody>
      </p:sp>
      <p:sp>
        <p:nvSpPr>
          <p:cNvPr id="9" name="TextBox 8"/>
          <p:cNvSpPr txBox="1"/>
          <p:nvPr/>
        </p:nvSpPr>
        <p:spPr>
          <a:xfrm>
            <a:off x="8307629" y="1645920"/>
            <a:ext cx="2923946"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Joy and identity</a:t>
            </a:r>
          </a:p>
          <a:p>
            <a:pPr algn="l" marL="0" indent="0">
              <a:lnSpc>
                <a:spcPct val="100000"/>
              </a:lnSpc>
              <a:spcBef>
                <a:spcPts val="800"/>
              </a:spcBef>
              <a:buNone/>
            </a:pPr>
            <a:r>
              <a:rPr lang="en-AU" sz="1800" b="0">
                <a:solidFill>
                  <a:srgbClr val="3D2A6B"/>
                </a:solidFill>
                <a:latin typeface="Arial"/>
                <a:ea typeface="Arial"/>
                <a:cs typeface="Arial"/>
              </a:rPr>
              <a:t>Deep interests are part of who they are, not something to ration.</a:t>
            </a:r>
          </a:p>
        </p:txBody>
      </p:sp>
      <p:sp>
        <p:nvSpPr>
          <p:cNvPr id="10" name="Rounded Rectangle 9"/>
          <p:cNvSpPr/>
          <p:nvPr/>
        </p:nvSpPr>
        <p:spPr>
          <a:xfrm>
            <a:off x="685800" y="448056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1" name="TextBox 10"/>
          <p:cNvSpPr txBox="1"/>
          <p:nvPr/>
        </p:nvSpPr>
        <p:spPr>
          <a:xfrm>
            <a:off x="960120" y="448056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600" b="1">
                <a:solidFill>
                  <a:srgbClr val="584099"/>
                </a:solidFill>
                <a:latin typeface="Arial"/>
                <a:ea typeface="Arial"/>
                <a:cs typeface="Arial"/>
              </a:rPr>
              <a:t>Taking an interest away as a consequence often makes regulation harder.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84099"/>
          </a:solidFill>
          <a:ln>
            <a:noFill/>
          </a:ln>
        </p:spPr>
        <p:txBody>
          <a:bodyPr rtlCol="0" anchor="ctr"/>
          <a:lstStyle/>
          <a:p>
            <a:pPr algn="ctr"/>
          </a:p>
        </p:txBody>
      </p:sp>
      <p:sp>
        <p:nvSpPr>
          <p:cNvPr id="3" name="Oval 2"/>
          <p:cNvSpPr/>
          <p:nvPr/>
        </p:nvSpPr>
        <p:spPr>
          <a:xfrm>
            <a:off x="9052560" y="4023360"/>
            <a:ext cx="4754880" cy="4754880"/>
          </a:xfrm>
          <a:prstGeom prst="ellipse">
            <a:avLst/>
          </a:prstGeom>
          <a:solidFill>
            <a:srgbClr val="6A52A8"/>
          </a:solidFill>
          <a:ln>
            <a:noFill/>
          </a:ln>
        </p:spPr>
        <p:txBody>
          <a:bodyPr rtlCol="0" anchor="ctr"/>
          <a:lstStyle/>
          <a:p>
            <a:pPr algn="ctr"/>
          </a:p>
        </p:txBody>
      </p:sp>
      <p:sp>
        <p:nvSpPr>
          <p:cNvPr id="4"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FFFFFF"/>
                </a:solidFill>
                <a:latin typeface="Arial Black"/>
                <a:ea typeface="Arial Black"/>
                <a:cs typeface="Arial Black"/>
              </a:rPr>
              <a:t>Planning an outing</a:t>
            </a:r>
          </a:p>
        </p:txBody>
      </p:sp>
      <p:sp>
        <p:nvSpPr>
          <p:cNvPr id="5" name="TextBox 4"/>
          <p:cNvSpPr txBox="1"/>
          <p:nvPr/>
        </p:nvSpPr>
        <p:spPr>
          <a:xfrm>
            <a:off x="685800" y="1371600"/>
            <a:ext cx="10241280" cy="8229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FFFFFF"/>
                </a:solidFill>
                <a:latin typeface="Arial"/>
                <a:ea typeface="Arial"/>
                <a:cs typeface="Arial"/>
              </a:rPr>
              <a:t>A party, the shops, a swimming lesson. What do you already do to plan for it?</a:t>
            </a:r>
          </a:p>
        </p:txBody>
      </p:sp>
      <p:sp>
        <p:nvSpPr>
          <p:cNvPr id="6" name="Oval 5"/>
          <p:cNvSpPr/>
          <p:nvPr/>
        </p:nvSpPr>
        <p:spPr>
          <a:xfrm>
            <a:off x="685800" y="2331720"/>
            <a:ext cx="384048" cy="384048"/>
          </a:xfrm>
          <a:prstGeom prst="ellipse">
            <a:avLst/>
          </a:prstGeom>
          <a:solidFill>
            <a:srgbClr val="584099"/>
          </a:solidFill>
          <a:ln w="15875">
            <a:solidFill>
              <a:srgbClr val="FFFFFF"/>
            </a:solidFill>
          </a:ln>
        </p:spPr>
        <p:txBody>
          <a:bodyPr rtlCol="0" anchor="ctr"/>
          <a:lstStyle/>
          <a:p>
            <a:pPr algn="ctr"/>
          </a:p>
        </p:txBody>
      </p:sp>
      <p:sp>
        <p:nvSpPr>
          <p:cNvPr id="7" name="TextBox 6"/>
          <p:cNvSpPr txBox="1"/>
          <p:nvPr/>
        </p:nvSpPr>
        <p:spPr>
          <a:xfrm>
            <a:off x="685800" y="2331720"/>
            <a:ext cx="384048" cy="384048"/>
          </a:xfrm>
          <a:prstGeom prst="rect">
            <a:avLst/>
          </a:prstGeom>
          <a:noFill/>
        </p:spPr>
        <p:txBody>
          <a:bodyPr wrap="square" lIns="0" rIns="0" tIns="0" bIns="0" anchor="ctr">
            <a:noAutofit/>
          </a:bodyPr>
          <a:lstStyle/>
          <a:p>
            <a:pPr algn="ctr" marL="0" indent="0">
              <a:lnSpc>
                <a:spcPct val="100000"/>
              </a:lnSpc>
              <a:spcBef>
                <a:spcPts val="0"/>
              </a:spcBef>
              <a:buNone/>
            </a:pPr>
            <a:r>
              <a:rPr lang="en-AU" sz="1300" b="1">
                <a:solidFill>
                  <a:srgbClr val="FFFFFF"/>
                </a:solidFill>
                <a:latin typeface="Arial"/>
                <a:ea typeface="Arial"/>
                <a:cs typeface="Arial"/>
              </a:rPr>
              <a:t>1</a:t>
            </a:r>
          </a:p>
        </p:txBody>
      </p:sp>
      <p:sp>
        <p:nvSpPr>
          <p:cNvPr id="8" name="TextBox 7"/>
          <p:cNvSpPr txBox="1"/>
          <p:nvPr/>
        </p:nvSpPr>
        <p:spPr>
          <a:xfrm>
            <a:off x="1280160" y="2286000"/>
            <a:ext cx="9509760" cy="548640"/>
          </a:xfrm>
          <a:prstGeom prst="rect">
            <a:avLst/>
          </a:prstGeom>
          <a:noFill/>
        </p:spPr>
        <p:txBody>
          <a:bodyPr wrap="square" lIns="0" rIns="0" tIns="0" bIns="0" anchor="ctr">
            <a:noAutofit/>
          </a:bodyPr>
          <a:lstStyle/>
          <a:p>
            <a:pPr algn="l" marL="0" indent="0">
              <a:lnSpc>
                <a:spcPct val="100000"/>
              </a:lnSpc>
              <a:spcBef>
                <a:spcPts val="0"/>
              </a:spcBef>
              <a:buNone/>
            </a:pPr>
            <a:r>
              <a:rPr lang="en-AU" sz="1800" b="0">
                <a:solidFill>
                  <a:srgbClr val="F1ECFA"/>
                </a:solidFill>
                <a:latin typeface="Arial"/>
                <a:ea typeface="Arial"/>
                <a:cs typeface="Arial"/>
              </a:rPr>
              <a:t>Before: preview it. What, where, how long, and what happens if it is too much?</a:t>
            </a:r>
          </a:p>
        </p:txBody>
      </p:sp>
      <p:sp>
        <p:nvSpPr>
          <p:cNvPr id="9" name="Oval 8"/>
          <p:cNvSpPr/>
          <p:nvPr/>
        </p:nvSpPr>
        <p:spPr>
          <a:xfrm>
            <a:off x="685800" y="2990088"/>
            <a:ext cx="384048" cy="384048"/>
          </a:xfrm>
          <a:prstGeom prst="ellipse">
            <a:avLst/>
          </a:prstGeom>
          <a:solidFill>
            <a:srgbClr val="584099"/>
          </a:solidFill>
          <a:ln w="15875">
            <a:solidFill>
              <a:srgbClr val="FFFFFF"/>
            </a:solidFill>
          </a:ln>
        </p:spPr>
        <p:txBody>
          <a:bodyPr rtlCol="0" anchor="ctr"/>
          <a:lstStyle/>
          <a:p>
            <a:pPr algn="ctr"/>
          </a:p>
        </p:txBody>
      </p:sp>
      <p:sp>
        <p:nvSpPr>
          <p:cNvPr id="10" name="TextBox 9"/>
          <p:cNvSpPr txBox="1"/>
          <p:nvPr/>
        </p:nvSpPr>
        <p:spPr>
          <a:xfrm>
            <a:off x="685800" y="2990088"/>
            <a:ext cx="384048" cy="384048"/>
          </a:xfrm>
          <a:prstGeom prst="rect">
            <a:avLst/>
          </a:prstGeom>
          <a:noFill/>
        </p:spPr>
        <p:txBody>
          <a:bodyPr wrap="square" lIns="0" rIns="0" tIns="0" bIns="0" anchor="ctr">
            <a:noAutofit/>
          </a:bodyPr>
          <a:lstStyle/>
          <a:p>
            <a:pPr algn="ctr" marL="0" indent="0">
              <a:lnSpc>
                <a:spcPct val="100000"/>
              </a:lnSpc>
              <a:spcBef>
                <a:spcPts val="0"/>
              </a:spcBef>
              <a:buNone/>
            </a:pPr>
            <a:r>
              <a:rPr lang="en-AU" sz="1300" b="1">
                <a:solidFill>
                  <a:srgbClr val="FFFFFF"/>
                </a:solidFill>
                <a:latin typeface="Arial"/>
                <a:ea typeface="Arial"/>
                <a:cs typeface="Arial"/>
              </a:rPr>
              <a:t>2</a:t>
            </a:r>
          </a:p>
        </p:txBody>
      </p:sp>
      <p:sp>
        <p:nvSpPr>
          <p:cNvPr id="11" name="TextBox 10"/>
          <p:cNvSpPr txBox="1"/>
          <p:nvPr/>
        </p:nvSpPr>
        <p:spPr>
          <a:xfrm>
            <a:off x="1280160" y="2944368"/>
            <a:ext cx="9509760" cy="548640"/>
          </a:xfrm>
          <a:prstGeom prst="rect">
            <a:avLst/>
          </a:prstGeom>
          <a:noFill/>
        </p:spPr>
        <p:txBody>
          <a:bodyPr wrap="square" lIns="0" rIns="0" tIns="0" bIns="0" anchor="ctr">
            <a:noAutofit/>
          </a:bodyPr>
          <a:lstStyle/>
          <a:p>
            <a:pPr algn="l" marL="0" indent="0">
              <a:lnSpc>
                <a:spcPct val="100000"/>
              </a:lnSpc>
              <a:spcBef>
                <a:spcPts val="0"/>
              </a:spcBef>
              <a:buNone/>
            </a:pPr>
            <a:r>
              <a:rPr lang="en-AU" sz="1800" b="0">
                <a:solidFill>
                  <a:srgbClr val="F1ECFA"/>
                </a:solidFill>
                <a:latin typeface="Arial"/>
                <a:ea typeface="Arial"/>
                <a:cs typeface="Arial"/>
              </a:rPr>
              <a:t>During: watch their energy, not the clock. A planned exit is a good plan, not a failure.</a:t>
            </a:r>
          </a:p>
        </p:txBody>
      </p:sp>
      <p:sp>
        <p:nvSpPr>
          <p:cNvPr id="12" name="Oval 11"/>
          <p:cNvSpPr/>
          <p:nvPr/>
        </p:nvSpPr>
        <p:spPr>
          <a:xfrm>
            <a:off x="685800" y="3648456"/>
            <a:ext cx="384048" cy="384048"/>
          </a:xfrm>
          <a:prstGeom prst="ellipse">
            <a:avLst/>
          </a:prstGeom>
          <a:solidFill>
            <a:srgbClr val="584099"/>
          </a:solidFill>
          <a:ln w="15875">
            <a:solidFill>
              <a:srgbClr val="FFFFFF"/>
            </a:solidFill>
          </a:ln>
        </p:spPr>
        <p:txBody>
          <a:bodyPr rtlCol="0" anchor="ctr"/>
          <a:lstStyle/>
          <a:p>
            <a:pPr algn="ctr"/>
          </a:p>
        </p:txBody>
      </p:sp>
      <p:sp>
        <p:nvSpPr>
          <p:cNvPr id="13" name="TextBox 12"/>
          <p:cNvSpPr txBox="1"/>
          <p:nvPr/>
        </p:nvSpPr>
        <p:spPr>
          <a:xfrm>
            <a:off x="685800" y="3648456"/>
            <a:ext cx="384048" cy="384048"/>
          </a:xfrm>
          <a:prstGeom prst="rect">
            <a:avLst/>
          </a:prstGeom>
          <a:noFill/>
        </p:spPr>
        <p:txBody>
          <a:bodyPr wrap="square" lIns="0" rIns="0" tIns="0" bIns="0" anchor="ctr">
            <a:noAutofit/>
          </a:bodyPr>
          <a:lstStyle/>
          <a:p>
            <a:pPr algn="ctr" marL="0" indent="0">
              <a:lnSpc>
                <a:spcPct val="100000"/>
              </a:lnSpc>
              <a:spcBef>
                <a:spcPts val="0"/>
              </a:spcBef>
              <a:buNone/>
            </a:pPr>
            <a:r>
              <a:rPr lang="en-AU" sz="1300" b="1">
                <a:solidFill>
                  <a:srgbClr val="FFFFFF"/>
                </a:solidFill>
                <a:latin typeface="Arial"/>
                <a:ea typeface="Arial"/>
                <a:cs typeface="Arial"/>
              </a:rPr>
              <a:t>3</a:t>
            </a:r>
          </a:p>
        </p:txBody>
      </p:sp>
      <p:sp>
        <p:nvSpPr>
          <p:cNvPr id="14" name="TextBox 13"/>
          <p:cNvSpPr txBox="1"/>
          <p:nvPr/>
        </p:nvSpPr>
        <p:spPr>
          <a:xfrm>
            <a:off x="1280160" y="3602736"/>
            <a:ext cx="9509760" cy="548640"/>
          </a:xfrm>
          <a:prstGeom prst="rect">
            <a:avLst/>
          </a:prstGeom>
          <a:noFill/>
        </p:spPr>
        <p:txBody>
          <a:bodyPr wrap="square" lIns="0" rIns="0" tIns="0" bIns="0" anchor="ctr">
            <a:noAutofit/>
          </a:bodyPr>
          <a:lstStyle/>
          <a:p>
            <a:pPr algn="l" marL="0" indent="0">
              <a:lnSpc>
                <a:spcPct val="100000"/>
              </a:lnSpc>
              <a:spcBef>
                <a:spcPts val="0"/>
              </a:spcBef>
              <a:buNone/>
            </a:pPr>
            <a:r>
              <a:rPr lang="en-AU" sz="1800" b="0">
                <a:solidFill>
                  <a:srgbClr val="F1ECFA"/>
                </a:solidFill>
                <a:latin typeface="Arial"/>
                <a:ea typeface="Arial"/>
                <a:cs typeface="Arial"/>
              </a:rPr>
              <a:t>After: plan recovery time.</a:t>
            </a:r>
          </a:p>
        </p:txBody>
      </p:sp>
      <p:sp>
        <p:nvSpPr>
          <p:cNvPr id="15" name="Oval 14"/>
          <p:cNvSpPr/>
          <p:nvPr/>
        </p:nvSpPr>
        <p:spPr>
          <a:xfrm>
            <a:off x="685800" y="4306824"/>
            <a:ext cx="384048" cy="384048"/>
          </a:xfrm>
          <a:prstGeom prst="ellipse">
            <a:avLst/>
          </a:prstGeom>
          <a:solidFill>
            <a:srgbClr val="584099"/>
          </a:solidFill>
          <a:ln w="15875">
            <a:solidFill>
              <a:srgbClr val="FFFFFF"/>
            </a:solidFill>
          </a:ln>
        </p:spPr>
        <p:txBody>
          <a:bodyPr rtlCol="0" anchor="ctr"/>
          <a:lstStyle/>
          <a:p>
            <a:pPr algn="ctr"/>
          </a:p>
        </p:txBody>
      </p:sp>
      <p:sp>
        <p:nvSpPr>
          <p:cNvPr id="16" name="TextBox 15"/>
          <p:cNvSpPr txBox="1"/>
          <p:nvPr/>
        </p:nvSpPr>
        <p:spPr>
          <a:xfrm>
            <a:off x="685800" y="4306824"/>
            <a:ext cx="384048" cy="384048"/>
          </a:xfrm>
          <a:prstGeom prst="rect">
            <a:avLst/>
          </a:prstGeom>
          <a:noFill/>
        </p:spPr>
        <p:txBody>
          <a:bodyPr wrap="square" lIns="0" rIns="0" tIns="0" bIns="0" anchor="ctr">
            <a:noAutofit/>
          </a:bodyPr>
          <a:lstStyle/>
          <a:p>
            <a:pPr algn="ctr" marL="0" indent="0">
              <a:lnSpc>
                <a:spcPct val="100000"/>
              </a:lnSpc>
              <a:spcBef>
                <a:spcPts val="0"/>
              </a:spcBef>
              <a:buNone/>
            </a:pPr>
            <a:r>
              <a:rPr lang="en-AU" sz="1300" b="1">
                <a:solidFill>
                  <a:srgbClr val="FFFFFF"/>
                </a:solidFill>
                <a:latin typeface="Arial"/>
                <a:ea typeface="Arial"/>
                <a:cs typeface="Arial"/>
              </a:rPr>
              <a:t>4</a:t>
            </a:r>
          </a:p>
        </p:txBody>
      </p:sp>
      <p:sp>
        <p:nvSpPr>
          <p:cNvPr id="17" name="TextBox 16"/>
          <p:cNvSpPr txBox="1"/>
          <p:nvPr/>
        </p:nvSpPr>
        <p:spPr>
          <a:xfrm>
            <a:off x="1280160" y="4261104"/>
            <a:ext cx="9509760" cy="548640"/>
          </a:xfrm>
          <a:prstGeom prst="rect">
            <a:avLst/>
          </a:prstGeom>
          <a:noFill/>
        </p:spPr>
        <p:txBody>
          <a:bodyPr wrap="square" lIns="0" rIns="0" tIns="0" bIns="0" anchor="ctr">
            <a:noAutofit/>
          </a:bodyPr>
          <a:lstStyle/>
          <a:p>
            <a:pPr algn="l" marL="0" indent="0">
              <a:lnSpc>
                <a:spcPct val="100000"/>
              </a:lnSpc>
              <a:spcBef>
                <a:spcPts val="0"/>
              </a:spcBef>
              <a:buNone/>
            </a:pPr>
            <a:r>
              <a:rPr lang="en-AU" sz="1800" b="0">
                <a:solidFill>
                  <a:srgbClr val="F1ECFA"/>
                </a:solidFill>
                <a:latin typeface="Arial"/>
                <a:ea typeface="Arial"/>
                <a:cs typeface="Arial"/>
              </a:rPr>
              <a:t>Share one idea with your table. Add ideas from others to your workbook.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Siblings and family life</a:t>
            </a:r>
          </a:p>
        </p:txBody>
      </p:sp>
      <p:sp>
        <p:nvSpPr>
          <p:cNvPr id="4" name="Rounded Rectangle 3"/>
          <p:cNvSpPr/>
          <p:nvPr/>
        </p:nvSpPr>
        <p:spPr>
          <a:xfrm>
            <a:off x="685800" y="1371600"/>
            <a:ext cx="3472586" cy="2743200"/>
          </a:xfrm>
          <a:prstGeom prst="roundRect">
            <a:avLst>
              <a:gd name="adj" fmla="val 10000"/>
            </a:avLst>
          </a:prstGeom>
          <a:solidFill>
            <a:srgbClr val="F3F0FA"/>
          </a:solidFill>
          <a:ln>
            <a:noFill/>
          </a:ln>
        </p:spPr>
        <p:txBody>
          <a:bodyPr rtlCol="0" anchor="ctr"/>
          <a:lstStyle/>
          <a:p>
            <a:pPr algn="ctr"/>
          </a:p>
        </p:txBody>
      </p:sp>
      <p:sp>
        <p:nvSpPr>
          <p:cNvPr id="5" name="TextBox 4"/>
          <p:cNvSpPr txBox="1"/>
          <p:nvPr/>
        </p:nvSpPr>
        <p:spPr>
          <a:xfrm>
            <a:off x="960120" y="1645920"/>
            <a:ext cx="2923946"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Their own time</a:t>
            </a:r>
          </a:p>
          <a:p>
            <a:pPr algn="l" marL="0" indent="0">
              <a:lnSpc>
                <a:spcPct val="100000"/>
              </a:lnSpc>
              <a:spcBef>
                <a:spcPts val="800"/>
              </a:spcBef>
              <a:buNone/>
            </a:pPr>
            <a:r>
              <a:rPr lang="en-AU" sz="1800" b="0">
                <a:solidFill>
                  <a:srgbClr val="3D2A6B"/>
                </a:solidFill>
                <a:latin typeface="Arial"/>
                <a:ea typeface="Arial"/>
                <a:cs typeface="Arial"/>
              </a:rPr>
              <a:t>Siblings see a lot and carry some. Small, regular one-on-one time helps.</a:t>
            </a:r>
          </a:p>
        </p:txBody>
      </p:sp>
      <p:sp>
        <p:nvSpPr>
          <p:cNvPr id="6" name="Rounded Rectangle 5"/>
          <p:cNvSpPr/>
          <p:nvPr/>
        </p:nvSpPr>
        <p:spPr>
          <a:xfrm>
            <a:off x="4359554" y="1371600"/>
            <a:ext cx="3472586" cy="2743200"/>
          </a:xfrm>
          <a:prstGeom prst="roundRect">
            <a:avLst>
              <a:gd name="adj" fmla="val 10000"/>
            </a:avLst>
          </a:prstGeom>
          <a:solidFill>
            <a:srgbClr val="F3F0FA"/>
          </a:solidFill>
          <a:ln>
            <a:noFill/>
          </a:ln>
        </p:spPr>
        <p:txBody>
          <a:bodyPr rtlCol="0" anchor="ctr"/>
          <a:lstStyle/>
          <a:p>
            <a:pPr algn="ctr"/>
          </a:p>
        </p:txBody>
      </p:sp>
      <p:sp>
        <p:nvSpPr>
          <p:cNvPr id="7" name="TextBox 6"/>
          <p:cNvSpPr txBox="1"/>
          <p:nvPr/>
        </p:nvSpPr>
        <p:spPr>
          <a:xfrm>
            <a:off x="4633874" y="1645920"/>
            <a:ext cx="2923946"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Fair is not the same</a:t>
            </a:r>
          </a:p>
          <a:p>
            <a:pPr algn="l" marL="0" indent="0">
              <a:lnSpc>
                <a:spcPct val="100000"/>
              </a:lnSpc>
              <a:spcBef>
                <a:spcPts val="800"/>
              </a:spcBef>
              <a:buNone/>
            </a:pPr>
            <a:r>
              <a:rPr lang="en-AU" sz="1800" b="0">
                <a:solidFill>
                  <a:srgbClr val="3D2A6B"/>
                </a:solidFill>
                <a:latin typeface="Arial"/>
                <a:ea typeface="Arial"/>
                <a:cs typeface="Arial"/>
              </a:rPr>
              <a:t>Each child gets what they need. It can help to say that out loud.</a:t>
            </a:r>
          </a:p>
        </p:txBody>
      </p:sp>
      <p:sp>
        <p:nvSpPr>
          <p:cNvPr id="8" name="Rounded Rectangle 7"/>
          <p:cNvSpPr/>
          <p:nvPr/>
        </p:nvSpPr>
        <p:spPr>
          <a:xfrm>
            <a:off x="8033309" y="1371600"/>
            <a:ext cx="3472586" cy="2743200"/>
          </a:xfrm>
          <a:prstGeom prst="roundRect">
            <a:avLst>
              <a:gd name="adj" fmla="val 10000"/>
            </a:avLst>
          </a:prstGeom>
          <a:solidFill>
            <a:srgbClr val="F3F0FA"/>
          </a:solidFill>
          <a:ln>
            <a:noFill/>
          </a:ln>
        </p:spPr>
        <p:txBody>
          <a:bodyPr rtlCol="0" anchor="ctr"/>
          <a:lstStyle/>
          <a:p>
            <a:pPr algn="ctr"/>
          </a:p>
        </p:txBody>
      </p:sp>
      <p:sp>
        <p:nvSpPr>
          <p:cNvPr id="9" name="TextBox 8"/>
          <p:cNvSpPr txBox="1"/>
          <p:nvPr/>
        </p:nvSpPr>
        <p:spPr>
          <a:xfrm>
            <a:off x="8307629" y="1645920"/>
            <a:ext cx="2923946"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Words that fit their age</a:t>
            </a:r>
          </a:p>
          <a:p>
            <a:pPr algn="l" marL="0" indent="0">
              <a:lnSpc>
                <a:spcPct val="100000"/>
              </a:lnSpc>
              <a:spcBef>
                <a:spcPts val="800"/>
              </a:spcBef>
              <a:buNone/>
            </a:pPr>
            <a:r>
              <a:rPr lang="en-AU" sz="1800" b="0">
                <a:solidFill>
                  <a:srgbClr val="3D2A6B"/>
                </a:solidFill>
                <a:latin typeface="Arial"/>
                <a:ea typeface="Arial"/>
                <a:cs typeface="Arial"/>
              </a:rPr>
              <a:t>Siblings understand more when they have language for what is going on.</a:t>
            </a:r>
          </a:p>
        </p:txBody>
      </p:sp>
      <p:sp>
        <p:nvSpPr>
          <p:cNvPr id="10" name="Rounded Rectangle 9"/>
          <p:cNvSpPr/>
          <p:nvPr/>
        </p:nvSpPr>
        <p:spPr>
          <a:xfrm>
            <a:off x="685800" y="448056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1" name="TextBox 10"/>
          <p:cNvSpPr txBox="1"/>
          <p:nvPr/>
        </p:nvSpPr>
        <p:spPr>
          <a:xfrm>
            <a:off x="960120" y="448056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600" b="1">
                <a:solidFill>
                  <a:srgbClr val="584099"/>
                </a:solidFill>
                <a:latin typeface="Arial"/>
                <a:ea typeface="Arial"/>
                <a:cs typeface="Arial"/>
              </a:rPr>
              <a:t>It's okay that it's hard. Balance is something you keep working 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p>
        </p:txBody>
      </p:sp>
      <p:sp>
        <p:nvSpPr>
          <p:cNvPr id="2"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584099"/>
                </a:solidFill>
                <a:latin typeface="Arial Black"/>
                <a:ea typeface="Arial Black"/>
                <a:cs typeface="Arial Black"/>
              </a:rPr>
              <a:t>Your own battery counts</a:t>
            </a:r>
          </a:p>
        </p:txBody>
      </p:sp>
      <p:sp>
        <p:nvSpPr>
          <p:cNvPr id="4" name="Rounded Rectangle 3"/>
          <p:cNvSpPr/>
          <p:nvPr/>
        </p:nvSpPr>
        <p:spPr>
          <a:xfrm>
            <a:off x="685800" y="1371600"/>
            <a:ext cx="3472586" cy="2743200"/>
          </a:xfrm>
          <a:prstGeom prst="roundRect">
            <a:avLst>
              <a:gd name="adj" fmla="val 10000"/>
            </a:avLst>
          </a:prstGeom>
          <a:solidFill>
            <a:srgbClr val="F3F0FA"/>
          </a:solidFill>
          <a:ln>
            <a:noFill/>
          </a:ln>
        </p:spPr>
        <p:txBody>
          <a:bodyPr rtlCol="0" anchor="ctr"/>
          <a:lstStyle/>
          <a:p>
            <a:pPr algn="ctr"/>
          </a:p>
        </p:txBody>
      </p:sp>
      <p:sp>
        <p:nvSpPr>
          <p:cNvPr id="5" name="TextBox 4"/>
          <p:cNvSpPr txBox="1"/>
          <p:nvPr/>
        </p:nvSpPr>
        <p:spPr>
          <a:xfrm>
            <a:off x="960120" y="1645920"/>
            <a:ext cx="2923946"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It helps your child</a:t>
            </a:r>
          </a:p>
          <a:p>
            <a:pPr algn="l" marL="0" indent="0">
              <a:lnSpc>
                <a:spcPct val="100000"/>
              </a:lnSpc>
              <a:spcBef>
                <a:spcPts val="800"/>
              </a:spcBef>
              <a:buNone/>
            </a:pPr>
            <a:r>
              <a:rPr lang="en-AU" sz="1800" b="0">
                <a:solidFill>
                  <a:srgbClr val="3D2A6B"/>
                </a:solidFill>
                <a:latin typeface="Arial"/>
                <a:ea typeface="Arial"/>
                <a:cs typeface="Arial"/>
              </a:rPr>
              <a:t>It is hard to help someone else stay calm when you are running on empty.</a:t>
            </a:r>
          </a:p>
        </p:txBody>
      </p:sp>
      <p:sp>
        <p:nvSpPr>
          <p:cNvPr id="6" name="Rounded Rectangle 5"/>
          <p:cNvSpPr/>
          <p:nvPr/>
        </p:nvSpPr>
        <p:spPr>
          <a:xfrm>
            <a:off x="4359554" y="1371600"/>
            <a:ext cx="3472586" cy="2743200"/>
          </a:xfrm>
          <a:prstGeom prst="roundRect">
            <a:avLst>
              <a:gd name="adj" fmla="val 10000"/>
            </a:avLst>
          </a:prstGeom>
          <a:solidFill>
            <a:srgbClr val="F3F0FA"/>
          </a:solidFill>
          <a:ln>
            <a:noFill/>
          </a:ln>
        </p:spPr>
        <p:txBody>
          <a:bodyPr rtlCol="0" anchor="ctr"/>
          <a:lstStyle/>
          <a:p>
            <a:pPr algn="ctr"/>
          </a:p>
        </p:txBody>
      </p:sp>
      <p:sp>
        <p:nvSpPr>
          <p:cNvPr id="7" name="TextBox 6"/>
          <p:cNvSpPr txBox="1"/>
          <p:nvPr/>
        </p:nvSpPr>
        <p:spPr>
          <a:xfrm>
            <a:off x="4633874" y="1645920"/>
            <a:ext cx="2923946"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Small and daily</a:t>
            </a:r>
          </a:p>
          <a:p>
            <a:pPr algn="l" marL="0" indent="0">
              <a:lnSpc>
                <a:spcPct val="100000"/>
              </a:lnSpc>
              <a:spcBef>
                <a:spcPts val="800"/>
              </a:spcBef>
              <a:buNone/>
            </a:pPr>
            <a:r>
              <a:rPr lang="en-AU" sz="1800" b="0">
                <a:solidFill>
                  <a:srgbClr val="3D2A6B"/>
                </a:solidFill>
                <a:latin typeface="Arial"/>
                <a:ea typeface="Arial"/>
                <a:cs typeface="Arial"/>
              </a:rPr>
              <a:t>Ten minutes, a walk, a cup of tea in peace, asking for help.</a:t>
            </a:r>
          </a:p>
        </p:txBody>
      </p:sp>
      <p:sp>
        <p:nvSpPr>
          <p:cNvPr id="8" name="Rounded Rectangle 7"/>
          <p:cNvSpPr/>
          <p:nvPr/>
        </p:nvSpPr>
        <p:spPr>
          <a:xfrm>
            <a:off x="8033309" y="1371600"/>
            <a:ext cx="3472586" cy="2743200"/>
          </a:xfrm>
          <a:prstGeom prst="roundRect">
            <a:avLst>
              <a:gd name="adj" fmla="val 10000"/>
            </a:avLst>
          </a:prstGeom>
          <a:solidFill>
            <a:srgbClr val="F3F0FA"/>
          </a:solidFill>
          <a:ln>
            <a:noFill/>
          </a:ln>
        </p:spPr>
        <p:txBody>
          <a:bodyPr rtlCol="0" anchor="ctr"/>
          <a:lstStyle/>
          <a:p>
            <a:pPr algn="ctr"/>
          </a:p>
        </p:txBody>
      </p:sp>
      <p:sp>
        <p:nvSpPr>
          <p:cNvPr id="9" name="TextBox 8"/>
          <p:cNvSpPr txBox="1"/>
          <p:nvPr/>
        </p:nvSpPr>
        <p:spPr>
          <a:xfrm>
            <a:off x="8307629" y="1645920"/>
            <a:ext cx="2923946" cy="228600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584099"/>
                </a:solidFill>
                <a:latin typeface="Arial"/>
                <a:ea typeface="Arial"/>
                <a:cs typeface="Arial"/>
              </a:rPr>
              <a:t>Your supports</a:t>
            </a:r>
          </a:p>
          <a:p>
            <a:pPr algn="l" marL="0" indent="0">
              <a:lnSpc>
                <a:spcPct val="100000"/>
              </a:lnSpc>
              <a:spcBef>
                <a:spcPts val="800"/>
              </a:spcBef>
              <a:buNone/>
            </a:pPr>
            <a:r>
              <a:rPr lang="en-AU" sz="1800" b="0">
                <a:solidFill>
                  <a:srgbClr val="3D2A6B"/>
                </a:solidFill>
                <a:latin typeface="Arial"/>
                <a:ea typeface="Arial"/>
                <a:cs typeface="Arial"/>
              </a:rPr>
              <a:t>A partner, family, friends, other parents. The people in this room are one of them.</a:t>
            </a:r>
          </a:p>
        </p:txBody>
      </p:sp>
      <p:sp>
        <p:nvSpPr>
          <p:cNvPr id="10" name="Rounded Rectangle 9"/>
          <p:cNvSpPr/>
          <p:nvPr/>
        </p:nvSpPr>
        <p:spPr>
          <a:xfrm>
            <a:off x="685800" y="4480560"/>
            <a:ext cx="10820095" cy="566928"/>
          </a:xfrm>
          <a:prstGeom prst="roundRect">
            <a:avLst>
              <a:gd name="adj" fmla="val 50000"/>
            </a:avLst>
          </a:prstGeom>
          <a:solidFill>
            <a:srgbClr val="FFFFFF"/>
          </a:solidFill>
          <a:ln w="19050">
            <a:solidFill>
              <a:srgbClr val="584099"/>
            </a:solidFill>
          </a:ln>
        </p:spPr>
        <p:txBody>
          <a:bodyPr rtlCol="0" anchor="ctr"/>
          <a:lstStyle/>
          <a:p>
            <a:pPr algn="ctr"/>
          </a:p>
        </p:txBody>
      </p:sp>
      <p:sp>
        <p:nvSpPr>
          <p:cNvPr id="11" name="TextBox 10"/>
          <p:cNvSpPr txBox="1"/>
          <p:nvPr/>
        </p:nvSpPr>
        <p:spPr>
          <a:xfrm>
            <a:off x="960120" y="4480560"/>
            <a:ext cx="10271455" cy="566928"/>
          </a:xfrm>
          <a:prstGeom prst="rect">
            <a:avLst/>
          </a:prstGeom>
          <a:noFill/>
        </p:spPr>
        <p:txBody>
          <a:bodyPr wrap="square" lIns="0" rIns="0" tIns="0" bIns="0" anchor="ctr">
            <a:noAutofit/>
          </a:bodyPr>
          <a:lstStyle/>
          <a:p>
            <a:pPr algn="ctr" marL="0" indent="0">
              <a:lnSpc>
                <a:spcPct val="100000"/>
              </a:lnSpc>
              <a:spcBef>
                <a:spcPts val="0"/>
              </a:spcBef>
              <a:buNone/>
            </a:pPr>
            <a:r>
              <a:rPr lang="en-AU" sz="1600" b="1">
                <a:solidFill>
                  <a:srgbClr val="584099"/>
                </a:solidFill>
                <a:latin typeface="Arial"/>
                <a:ea typeface="Arial"/>
                <a:cs typeface="Arial"/>
              </a:rPr>
              <a:t>Looking after yourself is part of looking after your family.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84099"/>
          </a:solidFill>
          <a:ln>
            <a:noFill/>
          </a:ln>
        </p:spPr>
        <p:txBody>
          <a:bodyPr rtlCol="0" anchor="ctr"/>
          <a:lstStyle/>
          <a:p>
            <a:pPr algn="ctr"/>
          </a:p>
        </p:txBody>
      </p:sp>
      <p:sp>
        <p:nvSpPr>
          <p:cNvPr id="3" name="Oval 2"/>
          <p:cNvSpPr/>
          <p:nvPr/>
        </p:nvSpPr>
        <p:spPr>
          <a:xfrm>
            <a:off x="9052560" y="4023360"/>
            <a:ext cx="4754880" cy="4754880"/>
          </a:xfrm>
          <a:prstGeom prst="ellipse">
            <a:avLst/>
          </a:prstGeom>
          <a:solidFill>
            <a:srgbClr val="6A52A8"/>
          </a:solidFill>
          <a:ln>
            <a:noFill/>
          </a:ln>
        </p:spPr>
        <p:txBody>
          <a:bodyPr rtlCol="0" anchor="ctr"/>
          <a:lstStyle/>
          <a:p>
            <a:pPr algn="ctr"/>
          </a:p>
        </p:txBody>
      </p:sp>
      <p:sp>
        <p:nvSpPr>
          <p:cNvPr id="4" name="Title"/>
          <p:cNvSpPr txBox="1"/>
          <p:nvPr/>
        </p:nvSpPr>
        <p:spPr>
          <a:xfrm>
            <a:off x="685800" y="457200"/>
            <a:ext cx="10789920" cy="777240"/>
          </a:xfrm>
          <a:prstGeom prst="rect">
            <a:avLst/>
          </a:prstGeom>
          <a:noFill/>
        </p:spPr>
        <p:txBody>
          <a:bodyPr wrap="square" lIns="0" rIns="0" tIns="0" bIns="0" anchor="t">
            <a:noAutofit/>
          </a:bodyPr>
          <a:lstStyle/>
          <a:p>
            <a:pPr algn="l" marL="0" indent="0">
              <a:lnSpc>
                <a:spcPct val="95000"/>
              </a:lnSpc>
              <a:spcBef>
                <a:spcPts val="0"/>
              </a:spcBef>
              <a:buNone/>
            </a:pPr>
            <a:r>
              <a:rPr lang="en-AU" sz="3600" b="0">
                <a:solidFill>
                  <a:srgbClr val="FFFFFF"/>
                </a:solidFill>
                <a:latin typeface="Arial Black"/>
                <a:ea typeface="Arial Black"/>
                <a:cs typeface="Arial Black"/>
              </a:rPr>
              <a:t>Let's share what works</a:t>
            </a:r>
          </a:p>
        </p:txBody>
      </p:sp>
      <p:sp>
        <p:nvSpPr>
          <p:cNvPr id="5" name="TextBox 4"/>
          <p:cNvSpPr txBox="1"/>
          <p:nvPr/>
        </p:nvSpPr>
        <p:spPr>
          <a:xfrm>
            <a:off x="685800" y="1371600"/>
            <a:ext cx="10241280" cy="822960"/>
          </a:xfrm>
          <a:prstGeom prst="rect">
            <a:avLst/>
          </a:prstGeom>
          <a:noFill/>
        </p:spPr>
        <p:txBody>
          <a:bodyPr wrap="square" lIns="0" rIns="0" tIns="0" bIns="0" anchor="t">
            <a:noAutofit/>
          </a:bodyPr>
          <a:lstStyle/>
          <a:p>
            <a:pPr algn="l" marL="0" indent="0">
              <a:lnSpc>
                <a:spcPct val="100000"/>
              </a:lnSpc>
              <a:spcBef>
                <a:spcPts val="0"/>
              </a:spcBef>
              <a:buNone/>
            </a:pPr>
            <a:r>
              <a:rPr lang="en-AU" sz="2000" b="1">
                <a:solidFill>
                  <a:srgbClr val="FFFFFF"/>
                </a:solidFill>
                <a:latin typeface="Arial"/>
                <a:ea typeface="Arial"/>
                <a:cs typeface="Arial"/>
              </a:rPr>
              <a:t>Families know a lot. Share one thing that works in your home.</a:t>
            </a:r>
          </a:p>
        </p:txBody>
      </p:sp>
      <p:sp>
        <p:nvSpPr>
          <p:cNvPr id="6" name="Oval 5"/>
          <p:cNvSpPr/>
          <p:nvPr/>
        </p:nvSpPr>
        <p:spPr>
          <a:xfrm>
            <a:off x="685800" y="2331720"/>
            <a:ext cx="384048" cy="384048"/>
          </a:xfrm>
          <a:prstGeom prst="ellipse">
            <a:avLst/>
          </a:prstGeom>
          <a:solidFill>
            <a:srgbClr val="584099"/>
          </a:solidFill>
          <a:ln w="15875">
            <a:solidFill>
              <a:srgbClr val="FFFFFF"/>
            </a:solidFill>
          </a:ln>
        </p:spPr>
        <p:txBody>
          <a:bodyPr rtlCol="0" anchor="ctr"/>
          <a:lstStyle/>
          <a:p>
            <a:pPr algn="ctr"/>
          </a:p>
        </p:txBody>
      </p:sp>
      <p:sp>
        <p:nvSpPr>
          <p:cNvPr id="7" name="TextBox 6"/>
          <p:cNvSpPr txBox="1"/>
          <p:nvPr/>
        </p:nvSpPr>
        <p:spPr>
          <a:xfrm>
            <a:off x="685800" y="2331720"/>
            <a:ext cx="384048" cy="384048"/>
          </a:xfrm>
          <a:prstGeom prst="rect">
            <a:avLst/>
          </a:prstGeom>
          <a:noFill/>
        </p:spPr>
        <p:txBody>
          <a:bodyPr wrap="square" lIns="0" rIns="0" tIns="0" bIns="0" anchor="ctr">
            <a:noAutofit/>
          </a:bodyPr>
          <a:lstStyle/>
          <a:p>
            <a:pPr algn="ctr" marL="0" indent="0">
              <a:lnSpc>
                <a:spcPct val="100000"/>
              </a:lnSpc>
              <a:spcBef>
                <a:spcPts val="0"/>
              </a:spcBef>
              <a:buNone/>
            </a:pPr>
            <a:r>
              <a:rPr lang="en-AU" sz="1300" b="1">
                <a:solidFill>
                  <a:srgbClr val="FFFFFF"/>
                </a:solidFill>
                <a:latin typeface="Arial"/>
                <a:ea typeface="Arial"/>
                <a:cs typeface="Arial"/>
              </a:rPr>
              <a:t>1</a:t>
            </a:r>
          </a:p>
        </p:txBody>
      </p:sp>
      <p:sp>
        <p:nvSpPr>
          <p:cNvPr id="8" name="TextBox 7"/>
          <p:cNvSpPr txBox="1"/>
          <p:nvPr/>
        </p:nvSpPr>
        <p:spPr>
          <a:xfrm>
            <a:off x="1280160" y="2286000"/>
            <a:ext cx="9509760" cy="548640"/>
          </a:xfrm>
          <a:prstGeom prst="rect">
            <a:avLst/>
          </a:prstGeom>
          <a:noFill/>
        </p:spPr>
        <p:txBody>
          <a:bodyPr wrap="square" lIns="0" rIns="0" tIns="0" bIns="0" anchor="ctr">
            <a:noAutofit/>
          </a:bodyPr>
          <a:lstStyle/>
          <a:p>
            <a:pPr algn="l" marL="0" indent="0">
              <a:lnSpc>
                <a:spcPct val="100000"/>
              </a:lnSpc>
              <a:spcBef>
                <a:spcPts val="0"/>
              </a:spcBef>
              <a:buNone/>
            </a:pPr>
            <a:r>
              <a:rPr lang="en-AU" sz="1800" b="0">
                <a:solidFill>
                  <a:srgbClr val="F1ECFA"/>
                </a:solidFill>
                <a:latin typeface="Arial"/>
                <a:ea typeface="Arial"/>
                <a:cs typeface="Arial"/>
              </a:rPr>
              <a:t>Mornings, after school, outings, bedtime, siblings or your own battery.</a:t>
            </a:r>
          </a:p>
        </p:txBody>
      </p:sp>
      <p:sp>
        <p:nvSpPr>
          <p:cNvPr id="9" name="Oval 8"/>
          <p:cNvSpPr/>
          <p:nvPr/>
        </p:nvSpPr>
        <p:spPr>
          <a:xfrm>
            <a:off x="685800" y="2990088"/>
            <a:ext cx="384048" cy="384048"/>
          </a:xfrm>
          <a:prstGeom prst="ellipse">
            <a:avLst/>
          </a:prstGeom>
          <a:solidFill>
            <a:srgbClr val="584099"/>
          </a:solidFill>
          <a:ln w="15875">
            <a:solidFill>
              <a:srgbClr val="FFFFFF"/>
            </a:solidFill>
          </a:ln>
        </p:spPr>
        <p:txBody>
          <a:bodyPr rtlCol="0" anchor="ctr"/>
          <a:lstStyle/>
          <a:p>
            <a:pPr algn="ctr"/>
          </a:p>
        </p:txBody>
      </p:sp>
      <p:sp>
        <p:nvSpPr>
          <p:cNvPr id="10" name="TextBox 9"/>
          <p:cNvSpPr txBox="1"/>
          <p:nvPr/>
        </p:nvSpPr>
        <p:spPr>
          <a:xfrm>
            <a:off x="685800" y="2990088"/>
            <a:ext cx="384048" cy="384048"/>
          </a:xfrm>
          <a:prstGeom prst="rect">
            <a:avLst/>
          </a:prstGeom>
          <a:noFill/>
        </p:spPr>
        <p:txBody>
          <a:bodyPr wrap="square" lIns="0" rIns="0" tIns="0" bIns="0" anchor="ctr">
            <a:noAutofit/>
          </a:bodyPr>
          <a:lstStyle/>
          <a:p>
            <a:pPr algn="ctr" marL="0" indent="0">
              <a:lnSpc>
                <a:spcPct val="100000"/>
              </a:lnSpc>
              <a:spcBef>
                <a:spcPts val="0"/>
              </a:spcBef>
              <a:buNone/>
            </a:pPr>
            <a:r>
              <a:rPr lang="en-AU" sz="1300" b="1">
                <a:solidFill>
                  <a:srgbClr val="FFFFFF"/>
                </a:solidFill>
                <a:latin typeface="Arial"/>
                <a:ea typeface="Arial"/>
                <a:cs typeface="Arial"/>
              </a:rPr>
              <a:t>2</a:t>
            </a:r>
          </a:p>
        </p:txBody>
      </p:sp>
      <p:sp>
        <p:nvSpPr>
          <p:cNvPr id="11" name="TextBox 10"/>
          <p:cNvSpPr txBox="1"/>
          <p:nvPr/>
        </p:nvSpPr>
        <p:spPr>
          <a:xfrm>
            <a:off x="1280160" y="2944368"/>
            <a:ext cx="9509760" cy="548640"/>
          </a:xfrm>
          <a:prstGeom prst="rect">
            <a:avLst/>
          </a:prstGeom>
          <a:noFill/>
        </p:spPr>
        <p:txBody>
          <a:bodyPr wrap="square" lIns="0" rIns="0" tIns="0" bIns="0" anchor="ctr">
            <a:noAutofit/>
          </a:bodyPr>
          <a:lstStyle/>
          <a:p>
            <a:pPr algn="l" marL="0" indent="0">
              <a:lnSpc>
                <a:spcPct val="100000"/>
              </a:lnSpc>
              <a:spcBef>
                <a:spcPts val="0"/>
              </a:spcBef>
              <a:buNone/>
            </a:pPr>
            <a:r>
              <a:rPr lang="en-AU" sz="1800" b="0">
                <a:solidFill>
                  <a:srgbClr val="F1ECFA"/>
                </a:solidFill>
                <a:latin typeface="Arial"/>
                <a:ea typeface="Arial"/>
                <a:cs typeface="Arial"/>
              </a:rPr>
              <a:t>Each person shares one idea with the table.</a:t>
            </a:r>
          </a:p>
        </p:txBody>
      </p:sp>
      <p:sp>
        <p:nvSpPr>
          <p:cNvPr id="12" name="Oval 11"/>
          <p:cNvSpPr/>
          <p:nvPr/>
        </p:nvSpPr>
        <p:spPr>
          <a:xfrm>
            <a:off x="685800" y="3648456"/>
            <a:ext cx="384048" cy="384048"/>
          </a:xfrm>
          <a:prstGeom prst="ellipse">
            <a:avLst/>
          </a:prstGeom>
          <a:solidFill>
            <a:srgbClr val="584099"/>
          </a:solidFill>
          <a:ln w="15875">
            <a:solidFill>
              <a:srgbClr val="FFFFFF"/>
            </a:solidFill>
          </a:ln>
        </p:spPr>
        <p:txBody>
          <a:bodyPr rtlCol="0" anchor="ctr"/>
          <a:lstStyle/>
          <a:p>
            <a:pPr algn="ctr"/>
          </a:p>
        </p:txBody>
      </p:sp>
      <p:sp>
        <p:nvSpPr>
          <p:cNvPr id="13" name="TextBox 12"/>
          <p:cNvSpPr txBox="1"/>
          <p:nvPr/>
        </p:nvSpPr>
        <p:spPr>
          <a:xfrm>
            <a:off x="685800" y="3648456"/>
            <a:ext cx="384048" cy="384048"/>
          </a:xfrm>
          <a:prstGeom prst="rect">
            <a:avLst/>
          </a:prstGeom>
          <a:noFill/>
        </p:spPr>
        <p:txBody>
          <a:bodyPr wrap="square" lIns="0" rIns="0" tIns="0" bIns="0" anchor="ctr">
            <a:noAutofit/>
          </a:bodyPr>
          <a:lstStyle/>
          <a:p>
            <a:pPr algn="ctr" marL="0" indent="0">
              <a:lnSpc>
                <a:spcPct val="100000"/>
              </a:lnSpc>
              <a:spcBef>
                <a:spcPts val="0"/>
              </a:spcBef>
              <a:buNone/>
            </a:pPr>
            <a:r>
              <a:rPr lang="en-AU" sz="1300" b="1">
                <a:solidFill>
                  <a:srgbClr val="FFFFFF"/>
                </a:solidFill>
                <a:latin typeface="Arial"/>
                <a:ea typeface="Arial"/>
                <a:cs typeface="Arial"/>
              </a:rPr>
              <a:t>3</a:t>
            </a:r>
          </a:p>
        </p:txBody>
      </p:sp>
      <p:sp>
        <p:nvSpPr>
          <p:cNvPr id="14" name="TextBox 13"/>
          <p:cNvSpPr txBox="1"/>
          <p:nvPr/>
        </p:nvSpPr>
        <p:spPr>
          <a:xfrm>
            <a:off x="1280160" y="3602736"/>
            <a:ext cx="9509760" cy="548640"/>
          </a:xfrm>
          <a:prstGeom prst="rect">
            <a:avLst/>
          </a:prstGeom>
          <a:noFill/>
        </p:spPr>
        <p:txBody>
          <a:bodyPr wrap="square" lIns="0" rIns="0" tIns="0" bIns="0" anchor="ctr">
            <a:noAutofit/>
          </a:bodyPr>
          <a:lstStyle/>
          <a:p>
            <a:pPr algn="l" marL="0" indent="0">
              <a:lnSpc>
                <a:spcPct val="100000"/>
              </a:lnSpc>
              <a:spcBef>
                <a:spcPts val="0"/>
              </a:spcBef>
              <a:buNone/>
            </a:pPr>
            <a:r>
              <a:rPr lang="en-AU" sz="1800" b="0">
                <a:solidFill>
                  <a:srgbClr val="F1ECFA"/>
                </a:solidFill>
                <a:latin typeface="Arial"/>
                <a:ea typeface="Arial"/>
                <a:cs typeface="Arial"/>
              </a:rPr>
              <a:t>Write down one idea you would like to try.</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75DF672D9920B44888613C845FEE28C" ma:contentTypeVersion="13" ma:contentTypeDescription="Create a new document." ma:contentTypeScope="" ma:versionID="f74e0793e4bbea6511fcde495954d792">
  <xsd:schema xmlns:xsd="http://www.w3.org/2001/XMLSchema" xmlns:xs="http://www.w3.org/2001/XMLSchema" xmlns:p="http://schemas.microsoft.com/office/2006/metadata/properties" xmlns:ns2="f0bb3e21-4545-485a-b693-7e527aa5b0a1" xmlns:ns3="27f1137f-2ca6-4fef-8072-b9e4ddf9f88d" targetNamespace="http://schemas.microsoft.com/office/2006/metadata/properties" ma:root="true" ma:fieldsID="83fb0c578da1c893ab66577103c670f4" ns2:_="" ns3:_="">
    <xsd:import namespace="f0bb3e21-4545-485a-b693-7e527aa5b0a1"/>
    <xsd:import namespace="27f1137f-2ca6-4fef-8072-b9e4ddf9f8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bb3e21-4545-485a-b693-7e527aa5b0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0234d0ea-ced3-483a-ade0-71e1f4ad427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7f1137f-2ca6-4fef-8072-b9e4ddf9f88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5baa329-1694-49a7-99b3-a1d2375b9e3c}" ma:internalName="TaxCatchAll" ma:showField="CatchAllData" ma:web="27f1137f-2ca6-4fef-8072-b9e4ddf9f8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0bb3e21-4545-485a-b693-7e527aa5b0a1">
      <Terms xmlns="http://schemas.microsoft.com/office/infopath/2007/PartnerControls"/>
    </lcf76f155ced4ddcb4097134ff3c332f>
    <TaxCatchAll xmlns="27f1137f-2ca6-4fef-8072-b9e4ddf9f88d" xsi:nil="true"/>
  </documentManagement>
</p:properties>
</file>

<file path=customXml/itemProps1.xml><?xml version="1.0" encoding="utf-8"?>
<ds:datastoreItem xmlns:ds="http://schemas.openxmlformats.org/officeDocument/2006/customXml" ds:itemID="{959C572B-12B9-405D-919C-282FBDEA53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bb3e21-4545-485a-b693-7e527aa5b0a1"/>
    <ds:schemaRef ds:uri="27f1137f-2ca6-4fef-8072-b9e4ddf9f88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5D5665E-583E-409D-BD0B-29BD6D9F229F}">
  <ds:schemaRefs>
    <ds:schemaRef ds:uri="http://schemas.microsoft.com/sharepoint/v3/contenttype/forms"/>
  </ds:schemaRefs>
</ds:datastoreItem>
</file>

<file path=customXml/itemProps3.xml><?xml version="1.0" encoding="utf-8"?>
<ds:datastoreItem xmlns:ds="http://schemas.openxmlformats.org/officeDocument/2006/customXml" ds:itemID="{46F42DEE-BB42-49AB-911B-9E6CEDB35B14}">
  <ds:schemaRefs>
    <ds:schemaRef ds:uri="http://schemas.microsoft.com/office/2006/metadata/properties"/>
    <ds:schemaRef ds:uri="http://schemas.microsoft.com/office/infopath/2007/PartnerControls"/>
    <ds:schemaRef ds:uri="f0bb3e21-4545-485a-b693-7e527aa5b0a1"/>
    <ds:schemaRef ds:uri="27f1137f-2ca6-4fef-8072-b9e4ddf9f88d"/>
  </ds:schemaRefs>
</ds:datastoreItem>
</file>

<file path=docProps/app.xml><?xml version="1.0" encoding="utf-8"?>
<Properties xmlns="http://schemas.openxmlformats.org/officeDocument/2006/extended-properties" xmlns:vt="http://schemas.openxmlformats.org/officeDocument/2006/docPropsVTypes">
  <TotalTime>247</TotalTime>
  <Words>2427</Words>
  <Application>Microsoft Macintosh PowerPoint</Application>
  <PresentationFormat>Widescreen</PresentationFormat>
  <Paragraphs>261</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Aptos Display</vt:lpstr>
      <vt:lpstr>Arial</vt:lpstr>
      <vt:lpstr>Arial Black</vt:lpstr>
      <vt:lpstr>Calibri</vt:lpstr>
      <vt:lpstr>Work Sans</vt:lpstr>
      <vt:lpstr>Office Theme</vt:lpstr>
      <vt:lpstr>PowerPoint Presentation</vt:lpstr>
      <vt:lpstr>PowerPoint Presentation</vt:lpstr>
      <vt:lpstr>PowerPoint Presentation</vt:lpstr>
      <vt:lpstr>Start · Continue · Reconsider</vt:lpstr>
      <vt:lpstr>PowerPoint Presentation</vt:lpstr>
      <vt:lpstr>PowerPoint Presentation</vt:lpstr>
      <vt:lpstr>Final reflection</vt:lpstr>
      <vt:lpstr>Connections that continue</vt:lpstr>
      <vt:lpstr>PowerPoint Presentation</vt:lpstr>
      <vt:lpst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Alison Macrae</dc:creator>
  <cp:lastModifiedBy>Craig Smith</cp:lastModifiedBy>
  <cp:revision>16</cp:revision>
  <dcterms:created xsi:type="dcterms:W3CDTF">2026-08-14T00:15:56Z</dcterms:created>
  <dcterms:modified xsi:type="dcterms:W3CDTF">2026-09-25T06:46:12Z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0x010100C75DF672D9920B44888613C845FEE28C</vt:lpwstr>
  </property>
  <property fmtid="{D5CDD505-2E9C-101B-9397-08002B2CF9AE}" pid="3" name="MediaServiceImageTags">
    <vt:lpwstr/>
  </property>
</Properties>
</file>