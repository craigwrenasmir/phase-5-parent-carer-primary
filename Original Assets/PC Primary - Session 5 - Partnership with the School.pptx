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s/modernComment_346_3E00D4D8.xml" ContentType="application/vnd.ms-powerpoint.comments+xml"/>
  <Override PartName="/ppt/comments/modernComment_34C_A86DA66C.xml" ContentType="application/vnd.ms-powerpoint.comments+xml"/>
  <Override PartName="/ppt/media/image2.svg" ContentType="image/svg+xml"/>
  <Override PartName="/ppt/media/image4.svg" ContentType="image/svg+xml"/>
  <Override PartName="/ppt/media/image6.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sldIdLst>
    <p:sldId id="825" r:id="rId5"/>
    <p:sldId id="838" r:id="rId6"/>
    <p:sldId id="837" r:id="rId7"/>
    <p:sldId id="844" r:id="rId8"/>
    <p:sldId id="267" r:id="rId9"/>
    <p:sldId id="849" r:id="rId10"/>
    <p:sldId id="845" r:id="rId11"/>
    <p:sldId id="842" r:id="rId13"/>
    <p:sldId id="851" r:id="rId15"/>
    <p:sldId id="572" r:id="rId18"/>
    <p:sldId id="847" r:id="rId19"/>
    <p:sldId id="358" r:id="rId20"/>
    <p:sldId id="85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DEC358-9AF5-9F80-E7CA-D932E5596AC8}" name="Alison Macrae" initials="AM" userId="S::amacrae@autismspectrum.org.au::6553da1e-2f05-4f27-a7df-76a06554bf9d" providerId="AD"/>
  <p188:author id="{7C3F8D6F-1DEE-6615-6CEF-2DFCB510BACA}" name="Nicole Torres" initials="NT" userId="S::ntorres@autismcrc.com.au::0026055d-e81a-4ac9-a7f9-7ac97c409d29"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7"/>
    <p:restoredTop sz="94678"/>
  </p:normalViewPr>
  <p:slideViewPr>
    <p:cSldViewPr snapToGrid="0">
      <p:cViewPr varScale="1">
        <p:scale>
          <a:sx n="117" d="100"/>
          <a:sy n="117" d="100"/>
        </p:scale>
        <p:origin x="4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3" Type="http://schemas.openxmlformats.org/officeDocument/2006/relationships/slide" Target="slides/slide9.xml"/><Relationship Id="rId15"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microsoft.com/office/2016/11/relationships/changesInfo" Target="changesInfos/changesInfo1.xml"/><Relationship Id="rId28"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Cousins" userId="S::jcousins@autismspectrum.org.au::e5107725-ce0a-4006-bfb3-3787c68d621c" providerId="AD" clId="Web-{00000000-0000-0000-0000-000000000000}"/>
    <pc:docChg chg="modSld">
      <pc:chgData name="Jen Cousins" userId="S::jcousins@autismspectrum.org.au::e5107725-ce0a-4006-bfb3-3787c68d621c" providerId="AD" clId="Web-{00000000-0000-0000-0000-000000000000}" dt="2026-08-25T01:14:04.942" v="11" actId="1076"/>
      <pc:docMkLst>
        <pc:docMk/>
      </pc:docMkLst>
      <pc:sldChg chg="addSp delSp modSp">
        <pc:chgData name="Jen Cousins" userId="S::jcousins@autismspectrum.org.au::e5107725-ce0a-4006-bfb3-3787c68d621c" providerId="AD" clId="Web-{00000000-0000-0000-0000-000000000000}" dt="2026-08-25T01:14:04.942" v="11" actId="1076"/>
        <pc:sldMkLst>
          <pc:docMk/>
          <pc:sldMk cId="3674033657" sldId="847"/>
        </pc:sldMkLst>
        <pc:spChg chg="mod">
          <ac:chgData name="Jen Cousins" userId="S::jcousins@autismspectrum.org.au::e5107725-ce0a-4006-bfb3-3787c68d621c" providerId="AD" clId="Web-{00000000-0000-0000-0000-000000000000}" dt="2026-08-25T01:14:04.942" v="11" actId="1076"/>
          <ac:spMkLst>
            <pc:docMk/>
            <pc:sldMk cId="3674033657" sldId="847"/>
            <ac:spMk id="2" creationId="{6BFC9AB3-31EC-27A9-8206-7C0BE658E8B7}"/>
          </ac:spMkLst>
        </pc:spChg>
        <pc:picChg chg="add mod ord">
          <ac:chgData name="Jen Cousins" userId="S::jcousins@autismspectrum.org.au::e5107725-ce0a-4006-bfb3-3787c68d621c" providerId="AD" clId="Web-{00000000-0000-0000-0000-000000000000}" dt="2026-08-25T01:13:48.894" v="9"/>
          <ac:picMkLst>
            <pc:docMk/>
            <pc:sldMk cId="3674033657" sldId="847"/>
            <ac:picMk id="4" creationId="{A5C575AF-C7D4-085E-94F7-3A72A52D6DAC}"/>
          </ac:picMkLst>
        </pc:picChg>
        <pc:picChg chg="add mod">
          <ac:chgData name="Jen Cousins" userId="S::jcousins@autismspectrum.org.au::e5107725-ce0a-4006-bfb3-3787c68d621c" providerId="AD" clId="Web-{00000000-0000-0000-0000-000000000000}" dt="2026-08-25T01:13:54.207" v="10"/>
          <ac:picMkLst>
            <pc:docMk/>
            <pc:sldMk cId="3674033657" sldId="847"/>
            <ac:picMk id="5" creationId="{C27A36B8-FF2A-0D74-971A-0E4E85BADCA9}"/>
          </ac:picMkLst>
        </pc:picChg>
      </pc:sldChg>
    </pc:docChg>
  </pc:docChgLst>
</pc:chgInfo>
</file>

<file path=ppt/comments/modernComment_34C_A86DA66C.xml><?xml version="1.0" encoding="utf-8"?>
<p188:cmLst xmlns:a="http://schemas.openxmlformats.org/drawingml/2006/main" xmlns:r="http://schemas.openxmlformats.org/officeDocument/2006/relationships" xmlns:p188="http://schemas.microsoft.com/office/powerpoint/2018/8/main">
  <p188:cm id="{C807BA1F-ACAC-4181-AB02-C252BC20F6B1}" authorId="{94DEC358-9AF5-9F80-E7CA-D932E5596AC8}" created="2026-08-14T00:28:52.242">
    <ac:txMkLst xmlns:ac="http://schemas.microsoft.com/office/drawing/2013/main/command">
      <pc:docMk xmlns:pc="http://schemas.microsoft.com/office/powerpoint/2013/main/command"/>
      <pc:sldMk xmlns:pc="http://schemas.microsoft.com/office/powerpoint/2013/main/command" cId="2825758316" sldId="844"/>
      <ac:spMk id="4" creationId="{E3FD5D71-F8F8-00AA-C427-EBCCF0660E1C}"/>
      <ac:txMk cp="125" len="18">
        <ac:context len="144" hash="841651859"/>
      </ac:txMk>
    </ac:txMkLst>
    <p188:pos x="2824455" y="3280648"/>
    <p188:txBody>
      <a:bodyPr/>
      <a:lstStyle/>
      <a:p>
        <a:r>
          <a:rPr lang="en-AU"/>
          <a:t>Added this one in as it lands well with all parties and shifts perpectives</a:t>
        </a:r>
      </a:p>
    </p188:txBody>
  </p188:cm>
</p188:cmLst>
</file>

<file path=ppt/comments/modernComment_346_3E00D4D8.xml><?xml version="1.0" encoding="utf-8"?>
<p188:cmLst xmlns:a="http://schemas.openxmlformats.org/drawingml/2006/main" xmlns:r="http://schemas.openxmlformats.org/officeDocument/2006/relationships" xmlns:p188="http://schemas.microsoft.com/office/powerpoint/2018/8/main">
  <p188:cm id="{9A2E3823-3A5D-4D7E-8175-8FFB0A015633}" authorId="{94DEC358-9AF5-9F80-E7CA-D932E5596AC8}" created="2026-08-14T00:36:04.317">
    <ac:txMkLst xmlns:ac="http://schemas.microsoft.com/office/drawing/2013/main/command">
      <pc:docMk xmlns:pc="http://schemas.microsoft.com/office/powerpoint/2013/main/command"/>
      <pc:sldMk xmlns:pc="http://schemas.microsoft.com/office/powerpoint/2013/main/command" cId="1040241880" sldId="838"/>
      <ac:spMk id="5" creationId="{05A4E05F-DA50-6B99-BED1-648587EBB414}"/>
      <ac:txMk cp="0" len="23">
        <ac:context len="24" hash="2699318344"/>
      </ac:txMk>
    </ac:txMkLst>
    <p188:pos x="5065408" y="428754"/>
    <p188:txBody>
      <a:bodyPr/>
      <a:lstStyle/>
      <a:p>
        <a:r>
          <a:rPr lang="en-AU"/>
          <a:t>As this session time is so limited we discussed that we could use it as an opportunity to see where all the partnerships converge and what skills are needed for success across all partnerships.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0717EB-867A-43D8-909C-6209D0EC13B1}" type="datetimeFigureOut">
              <a:rPr lang="en-AU" smtClean="0"/>
              <a:t>25/9/2026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787F1C-BD57-478D-B104-476A213D31F6}" type="slidenum">
              <a:rPr lang="en-AU" smtClean="0"/>
              <a:t>‹#›</a:t>
            </a:fld>
            <a:endParaRPr lang="en-AU"/>
          </a:p>
        </p:txBody>
      </p:sp>
    </p:spTree>
    <p:extLst>
      <p:ext uri="{BB962C8B-B14F-4D97-AF65-F5344CB8AC3E}">
        <p14:creationId xmlns:p14="http://schemas.microsoft.com/office/powerpoint/2010/main" val="394869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415D5-975D-AAB4-61E3-8C9E34FEE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064F2A-E44E-4565-7BE3-523A659D33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80E6984-A62A-9228-E4A6-3370605E1658}"/>
              </a:ext>
            </a:extLst>
          </p:cNvPr>
          <p:cNvSpPr>
            <a:spLocks noGrp="1"/>
          </p:cNvSpPr>
          <p:nvPr>
            <p:ph type="body" idx="1"/>
          </p:nvPr>
        </p:nvSpPr>
        <p:spPr/>
        <p:txBody>
          <a:bodyPr/>
          <a:lstStyle/>
          <a:p>
            <a:r>
              <a:t>SUGGESTED TIME: 1 min  ·  1:30 - 1:31</a:t>
            </a:r>
          </a:p>
          <a:p/>
          <a:p>
            <a:r>
              <a:t>PURPOSE</a:t>
            </a:r>
          </a:p>
          <a:p>
            <a:r>
              <a:t>Open the partnership session and connect it to what families have noticed at home.</a:t>
            </a:r>
          </a:p>
          <a:p/>
          <a:p>
            <a:r>
              <a:t>WHAT TO DO</a:t>
            </a:r>
          </a:p>
          <a:p>
            <a:r>
              <a:t>1. Name the shift from what happens at home to how home and school can understand and act together.</a:t>
            </a:r>
          </a:p>
          <a:p>
            <a:r>
              <a:t>2. Ask participants to keep in mind one thing they noticed at home in Session 4 that school might need to know.</a:t>
            </a:r>
          </a:p>
          <a:p>
            <a:r>
              <a:t>3. Keep the child at the centre of the conversation.</a:t>
            </a:r>
          </a:p>
          <a:p>
            <a:r>
              <a:t>4. Acknowledge that participants will bring very different school experiences, some helpful and some difficult.</a:t>
            </a:r>
          </a:p>
          <a:p>
            <a:r>
              <a:t>5. Remind the room that sharing is voluntary, and that schools and staff are not named in the whole group.</a:t>
            </a:r>
          </a:p>
          <a:p/>
          <a:p>
            <a:r>
              <a:t>KEY MESSAGES</a:t>
            </a:r>
          </a:p>
          <a:p>
            <a:r>
              <a:t>• Partnership is part of understanding and supporting your child, from the start.</a:t>
            </a:r>
          </a:p>
          <a:p>
            <a:r>
              <a:t>• Your child, your family and the school may each hold different parts of the picture.</a:t>
            </a:r>
          </a:p>
          <a:p/>
          <a:p>
            <a:r>
              <a:t>KEEP IN MIND</a:t>
            </a:r>
          </a:p>
          <a:p>
            <a:r>
              <a:t>• Some families are in a very hard place with their school right now. Acknowledge this without inviting detailed accounts in the whole group.</a:t>
            </a:r>
          </a:p>
          <a:p/>
          <a:p>
            <a:r>
              <a:t>THREAD</a:t>
            </a:r>
          </a:p>
          <a:p>
            <a:r>
              <a:t>Picks up what participants noticed at home in Session 4 (Home and Community).</a:t>
            </a:r>
          </a:p>
        </p:txBody>
      </p:sp>
    </p:spTree>
    <p:extLst>
      <p:ext uri="{BB962C8B-B14F-4D97-AF65-F5344CB8AC3E}">
        <p14:creationId xmlns:p14="http://schemas.microsoft.com/office/powerpoint/2010/main" val="2352718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0514-B7A9-244F-E9C3-6641E7CE1C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29B0-DEB4-33F4-23E2-C94EB8AF4F3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24A3766-8288-AB86-A0F3-6B3E19660DC1}"/>
              </a:ext>
            </a:extLst>
          </p:cNvPr>
          <p:cNvSpPr>
            <a:spLocks noGrp="1"/>
          </p:cNvSpPr>
          <p:nvPr>
            <p:ph type="body" idx="1"/>
          </p:nvPr>
        </p:nvSpPr>
        <p:spPr/>
        <p:txBody>
          <a:bodyPr/>
          <a:lstStyle/>
          <a:p>
            <a:r>
              <a:t>SUGGESTED TIME: 3 min  ·  1:31 - 1:34</a:t>
            </a:r>
          </a:p>
          <a:p/>
          <a:p>
            <a:r>
              <a:t>PURPOSE</a:t>
            </a:r>
          </a:p>
          <a:p>
            <a:r>
              <a:t>Show where the partnerships around a child intersect, with the child at the centre of every one.</a:t>
            </a:r>
          </a:p>
          <a:p/>
          <a:p>
            <a:r>
              <a:t>WHAT TO DO</a:t>
            </a:r>
          </a:p>
          <a:p>
            <a:r>
              <a:t>1. Introduce the diagram: family, school staff and support staff, with your child at the centre where they overlap.</a:t>
            </a:r>
          </a:p>
          <a:p>
            <a:r>
              <a:t>2. Explain that every partner brings different knowledge and a different relationship with your child and with each other.</a:t>
            </a:r>
          </a:p>
          <a:p>
            <a:r>
              <a:t>3. Ask the group: What is the goal of these intersecting partnerships?</a:t>
            </a:r>
          </a:p>
          <a:p>
            <a:r>
              <a:t>4. Steer the discussion so the point is made that the child is at the centre of every partnership.</a:t>
            </a:r>
          </a:p>
          <a:p>
            <a:r>
              <a:t>5. Ask who else might be part of the picture for their child, such as a therapist, grandparent or out-of-school-hours carer, and how the child's own communication can be included.</a:t>
            </a:r>
          </a:p>
          <a:p/>
          <a:p>
            <a:r>
              <a:t>YOU MIGHT SAY</a:t>
            </a:r>
          </a:p>
          <a:p>
            <a:r>
              <a:t>What is the goal of these intersecting partnerships?</a:t>
            </a:r>
          </a:p>
          <a:p/>
          <a:p>
            <a:r>
              <a:t>KEY MESSAGES</a:t>
            </a:r>
          </a:p>
          <a:p>
            <a:r>
              <a:t>• Positive partnership keeps your child at the centre.</a:t>
            </a:r>
          </a:p>
          <a:p>
            <a:r>
              <a:t>• No single person holds the complete picture.</a:t>
            </a:r>
          </a:p>
          <a:p>
            <a:r>
              <a:t>• Parents and carers bring knowledge of their child that no one else has.</a:t>
            </a:r>
          </a:p>
          <a:p/>
          <a:p>
            <a:r>
              <a:t>KEEP IN MIND</a:t>
            </a:r>
          </a:p>
          <a:p>
            <a:r>
              <a:t>• Use the diagram as a discussion prompt rather than a complete definition.</a:t>
            </a:r>
          </a:p>
          <a:p/>
          <a:p>
            <a:r>
              <a:t>THREAD</a:t>
            </a:r>
          </a:p>
          <a:p>
            <a:r>
              <a:t>Draws on 'You are the expert on your child' from Session 1.</a:t>
            </a:r>
          </a:p>
        </p:txBody>
      </p:sp>
    </p:spTree>
    <p:extLst>
      <p:ext uri="{BB962C8B-B14F-4D97-AF65-F5344CB8AC3E}">
        <p14:creationId xmlns:p14="http://schemas.microsoft.com/office/powerpoint/2010/main" val="3560356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CE5DD-51EB-13D7-5DF1-F889E88BD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4F24-86BD-4576-581B-BC41153FEE9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643188E-3CDD-D9D9-6BC4-F2EC317559F4}"/>
              </a:ext>
            </a:extLst>
          </p:cNvPr>
          <p:cNvSpPr>
            <a:spLocks noGrp="1"/>
          </p:cNvSpPr>
          <p:nvPr>
            <p:ph type="body" idx="1"/>
          </p:nvPr>
        </p:nvSpPr>
        <p:spPr/>
        <p:txBody>
          <a:bodyPr/>
          <a:lstStyle/>
          <a:p>
            <a:r>
              <a:t>SUGGESTED TIME: 2 min  ·  1:34 - 1:36</a:t>
            </a:r>
          </a:p>
          <a:p/>
          <a:p>
            <a:r>
              <a:t>PURPOSE</a:t>
            </a:r>
          </a:p>
          <a:p>
            <a:r>
              <a:t>Use the Family-School Partnerships Framework principles to show what families can expect a partnership to look like.</a:t>
            </a:r>
          </a:p>
          <a:p/>
          <a:p>
            <a:r>
              <a:t>WHAT TO DO</a:t>
            </a:r>
          </a:p>
          <a:p>
            <a:r>
              <a:t>1. Walk through the six Framework principles briefly.</a:t>
            </a:r>
          </a:p>
          <a:p>
            <a:r>
              <a:t>2. Draw attention to the first principle: parents and families are the first and continuing educators of their children.</a:t>
            </a:r>
          </a:p>
          <a:p>
            <a:r>
              <a:t>3. Position family knowledge and school knowledge as different, useful perspectives.</a:t>
            </a:r>
          </a:p>
          <a:p>
            <a:r>
              <a:t>4. Name what partnership looks like in practice: a shared purpose, respectful listening, your child's voice, clear information, and agreed next steps with follow-up.</a:t>
            </a:r>
          </a:p>
          <a:p/>
          <a:p>
            <a:r>
              <a:t>KEY MESSAGES</a:t>
            </a:r>
          </a:p>
          <a:p>
            <a:r>
              <a:t>• Your knowledge of your child and the school's knowledge are both needed from the beginning.</a:t>
            </a:r>
          </a:p>
          <a:p>
            <a:r>
              <a:t>• Listening, clarity and shared next steps are things you can look for in practice.</a:t>
            </a:r>
          </a:p>
          <a:p/>
          <a:p>
            <a:r>
              <a:t>KEEP IN MIND</a:t>
            </a:r>
          </a:p>
          <a:p>
            <a:r>
              <a:t>• Avoid implying that agreement is needed before listening or respect are possible.</a:t>
            </a:r>
          </a:p>
          <a:p/>
          <a:p>
            <a:r>
              <a:t>RESOURCES</a:t>
            </a:r>
          </a:p>
          <a:p>
            <a:r>
              <a:t>Family-School Partnerships Framework - Department of Education, Australian Government - https://www.education.gov.au/supporting-family-school-community-partnerships-learning/family-school-partnerships/family-school-partnerships-framework</a:t>
            </a:r>
          </a:p>
        </p:txBody>
      </p:sp>
    </p:spTree>
    <p:extLst>
      <p:ext uri="{BB962C8B-B14F-4D97-AF65-F5344CB8AC3E}">
        <p14:creationId xmlns:p14="http://schemas.microsoft.com/office/powerpoint/2010/main" val="771131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3 min  ·  1:36 - 1:39</a:t>
            </a:r>
          </a:p>
          <a:p/>
          <a:p>
            <a:r>
              <a:t>PURPOSE</a:t>
            </a:r>
          </a:p>
          <a:p>
            <a:r>
              <a:t>Name the collaboration principles that strong partnerships share, whoever is at the table.</a:t>
            </a:r>
          </a:p>
          <a:p/>
          <a:p>
            <a:r>
              <a:t>WHAT TO DO</a:t>
            </a:r>
          </a:p>
          <a:p>
            <a:r>
              <a:t>1. Introduce why collaboration matters: for an Autistic child there are many people and many points where home and school need to work together.</a:t>
            </a:r>
          </a:p>
          <a:p>
            <a:r>
              <a:t>2. Explain that the key collaboration principles are the same across every partnership around your child.</a:t>
            </a:r>
          </a:p>
          <a:p>
            <a:r>
              <a:t>3. Ask the group: What are some of the key principles for effective collaboration?</a:t>
            </a:r>
          </a:p>
          <a:p>
            <a:r>
              <a:t>4. Build the discussion to cover: shared goals, shared values, mutual trust and respect, consulting on decision-making, seeing other perspectives, inviting curiosity, centring your child's voice and assuming good intent.</a:t>
            </a:r>
          </a:p>
          <a:p>
            <a:r>
              <a:t>5. Click to reveal the points on the slide once the room has contributed.</a:t>
            </a:r>
          </a:p>
          <a:p/>
          <a:p>
            <a:r>
              <a:t>YOU MIGHT SAY</a:t>
            </a:r>
          </a:p>
          <a:p>
            <a:r>
              <a:t>What are some of the key principles for effective collaboration?</a:t>
            </a:r>
          </a:p>
          <a:p>
            <a:r>
              <a:t>How could we work together so school goes well for my child?</a:t>
            </a:r>
          </a:p>
          <a:p/>
          <a:p>
            <a:r>
              <a:t>KEY MESSAGES</a:t>
            </a:r>
          </a:p>
          <a:p>
            <a:r>
              <a:t>• The same principles apply in every partnership around your child.</a:t>
            </a:r>
          </a:p>
          <a:p>
            <a:r>
              <a:t>• Assuming good intent and staying curious can help, even when a conversation is hard.</a:t>
            </a:r>
          </a:p>
          <a:p/>
          <a:p>
            <a:r>
              <a:t>KEEP IN MIND</a:t>
            </a:r>
          </a:p>
          <a:p>
            <a:r>
              <a:t>• 'Assume good intent' can be hard to hear for families who have had poor experiences. Acknowledge that trust is built on both sides and is not the family's job alone.</a:t>
            </a:r>
          </a:p>
        </p:txBody>
      </p:sp>
    </p:spTree>
    <p:extLst>
      <p:ext uri="{BB962C8B-B14F-4D97-AF65-F5344CB8AC3E}">
        <p14:creationId xmlns:p14="http://schemas.microsoft.com/office/powerpoint/2010/main" val="1259099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3 min  ·  1:39 - 1:42</a:t>
            </a:r>
          </a:p>
          <a:p/>
          <a:p>
            <a:r>
              <a:t>PURPOSE</a:t>
            </a:r>
          </a:p>
          <a:p>
            <a:r>
              <a:t>Help participants notice how agendas, language, authority and decision-making can shape a school conversation.</a:t>
            </a:r>
          </a:p>
          <a:p/>
          <a:p>
            <a:r>
              <a:t>WHAT TO DO</a:t>
            </a:r>
          </a:p>
          <a:p>
            <a:r>
              <a:t>1. Introduce the seesaw: school, home and your child.</a:t>
            </a:r>
          </a:p>
          <a:p>
            <a:r>
              <a:t>2. Name where power can sit: socio-economic status, historical and cultural experiences of education, speaking English or another language, how school works (teaching approaches, school systems and curriculum), and how important school is seen to be.</a:t>
            </a:r>
          </a:p>
          <a:p>
            <a:r>
              <a:t>3. Ask the power questions below to look at how meetings work, not to blame anyone.</a:t>
            </a:r>
          </a:p>
          <a:p>
            <a:r>
              <a:t>4. Invite participants to think about where school language, timing or process has made it harder for them to take part.</a:t>
            </a:r>
          </a:p>
          <a:p/>
          <a:p>
            <a:r>
              <a:t>YOU MIGHT SAY</a:t>
            </a:r>
          </a:p>
          <a:p>
            <a:r>
              <a:t>Who sets the agenda?</a:t>
            </a:r>
          </a:p>
          <a:p>
            <a:r>
              <a:t>Whose knowledge is heard?</a:t>
            </a:r>
          </a:p>
          <a:p>
            <a:r>
              <a:t>Who can make decisions?</a:t>
            </a:r>
          </a:p>
          <a:p>
            <a:r>
              <a:t>Is your child included in a way that works for them?</a:t>
            </a:r>
          </a:p>
          <a:p>
            <a:r>
              <a:t>What could change about the process?</a:t>
            </a:r>
          </a:p>
          <a:p/>
          <a:p>
            <a:r>
              <a:t>KEY MESSAGES</a:t>
            </a:r>
          </a:p>
          <a:p>
            <a:r>
              <a:t>• Power sits in meeting structures, language and decision pathways, as well as in people.</a:t>
            </a:r>
          </a:p>
          <a:p>
            <a:r>
              <a:t>• Naming an imbalance can help you plan for a more balanced conversation.</a:t>
            </a:r>
          </a:p>
          <a:p/>
          <a:p>
            <a:r>
              <a:t>KEEP IN MIND</a:t>
            </a:r>
          </a:p>
          <a:p>
            <a:r>
              <a:t>• Keep sharing voluntary and avoid detailed complaints about identifiable schools or staff in the whole group.</a:t>
            </a:r>
          </a:p>
        </p:txBody>
      </p:sp>
      <p:sp>
        <p:nvSpPr>
          <p:cNvPr id="5" name="Date Placeholder 4"/>
          <p:cNvSpPr>
            <a:spLocks noGrp="1"/>
          </p:cNvSpPr>
          <p:nvPr>
            <p:ph type="dt" idx="11"/>
          </p:nvPr>
        </p:nvSpPr>
        <p:spPr/>
        <p:txBody>
          <a:bodyPr/>
          <a:lstStyle/>
          <a:p>
            <a:endParaRPr lang="en-AU"/>
          </a:p>
        </p:txBody>
      </p:sp>
    </p:spTree>
    <p:extLst>
      <p:ext uri="{BB962C8B-B14F-4D97-AF65-F5344CB8AC3E}">
        <p14:creationId xmlns:p14="http://schemas.microsoft.com/office/powerpoint/2010/main" val="3979636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1:42 - 1:48  ·  Workbook - Power dynamics</a:t>
            </a:r>
          </a:p>
          <a:p/>
          <a:p>
            <a:r>
              <a:t>PURPOSE</a:t>
            </a:r>
          </a:p>
          <a:p>
            <a:r>
              <a:t>Help participants reflect on real and perceived power imbalances in the home-school relationship, and look for ways to address them.</a:t>
            </a:r>
          </a:p>
          <a:p/>
          <a:p>
            <a:r>
              <a:t>WHAT TO DO</a:t>
            </a:r>
          </a:p>
          <a:p>
            <a:r>
              <a:t>1. Make sure every participant has sticky notes and a pen.</a:t>
            </a:r>
          </a:p>
          <a:p>
            <a:r>
              <a:t>2. Direct participants to the three instructions on the slide.</a:t>
            </a:r>
          </a:p>
          <a:p>
            <a:r>
              <a:t>3. Choose a sharing option that suits the room (see steps).</a:t>
            </a:r>
          </a:p>
          <a:p>
            <a:r>
              <a:t>4. Support tables to look for solutions rather than place blame.</a:t>
            </a:r>
          </a:p>
          <a:p>
            <a:r>
              <a:t>5. Take feedback from a few participants at the end.</a:t>
            </a:r>
          </a:p>
          <a:p/>
          <a:p>
            <a:r>
              <a:t>KEY MESSAGES</a:t>
            </a:r>
          </a:p>
          <a:p>
            <a:r>
              <a:t>• Power can be structural, historical, cultural, conscious and unconscious.</a:t>
            </a:r>
          </a:p>
          <a:p>
            <a:r>
              <a:t>• Status can be felt as an imbalance of power, regardless of anyone's intent.</a:t>
            </a:r>
          </a:p>
          <a:p/>
          <a:p>
            <a:r>
              <a:t>ACTIVITY: Sticky note reflection  ·  table groups  ·  6 minutes</a:t>
            </a:r>
          </a:p>
          <a:p>
            <a:r>
              <a:t>Prompt: Where do power imbalances sit in the home-school relationship, and how could they be addressed?</a:t>
            </a:r>
          </a:p>
          <a:p>
            <a:r>
              <a:t>1. On one sticky note, write an example of an imbalance in power dynamics from a home perspective.</a:t>
            </a:r>
          </a:p>
          <a:p>
            <a:r>
              <a:t>2. On a second, write an example from a school perspective.</a:t>
            </a:r>
          </a:p>
          <a:p>
            <a:r>
              <a:t>3. On a third, write how you could address these imbalances.</a:t>
            </a:r>
          </a:p>
          <a:p>
            <a:r>
              <a:t>4. Option 1: share your notes with your table.</a:t>
            </a:r>
          </a:p>
          <a:p>
            <a:r>
              <a:t>5. Option 2: add your notes to the butcher's paper on the wall under Home, School and Solutions.</a:t>
            </a:r>
          </a:p>
          <a:p>
            <a:r>
              <a:t>Bring the room back:</a:t>
            </a:r>
          </a:p>
          <a:p>
            <a:r>
              <a:t>• Who sets the agenda?</a:t>
            </a:r>
          </a:p>
          <a:p>
            <a:r>
              <a:t>• Whose knowledge is heard?</a:t>
            </a:r>
          </a:p>
          <a:p>
            <a:r>
              <a:t>• Who can make decisions?</a:t>
            </a:r>
          </a:p>
          <a:p>
            <a:r>
              <a:t>• What could change about the process?</a:t>
            </a:r>
          </a:p>
          <a:p>
            <a:r>
              <a:t>Close: Ask participants to keep one idea from the Solutions column for their conversation plan on slide 13.</a:t>
            </a:r>
          </a:p>
          <a:p/>
          <a:p>
            <a:r>
              <a:t>KEEP IN MIND</a:t>
            </a:r>
          </a:p>
          <a:p>
            <a:r>
              <a:t>• This may be painful for some participants who have felt powerless in dealings with school. Acknowledge this, and guide the group towards solutions rather than blame.</a:t>
            </a:r>
          </a:p>
          <a:p>
            <a:r>
              <a:t>• Asking for a school perspective is not asking families to excuse poor practice. It helps them plan a conversation that is more likely to work.</a:t>
            </a:r>
          </a:p>
          <a:p/>
          <a:p>
            <a:r>
              <a:t>BACKGROUND</a:t>
            </a:r>
          </a:p>
          <a:p>
            <a:r>
              <a:t>Educators work inside the culture of education, including shared acronyms such as NAPLAN, NCCD and IEP, which families may not know. Some people naturally give teachers higher status, which can be a cultural or personal attitude. External providers and professionals can also affect the power dynamic around an Autistic child.</a:t>
            </a:r>
          </a:p>
          <a:p/>
          <a:p>
            <a:r>
              <a:t>THREAD</a:t>
            </a:r>
          </a:p>
          <a:p>
            <a:r>
              <a:t>The solution chosen here carries into the conversation plan on slide 13 and the Session 6 take-home actions.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4 min  ·  1:48 - 1:52  ·  Workbook - Student voice</a:t>
            </a:r>
          </a:p>
          <a:p/>
          <a:p>
            <a:r>
              <a:t>PURPOSE</a:t>
            </a:r>
          </a:p>
          <a:p>
            <a:r>
              <a:t>Show what can happen when a child is not listened to or consulted, and why your child's voice belongs in decisions about them.</a:t>
            </a:r>
          </a:p>
          <a:p/>
          <a:p>
            <a:r>
              <a:t>WHAT TO DO</a:t>
            </a:r>
          </a:p>
          <a:p>
            <a:r>
              <a:t>1. Introduce the video as an example of a student who is not listened to or consulted.</a:t>
            </a:r>
          </a:p>
          <a:p>
            <a:r>
              <a:t>2. Ask participants, while watching, to pay attention to what decisions were made and who made them.</a:t>
            </a:r>
          </a:p>
          <a:p>
            <a:r>
              <a:t>3. Play the video.</a:t>
            </a:r>
          </a:p>
          <a:p>
            <a:r>
              <a:t>4. Ask the group: What impact did those decisions have on Adon?</a:t>
            </a:r>
          </a:p>
          <a:p>
            <a:r>
              <a:t>5. Connect to participants' own children: how are their preferences asked for and heard, at home and at school?</a:t>
            </a:r>
          </a:p>
          <a:p/>
          <a:p>
            <a:r>
              <a:t>YOU MIGHT SAY</a:t>
            </a:r>
          </a:p>
          <a:p>
            <a:r>
              <a:t>While watching, pay attention to what decisions were made and who made them.</a:t>
            </a:r>
          </a:p>
          <a:p>
            <a:r>
              <a:t>What impact did those decisions have on Adon?</a:t>
            </a:r>
          </a:p>
          <a:p/>
          <a:p>
            <a:r>
              <a:t>KEY MESSAGES</a:t>
            </a:r>
          </a:p>
          <a:p>
            <a:r>
              <a:t>• Children should have a say in decisions about them, at their level and in the way they communicate.</a:t>
            </a:r>
          </a:p>
          <a:p>
            <a:r>
              <a:t>• Even young children can show preferences: choices offered visually, reactions observed and honoured.</a:t>
            </a:r>
          </a:p>
          <a:p>
            <a:r>
              <a:t>• Ask your child in a way that works for them: What helps? What's hard? What should your teacher know?</a:t>
            </a:r>
          </a:p>
          <a:p>
            <a:r>
              <a:t>• Their answers can go to school in their own words, drawings or choices.</a:t>
            </a:r>
          </a:p>
          <a:p>
            <a:r>
              <a:t>• This is an early step in building self-advocacy.</a:t>
            </a:r>
          </a:p>
          <a:p/>
          <a:p>
            <a:r>
              <a:t>KEEP IN MIND</a:t>
            </a:r>
          </a:p>
          <a:p>
            <a:r>
              <a:t>• Some parents may recognise their own child's experience in the video. Allow a moment before moving on.</a:t>
            </a:r>
          </a:p>
          <a:p/>
          <a:p>
            <a:r>
              <a:t>THREAD</a:t>
            </a:r>
          </a:p>
          <a:p>
            <a:r>
              <a:t>Links to multimodal communication and AAC in Session 3: voice can be spoken, written, drawn, typed or shown.</a:t>
            </a:r>
          </a:p>
        </p:txBody>
      </p:sp>
    </p:spTree>
    <p:extLst>
      <p:ext uri="{BB962C8B-B14F-4D97-AF65-F5344CB8AC3E}">
        <p14:creationId xmlns:p14="http://schemas.microsoft.com/office/powerpoint/2010/main" val="1841038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3862-DA1D-B1A1-9895-FC9A71AF85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A38FBF-1361-F969-DC98-01A54DC72E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41276F-589B-898A-F5FE-D4D7F4EC37DB}"/>
              </a:ext>
            </a:extLst>
          </p:cNvPr>
          <p:cNvSpPr>
            <a:spLocks noGrp="1"/>
          </p:cNvSpPr>
          <p:nvPr>
            <p:ph type="body" idx="1"/>
          </p:nvPr>
        </p:nvSpPr>
        <p:spPr/>
        <p:txBody>
          <a:bodyPr/>
          <a:lstStyle/>
          <a:p>
            <a:r>
              <a:t>SUGGESTED TIME: 6 min  ·  1:52 - 1:58  ·  Workbook - What works?</a:t>
            </a:r>
          </a:p>
          <a:p/>
          <a:p>
            <a:r>
              <a:t>PURPOSE</a:t>
            </a:r>
          </a:p>
          <a:p>
            <a:r>
              <a:t>Draw on school relationships that have already worked, and name the moves that work for everyone at the table.</a:t>
            </a:r>
          </a:p>
          <a:p/>
          <a:p>
            <a:r>
              <a:t>WHAT TO DO</a:t>
            </a:r>
          </a:p>
          <a:p>
            <a:r>
              <a:t>1. Ask participants to think of a time they worked well with someone at school, such as a teacher, a learning support staff member or a principal.</a:t>
            </a:r>
          </a:p>
          <a:p>
            <a:r>
              <a:t>2. Discuss the prompts on the slide in table groups.</a:t>
            </a:r>
          </a:p>
          <a:p>
            <a:r>
              <a:t>3. Ask groups to feed back a few key ideas to the whole room.</a:t>
            </a:r>
          </a:p>
          <a:p>
            <a:r>
              <a:t>4. Point to the list of what works for everyone at the table and add practical examples of each.</a:t>
            </a:r>
          </a:p>
          <a:p/>
          <a:p>
            <a:r>
              <a:t>YOU MIGHT SAY</a:t>
            </a:r>
          </a:p>
          <a:p>
            <a:r>
              <a:t>What made it work? What did they do, and what did you do?</a:t>
            </a:r>
          </a:p>
          <a:p/>
          <a:p>
            <a:r>
              <a:t>KEY MESSAGES</a:t>
            </a:r>
          </a:p>
          <a:p>
            <a:r>
              <a:t>• Ask for the agenda before the meeting, so you know what to expect.</a:t>
            </a:r>
          </a:p>
          <a:p>
            <a:r>
              <a:t>• You can bring a support person. This is normal and allowed, and it can change the feel of the meeting.</a:t>
            </a:r>
          </a:p>
          <a:p>
            <a:r>
              <a:t>• Bring notes, and ask for notes or minutes to be shared.</a:t>
            </a:r>
          </a:p>
          <a:p>
            <a:r>
              <a:t>• Follow up in writing ('As we agreed...'), so everyone is clear on what was agreed.</a:t>
            </a:r>
          </a:p>
          <a:p>
            <a:r>
              <a:t>• If a meeting went badly, it is fine to ask for a fresh start next time.</a:t>
            </a:r>
          </a:p>
          <a:p/>
          <a:p>
            <a:r>
              <a:t>ACTIVITY: Table reflection  ·  small groups  ·  6 minutes</a:t>
            </a:r>
          </a:p>
          <a:p>
            <a:r>
              <a:t>Prompt: Think of a time you worked well with someone at school. What made it work? What did they do, and what did you do?</a:t>
            </a:r>
          </a:p>
          <a:p>
            <a:r>
              <a:t>1. Think of a time you worked well with someone at school.</a:t>
            </a:r>
          </a:p>
          <a:p>
            <a:r>
              <a:t>2. Discuss the prompts at your table.</a:t>
            </a:r>
          </a:p>
          <a:p>
            <a:r>
              <a:t>3. Keep examples general and do not name staff or schools.</a:t>
            </a:r>
          </a:p>
          <a:p>
            <a:r>
              <a:t>Bring the room back:</a:t>
            </a:r>
          </a:p>
          <a:p>
            <a:r>
              <a:t>• What key ideas came up at your table?</a:t>
            </a:r>
          </a:p>
          <a:p>
            <a:r>
              <a:t>Close: Connect the ideas shared to the list on the slide: be prepared for meetings, share information, ask questions, seek clarification, start from what you both want for your child.</a:t>
            </a:r>
          </a:p>
          <a:p/>
          <a:p>
            <a:r>
              <a:t>KEEP IN MIND</a:t>
            </a:r>
          </a:p>
          <a:p>
            <a:r>
              <a:t>• Some participants may not have a positive example yet. Invite them to think of any relationship that worked, in or out of school, or to listen and take ideas from others.</a:t>
            </a:r>
          </a:p>
          <a:p>
            <a:r>
              <a:t>• Some families have a hard history with their school, and trust may need rebuilding before anyone can assume the best. Acknowledge this, and keep the focus on what both sides want for the child.</a:t>
            </a:r>
          </a:p>
          <a:p/>
          <a:p>
            <a:r>
              <a:t>BACKGROUND</a:t>
            </a:r>
          </a:p>
          <a:p>
            <a:r>
              <a:t>Parent and family engagement in learning happens when schools support families to take part in their child's learning in equal partnership with the school. Parents are the experts on their child and an extremely valuable resource (Barker &amp; Harris, 2020).</a:t>
            </a:r>
          </a:p>
          <a:p/>
          <a:p>
            <a:r>
              <a:t>RESOURCES</a:t>
            </a:r>
          </a:p>
          <a:p>
            <a:r>
              <a:t>Barker, B., &amp; Harris, D. (2020). Parent and Family Engagement: An Implementation Guide for School Communities. Canberra: ARACY</a:t>
            </a:r>
          </a:p>
        </p:txBody>
      </p:sp>
    </p:spTree>
    <p:extLst>
      <p:ext uri="{BB962C8B-B14F-4D97-AF65-F5344CB8AC3E}">
        <p14:creationId xmlns:p14="http://schemas.microsoft.com/office/powerpoint/2010/main" val="30177016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3 min  ·  1:58 - 2:01  ·  Workbook - Consultation checklist</a:t>
            </a:r>
          </a:p>
          <a:p/>
          <a:p>
            <a:r>
              <a:t>PURPOSE</a:t>
            </a:r>
          </a:p>
          <a:p>
            <a:r>
              <a:t>Show families what useful consultation includes, so they can recognise it and ask for it.</a:t>
            </a:r>
          </a:p>
          <a:p/>
          <a:p>
            <a:r>
              <a:t>WHAT TO DO</a:t>
            </a:r>
          </a:p>
          <a:p>
            <a:r>
              <a:t>1. Walk through what useful consultation includes.</a:t>
            </a:r>
          </a:p>
          <a:p>
            <a:r>
              <a:t>2. Frame the list as a check families can use before and after a school meeting.</a:t>
            </a:r>
          </a:p>
          <a:p>
            <a:r>
              <a:t>3. Make the point: ask, listen, and follow up.</a:t>
            </a:r>
          </a:p>
          <a:p>
            <a:r>
              <a:t>4. Link back to Your rights at school from Session 1: the school must consult your child, or you on their behalf. This list helps make that consultation useful.</a:t>
            </a:r>
          </a:p>
          <a:p/>
          <a:p>
            <a:r>
              <a:t>KEY MESSAGES</a:t>
            </a:r>
          </a:p>
          <a:p>
            <a:r>
              <a:t>• Ask, listen, and follow up.</a:t>
            </a:r>
          </a:p>
          <a:p>
            <a:r>
              <a:t>• Useful consultation includes an agreed action, who is responsible and when it will be followed up.</a:t>
            </a:r>
          </a:p>
          <a:p/>
          <a:p>
            <a:r>
              <a:t>THREAD</a:t>
            </a:r>
          </a:p>
          <a:p>
            <a:r>
              <a:t>Links back to Your rights at school in Session 1: under the Disability Standards for Education, consultation is a requirement.</a:t>
            </a:r>
          </a:p>
          <a:p/>
          <a:p>
            <a:r>
              <a:t>RESOURCES</a:t>
            </a:r>
          </a:p>
          <a:p>
            <a:r>
              <a:t>Australian Education Research Organisation (2024). Engaging with families of children with disability: Schools practice guide - https://www.edresearch.edu.au/guides-resources/practice-guides/engaging-families-children-disability-schools-guide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t>SUGGESTED TIME: 1 min  ·  2:01 - 2:02</a:t>
            </a:r>
          </a:p>
          <a:p/>
          <a:p>
            <a:r>
              <a:t>PURPOSE</a:t>
            </a:r>
          </a:p>
          <a:p>
            <a:r>
              <a:t>Show the Partnership tools and how families can use them to prepare for and follow up a school meeting.</a:t>
            </a:r>
          </a:p>
          <a:p/>
          <a:p>
            <a:r>
              <a:t>WHAT TO DO</a:t>
            </a:r>
          </a:p>
          <a:p>
            <a:r>
              <a:t>1. Show the Partnership tools and briefly explain how each one is used.</a:t>
            </a:r>
          </a:p>
          <a:p>
            <a:r>
              <a:t>2. Frame the tools as supports for consultation, not replacements for listening and your child's voice.</a:t>
            </a:r>
          </a:p>
          <a:p/>
          <a:p>
            <a:r>
              <a:t>KEY MESSAGES</a:t>
            </a:r>
          </a:p>
          <a:p>
            <a:r>
              <a:t>• Tools support a conversation. They do not replace listening and your child's voice.</a:t>
            </a:r>
          </a:p>
        </p:txBody>
      </p:sp>
      <p:sp>
        <p:nvSpPr>
          <p:cNvPr id="4" name="Date Placeholder 3"/>
          <p:cNvSpPr>
            <a:spLocks noGrp="1"/>
          </p:cNvSpPr>
          <p:nvPr>
            <p:ph type="dt" idx="10"/>
          </p:nvPr>
        </p:nvSpPr>
        <p:spPr/>
        <p:txBody>
          <a:bodyPr/>
          <a:lstStyle/>
          <a:p>
            <a:endParaRPr lang="en-AU"/>
          </a:p>
        </p:txBody>
      </p:sp>
    </p:spTree>
    <p:extLst>
      <p:ext uri="{BB962C8B-B14F-4D97-AF65-F5344CB8AC3E}">
        <p14:creationId xmlns:p14="http://schemas.microsoft.com/office/powerpoint/2010/main" val="6173675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1 min  ·  2:02 - 2:03</a:t>
            </a:r>
          </a:p>
          <a:p/>
          <a:p>
            <a:r>
              <a:t>PURPOSE</a:t>
            </a:r>
          </a:p>
          <a:p>
            <a:r>
              <a:t>Introduce the NCCD Meetings Tool Kit as a free resource for families preparing for meetings about adjustments.</a:t>
            </a:r>
          </a:p>
          <a:p/>
          <a:p>
            <a:r>
              <a:t>WHAT TO DO</a:t>
            </a:r>
          </a:p>
          <a:p>
            <a:r>
              <a:t>1. Explain that the Tool Kit helps families and schools prepare for meetings about adjustments: before, during and after the meeting.</a:t>
            </a:r>
          </a:p>
          <a:p>
            <a:r>
              <a:t>2. Point families to the Tool Kit on the NCCD website: https://www.nccd.edu.au/wider-support-materials/meetings-toolkit</a:t>
            </a:r>
          </a:p>
          <a:p/>
          <a:p>
            <a:r>
              <a:t>KEY MESSAGES</a:t>
            </a:r>
          </a:p>
          <a:p>
            <a:r>
              <a:t>• The Tool Kit is free and made for families as well as schools.</a:t>
            </a:r>
          </a:p>
          <a:p/>
          <a:p>
            <a:r>
              <a:t>KEEP IN MIND</a:t>
            </a:r>
          </a:p>
          <a:p>
            <a:r>
              <a:t>• Do not explain NCCD in detail. If asked, talk about levels of adjustment and point to the official NCCD information.</a:t>
            </a:r>
          </a:p>
          <a:p/>
          <a:p>
            <a:r>
              <a:t>RESOURCES</a:t>
            </a:r>
          </a:p>
          <a:p>
            <a:r>
              <a:t>NCCD Meetings Tool Kit - https://www.nccd.edu.au/wider-support-materials/meetings-toolkit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SUGGESTED TIME: 1 min  ·  2:03 - 2:04</a:t>
            </a:r>
          </a:p>
          <a:p/>
          <a:p>
            <a:r>
              <a:t>PURPOSE</a:t>
            </a:r>
          </a:p>
          <a:p>
            <a:r>
              <a:t>Point families to national helplines and support pathways.</a:t>
            </a:r>
          </a:p>
          <a:p/>
          <a:p>
            <a:r>
              <a:t>WHAT TO DO</a:t>
            </a:r>
          </a:p>
          <a:p>
            <a:r>
              <a:t>1. Briefly introduce Autism Connect (the national autism helpline), Disability Gateway and Carer Gateway.</a:t>
            </a:r>
          </a:p>
          <a:p>
            <a:r>
              <a:t>2. Note that Carer Gateway offers emotional, practical and financial support for carers.</a:t>
            </a:r>
          </a:p>
          <a:p>
            <a:r>
              <a:t>3. Point out Lifeline (13 11 14) and Kids Helpline (1800 55 1800). Kids Helpline also supports parents and carers.</a:t>
            </a:r>
          </a:p>
          <a:p>
            <a:r>
              <a:t>4. Leave the slide up so participants can note or photograph the numbers.</a:t>
            </a:r>
          </a:p>
          <a:p/>
          <a:p>
            <a:r>
              <a:t>KEY MESSAGES</a:t>
            </a:r>
          </a:p>
          <a:p>
            <a:r>
              <a:t>• Help is available beyond today, for your child and for you.</a:t>
            </a:r>
          </a:p>
          <a:p/>
          <a:p>
            <a:r>
              <a:t>KEEP IN MIND</a:t>
            </a:r>
          </a:p>
          <a:p>
            <a:r>
              <a:t>• Check phone numbers and services are current before delivery.</a:t>
            </a:r>
          </a:p>
          <a:p/>
          <a:p>
            <a:r>
              <a:t>RESOURCES</a:t>
            </a:r>
          </a:p>
          <a:p>
            <a:r>
              <a:t>Disability Gateway - 1800 643 787</a:t>
            </a:r>
          </a:p>
          <a:p>
            <a:r>
              <a:t>Carer Gateway - 1800 422 737</a:t>
            </a:r>
          </a:p>
          <a:p>
            <a:r>
              <a:t>Autism Connect national autism helpline - contact details as shown on the slide</a:t>
            </a:r>
          </a:p>
          <a:p>
            <a:r>
              <a:t>Lifeline - 13 11 14</a:t>
            </a:r>
          </a:p>
          <a:p>
            <a:r>
              <a:t>Kids Helpline - 1800 55 1800 (also supports parents and carers)</a:t>
            </a:r>
          </a:p>
        </p:txBody>
      </p:sp>
      <p:sp>
        <p:nvSpPr>
          <p:cNvPr id="4" name="Slide Number Placeholder 3"/>
          <p:cNvSpPr>
            <a:spLocks noGrp="1"/>
          </p:cNvSpPr>
          <p:nvPr>
            <p:ph type="sldNum" sz="quarter" idx="10"/>
          </p:nvPr>
        </p:nvSpPr>
        <p:spPr/>
        <p:txBody>
          <a:bodyPr/>
          <a:lstStyle/>
          <a:p>
            <a:pPr defTabSz="966338">
              <a:defRPr/>
            </a:pPr>
            <a:fld id="{548C6345-C4B0-4EAE-A3B4-FCAC51D578EF}" type="slidenum">
              <a:rPr lang="en-AU">
                <a:solidFill>
                  <a:prstClr val="black"/>
                </a:solidFill>
                <a:latin typeface="Calibri" panose="020F0502020204030204"/>
              </a:rPr>
              <a:pPr defTabSz="966338">
                <a:defRPr/>
              </a:pPr>
              <a:t>16</a:t>
            </a:fld>
            <a:endParaRPr lang="en-AU">
              <a:solidFill>
                <a:prstClr val="black"/>
              </a:solidFill>
              <a:latin typeface="Calibri" panose="020F0502020204030204"/>
            </a:endParaRPr>
          </a:p>
        </p:txBody>
      </p:sp>
    </p:spTree>
    <p:extLst>
      <p:ext uri="{BB962C8B-B14F-4D97-AF65-F5344CB8AC3E}">
        <p14:creationId xmlns:p14="http://schemas.microsoft.com/office/powerpoint/2010/main" val="13845769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TIME: 6 min  ·  2:04 - 2:10  ·  Workbook - Prepare for a conversation with school</a:t>
            </a:r>
          </a:p>
          <a:p/>
          <a:p>
            <a:r>
              <a:t>PURPOSE</a:t>
            </a:r>
          </a:p>
          <a:p>
            <a:r>
              <a:t>Help each participant prepare for one purposeful conversation with school, to carry into the Session 6 take-home actions.</a:t>
            </a:r>
          </a:p>
          <a:p/>
          <a:p>
            <a:r>
              <a:t>WHAT TO DO</a:t>
            </a:r>
          </a:p>
          <a:p>
            <a:r>
              <a:t>1. Ask participants to think of a real or likely conversation with school.</a:t>
            </a:r>
          </a:p>
          <a:p>
            <a:r>
              <a:t>2. Invite them to work through the prompts on the slide privately.</a:t>
            </a:r>
          </a:p>
          <a:p>
            <a:r>
              <a:t>3. Encourage short notes rather than a full meeting plan.</a:t>
            </a:r>
          </a:p>
          <a:p>
            <a:r>
              <a:t>4. Ask participants to carry one idea from the power activity into their plan.</a:t>
            </a:r>
          </a:p>
          <a:p>
            <a:r>
              <a:t>5. Keep sharing optional, particularly where the situation is sensitive.</a:t>
            </a:r>
          </a:p>
          <a:p/>
          <a:p>
            <a:r>
              <a:t>YOU MIGHT SAY</a:t>
            </a:r>
          </a:p>
          <a:p>
            <a:r>
              <a:t>Keep these notes for your conversation plan in Session 6.</a:t>
            </a:r>
          </a:p>
          <a:p/>
          <a:p>
            <a:r>
              <a:t>KEY MESSAGES</a:t>
            </a:r>
          </a:p>
          <a:p>
            <a:r>
              <a:t>• Prepare for one purposeful conversation.</a:t>
            </a:r>
          </a:p>
          <a:p>
            <a:r>
              <a:t>• A small, specific next step is enough.</a:t>
            </a:r>
          </a:p>
          <a:p/>
          <a:p>
            <a:r>
              <a:t>ACTIVITY: Private planning  ·  on your own  ·  6 minutes</a:t>
            </a:r>
          </a:p>
          <a:p>
            <a:r>
              <a:t>Prompt: Prepare for one purposeful conversation.</a:t>
            </a:r>
          </a:p>
          <a:p>
            <a:r>
              <a:t>1. What needs to be understood?</a:t>
            </a:r>
          </a:p>
          <a:p>
            <a:r>
              <a:t>2. What question will open the conversation?</a:t>
            </a:r>
          </a:p>
          <a:p>
            <a:r>
              <a:t>3. How will your child's voice be included?</a:t>
            </a:r>
          </a:p>
          <a:p>
            <a:r>
              <a:t>4. What can be decided together?</a:t>
            </a:r>
          </a:p>
          <a:p>
            <a:r>
              <a:t>5. How and when will we follow up?</a:t>
            </a:r>
          </a:p>
          <a:p>
            <a:r>
              <a:t>Close: Ask participants to circle the question they will open with and keep these notes for Session 6.</a:t>
            </a:r>
          </a:p>
          <a:p/>
          <a:p>
            <a:r>
              <a:t>THREAD</a:t>
            </a:r>
          </a:p>
          <a:p>
            <a:r>
              <a:t>Feeds the second of the three small things in Session 6: one thing you would like school to know, understand or support, and the sentence you will open with.</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1D28A-B3EE-B2F8-2D9F-E38956BB4C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091FFC2E-1ACE-62A5-4072-FDF6F0EA09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4599CF-C943-D7C4-7811-263721D4555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1EEF46FB-5BFF-6413-8DC9-C662D210F6D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93AE1BB-D8CC-E9DD-8F6F-D88C38DE89A5}"/>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295910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E3CB4-060A-C51F-2EC8-354B364A60F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43379BE2-E71C-D173-20F7-3DC235E13D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0F0FBE1-DEF4-01E6-B192-F54120AB142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3D19024-81F6-B24D-2524-4A38F3C7340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67EF9EC-1F2C-3CE9-DEFE-2FF7BA77C9D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36573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AB6A3-2485-D4A0-889B-2A92728386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5E0D3F2C-BD31-4AAE-2D0A-9FDF485296D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1D3BE7-495A-45AB-B509-EF0F34943E9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40B1C35D-E99A-E291-987B-AF21274B258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0857903-8C9F-BACD-61B4-225B4ACBFE1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93137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50A35-C5D0-A8D3-1ED0-DBF6C7038B5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0B0E58A-4B8D-2F6C-6CED-E77C340B9E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731D8A72-9F1F-7780-A02A-6480C7F096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5D4972C-A7FC-EEBF-EB80-07E12A45D2D0}"/>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B2E53512-D333-F27C-FA62-2D6D626AD1C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2E326B4B-35FD-594C-461D-73FB077E727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149526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8FB18-6446-C345-2715-2FCD4BBD208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CD51CA7F-8671-00FB-2759-AE7473DA2F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5592E17-C65A-E73A-04CA-7B10C867F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DC5BF-9F4A-A4A9-2DCD-D39C08A7EE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20E987-78C7-89E8-B39B-214F536731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5BB3663-DCDB-9D47-2A05-8C8A1751BD15}"/>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8" name="Footer Placeholder 7">
            <a:extLst>
              <a:ext uri="{FF2B5EF4-FFF2-40B4-BE49-F238E27FC236}">
                <a16:creationId xmlns:a16="http://schemas.microsoft.com/office/drawing/2014/main" id="{9A1E0899-2FB9-D5F8-C7D9-6A64DF55DCD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31B0A265-38DC-25F3-63F7-264C7CBC5749}"/>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196331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5A0DD-9672-EA32-8499-5F359273C84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77A619D4-673B-7869-BDA8-90EF6AE1A4FC}"/>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4" name="Footer Placeholder 3">
            <a:extLst>
              <a:ext uri="{FF2B5EF4-FFF2-40B4-BE49-F238E27FC236}">
                <a16:creationId xmlns:a16="http://schemas.microsoft.com/office/drawing/2014/main" id="{3DC3F31B-821F-4600-8E2D-5409A083DDD2}"/>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999563D0-06DF-DDC6-6DE6-F286B2AD439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491107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158A0-525F-DBD6-072B-A32480F33201}"/>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3" name="Footer Placeholder 2">
            <a:extLst>
              <a:ext uri="{FF2B5EF4-FFF2-40B4-BE49-F238E27FC236}">
                <a16:creationId xmlns:a16="http://schemas.microsoft.com/office/drawing/2014/main" id="{EC38CD13-2E9D-DA86-8592-84CB918BBA01}"/>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91326335-F22B-E001-C43D-596FB359436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793934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8F21E-74D4-6662-046B-D00B43AFF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EE6EBDC0-FB04-159F-A56E-FCD49D6E2A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C14CC297-D38C-33F2-3923-309BA88C8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45D466-15C2-9CF9-49C4-908884E657CA}"/>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E51A267D-366B-4133-F6AE-178CB1C413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9CE10DC-6374-4602-A4F6-08445FF5D481}"/>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8316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0875E-4B02-5185-26A1-8AA35D4581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8A93C0B0-4CE7-414A-A922-9910F4AE40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0A186429-E09E-E274-D9B2-B9FF7D73DC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2BDFA4-C431-D3D2-E11D-6B0825CAC2E6}"/>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6" name="Footer Placeholder 5">
            <a:extLst>
              <a:ext uri="{FF2B5EF4-FFF2-40B4-BE49-F238E27FC236}">
                <a16:creationId xmlns:a16="http://schemas.microsoft.com/office/drawing/2014/main" id="{D68A784D-C53A-7D39-41EB-A5FAB54CAA0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DF602B-2F43-D06E-EEA1-A5842078DF46}"/>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24469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BFF24-BA52-E356-2969-BBEC613C5B3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FE647FD-F15F-0F7E-6331-911A43B458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229ABCC-425E-F40B-430F-6DBE435D59CB}"/>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66ADAE07-2F6D-543D-8ADD-06E28BD16A3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6E3D450-00E6-5570-3748-99DB1FFF86AE}"/>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1078430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7934-68A4-5202-087B-135726E7E48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10513942-979E-AFC8-F6F0-1B745E88E91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ADD712E-6F85-5F6F-2C74-2CEEBD8D63A8}"/>
              </a:ext>
            </a:extLst>
          </p:cNvPr>
          <p:cNvSpPr>
            <a:spLocks noGrp="1"/>
          </p:cNvSpPr>
          <p:nvPr>
            <p:ph type="dt" sz="half" idx="10"/>
          </p:nvPr>
        </p:nvSpPr>
        <p:spPr/>
        <p:txBody>
          <a:body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8B04549D-D6FE-6A64-0BA2-1D595DEB189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8DA3E06-3B8D-A569-B398-19316245599C}"/>
              </a:ext>
            </a:extLst>
          </p:cNvPr>
          <p:cNvSpPr>
            <a:spLocks noGrp="1"/>
          </p:cNvSpPr>
          <p:nvPr>
            <p:ph type="sldNum" sz="quarter" idx="12"/>
          </p:nvPr>
        </p:nvSpPr>
        <p:spPr/>
        <p:txBody>
          <a:bodyPr/>
          <a:lstStyle/>
          <a:p>
            <a:fld id="{3BAFDF43-DACD-40EF-801D-14F8956C6332}" type="slidenum">
              <a:rPr lang="en-AU" smtClean="0"/>
              <a:t>‹#›</a:t>
            </a:fld>
            <a:endParaRPr lang="en-AU"/>
          </a:p>
        </p:txBody>
      </p:sp>
    </p:spTree>
    <p:extLst>
      <p:ext uri="{BB962C8B-B14F-4D97-AF65-F5344CB8AC3E}">
        <p14:creationId xmlns:p14="http://schemas.microsoft.com/office/powerpoint/2010/main" val="3880623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F2001-A193-4D5D-A091-B92800E3CAF8}"/>
              </a:ext>
            </a:extLst>
          </p:cNvPr>
          <p:cNvSpPr>
            <a:spLocks noGrp="1"/>
          </p:cNvSpPr>
          <p:nvPr>
            <p:ph type="title"/>
          </p:nvPr>
        </p:nvSpPr>
        <p:spPr>
          <a:xfrm>
            <a:off x="695326" y="555852"/>
            <a:ext cx="10801350" cy="523220"/>
          </a:xfrm>
        </p:spPr>
        <p:txBody>
          <a:bodyPr/>
          <a:lstStyle>
            <a:lvl1pPr>
              <a:defRPr sz="4000"/>
            </a:lvl1pPr>
          </a:lstStyle>
          <a:p>
            <a:r>
              <a:rPr lang="en-US"/>
              <a:t>Click to edit Master title style</a:t>
            </a:r>
            <a:endParaRPr lang="en-AU"/>
          </a:p>
        </p:txBody>
      </p:sp>
    </p:spTree>
    <p:extLst>
      <p:ext uri="{BB962C8B-B14F-4D97-AF65-F5344CB8AC3E}">
        <p14:creationId xmlns:p14="http://schemas.microsoft.com/office/powerpoint/2010/main" val="2105043567"/>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A2D69F-858A-1B9A-29B7-9C2FE4AA8D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A8B2ED96-8E16-D26A-34FC-9612F0C054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4CBCBF3-792B-3F72-232C-3BB15CC787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BF074C-1775-4CF3-9CFA-95D3818C63E7}" type="datetimeFigureOut">
              <a:rPr lang="en-AU" smtClean="0"/>
              <a:t>25/9/2026</a:t>
            </a:fld>
            <a:endParaRPr lang="en-AU"/>
          </a:p>
        </p:txBody>
      </p:sp>
      <p:sp>
        <p:nvSpPr>
          <p:cNvPr id="5" name="Footer Placeholder 4">
            <a:extLst>
              <a:ext uri="{FF2B5EF4-FFF2-40B4-BE49-F238E27FC236}">
                <a16:creationId xmlns:a16="http://schemas.microsoft.com/office/drawing/2014/main" id="{B22C0ED6-9CA2-5575-50F9-C6F846B015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FD4396C1-8D9B-39FF-FBFF-EAB2040EDBB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AFDF43-DACD-40EF-801D-14F8956C6332}" type="slidenum">
              <a:rPr lang="en-AU" smtClean="0"/>
              <a:t>‹#›</a:t>
            </a:fld>
            <a:endParaRPr lang="en-AU"/>
          </a:p>
        </p:txBody>
      </p:sp>
    </p:spTree>
    <p:extLst>
      <p:ext uri="{BB962C8B-B14F-4D97-AF65-F5344CB8AC3E}">
        <p14:creationId xmlns:p14="http://schemas.microsoft.com/office/powerpoint/2010/main" val="1684930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1.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microsoft.com/office/2018/10/relationships/comments" Target="../comments/modernComment_346_3E00D4D8.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microsoft.com/office/2018/10/relationships/comments" Target="../comments/modernComment_34C_A86DA66C.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7.xml"/><Relationship Id="rId3" Type="http://schemas.openxmlformats.org/officeDocument/2006/relationships/notesSlide" Target="../notesSlides/notesSlide5.xml"/><Relationship Id="rId4" Type="http://schemas.openxmlformats.org/officeDocument/2006/relationships/image" Target="../media/image5.png"/><Relationship Id="rId5"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tags" Target="../tags/tag3.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slideLayout" Target="../slideLayouts/slideLayout12.xml"/><Relationship Id="rId5" Type="http://schemas.openxmlformats.org/officeDocument/2006/relationships/notesSlide" Target="../notesSlides/notesSlide7.xml"/><Relationship Id="rId6" Type="http://schemas.openxmlformats.org/officeDocument/2006/relationships/image" Target="../media/image7.svg"/><Relationship Id="rId7"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jpeg"/><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jpeg"/><Relationship Id="rId8"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D1B9-A570-DB32-424F-E4936D559176}"/>
            </a:ext>
          </a:extLst>
        </p:cNvPr>
        <p:cNvGrpSpPr/>
        <p:nvPr/>
      </p:nvGrpSpPr>
      <p:grpSpPr>
        <a:xfrm>
          <a:off x="0" y="0"/>
          <a:ext cx="0" cy="0"/>
          <a:chOff x="0" y="0"/>
          <a:chExt cx="0" cy="0"/>
        </a:xfrm>
      </p:grpSpPr>
      <p:sp>
        <p:nvSpPr>
          <p:cNvPr id="13" name="Oval 12"/>
          <p:cNvSpPr/>
          <p:nvPr/>
        </p:nvSpPr>
        <p:spPr>
          <a:xfrm>
            <a:off x="8549640" y="4663440"/>
            <a:ext cx="4873752" cy="4873752"/>
          </a:xfrm>
          <a:prstGeom prst="ellipse">
            <a:avLst/>
          </a:prstGeom>
          <a:solidFill>
            <a:srgbClr val="EDE8F8"/>
          </a:solidFill>
          <a:ln>
            <a:noFill/>
          </a:ln>
        </p:spPr>
        <p:txBody>
          <a:bodyPr rtlCol="0" anchor="ctr"/>
          <a:lstStyle/>
          <a:p>
            <a:pPr algn="ctr"/>
            <a:endParaRPr/>
          </a:p>
        </p:txBody>
      </p:sp>
      <p:pic>
        <p:nvPicPr>
          <p:cNvPr id="4" name="Picture 3">
            <a:extLst>
              <a:ext uri="{FF2B5EF4-FFF2-40B4-BE49-F238E27FC236}">
                <a16:creationId xmlns:a16="http://schemas.microsoft.com/office/drawing/2014/main" id="{FE5D2DEF-3A6F-22DF-DC11-FD415D02042D}"/>
              </a:ext>
            </a:extLst>
          </p:cNvPr>
          <p:cNvPicPr>
            <a:picLocks noChangeAspect="1"/>
          </p:cNvPicPr>
          <p:nvPr/>
        </p:nvPicPr>
        <p:blipFill>
          <a:blip r:embed="rId4">
            <a:extLst>
              <a:ext uri="{28A0092B-C50C-407E-A947-70E740481C1C}">
                <a14:useLocalDpi xmlns:a14="http://schemas.microsoft.com/office/drawing/2010/main" val="0"/>
              </a:ext>
            </a:extLst>
          </a:blip>
          <a:srcRect l="8535" r="8535"/>
          <a:stretch>
            <a:fillRect/>
          </a:stretch>
        </p:blipFill>
        <p:spPr>
          <a:xfrm>
            <a:off x="0" y="0"/>
            <a:ext cx="6766560" cy="6858000"/>
          </a:xfrm>
          <a:prstGeom prst="rect">
            <a:avLst/>
          </a:prstGeom>
          <a:scene3d>
            <a:camera prst="orthographicFront">
              <a:rot lat="0" lon="10800000" rev="0"/>
            </a:camera>
            <a:lightRig rig="threePt" dir="t"/>
          </a:scene3d>
        </p:spPr>
      </p:pic>
      <p:sp>
        <p:nvSpPr>
          <p:cNvPr id="12" name="Title 3">
            <a:extLst>
              <a:ext uri="{FF2B5EF4-FFF2-40B4-BE49-F238E27FC236}">
                <a16:creationId xmlns:a16="http://schemas.microsoft.com/office/drawing/2014/main" id="{1F7B0FA0-9D53-70A9-352A-BBC0EC34F991}"/>
              </a:ext>
            </a:extLst>
          </p:cNvPr>
          <p:cNvSpPr txBox="1">
            <a:spLocks/>
          </p:cNvSpPr>
          <p:nvPr/>
        </p:nvSpPr>
        <p:spPr>
          <a:xfrm>
            <a:off x="7269480" y="1097280"/>
            <a:ext cx="4297680" cy="4206240"/>
          </a:xfrm>
          <a:prstGeom prst="rect">
            <a:avLst/>
          </a:prstGeom>
          <a:solidFill>
            <a:schemeClr val="bg1"/>
          </a:solidFill>
        </p:spPr>
        <p:txBody>
          <a:bodyPr vert="horz" wrap="square" lIns="0" tIns="0" rIns="0" bIns="0" rtlCol="0" anchor="ctr">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100000"/>
              </a:lnSpc>
              <a:spcBef>
                <a:spcPts val="0"/>
              </a:spcBef>
              <a:buNone/>
            </a:pPr>
            <a:r>
              <a:rPr lang="en-AU" sz="1600" b="1" dirty="0">
                <a:solidFill>
                  <a:srgbClr val="584099"/>
                </a:solidFill>
                <a:latin typeface="Arial"/>
                <a:ea typeface="Arial"/>
                <a:cs typeface="Arial"/>
              </a:rPr>
              <a:t>Parents and Carers · Primary · Session 5</a:t>
            </a:r>
          </a:p>
          <a:p>
            <a:pPr marL="0" indent="0" algn="l">
              <a:lnSpc>
                <a:spcPct val="95000"/>
              </a:lnSpc>
              <a:spcBef>
                <a:spcPts val="1000"/>
              </a:spcBef>
              <a:buNone/>
            </a:pPr>
            <a:r>
              <a:rPr lang="en-AU" sz="3600" b="0" dirty="0">
                <a:solidFill>
                  <a:srgbClr val="584099"/>
                </a:solidFill>
                <a:latin typeface="Arial Black"/>
                <a:ea typeface="Arial Black"/>
                <a:cs typeface="Arial Black"/>
              </a:rPr>
              <a:t>Partnership with the School</a:t>
            </a:r>
          </a:p>
        </p:txBody>
      </p:sp>
    </p:spTree>
    <p:custDataLst>
      <p:tags r:id="rId1"/>
    </p:custDataLst>
    <p:extLst>
      <p:ext uri="{BB962C8B-B14F-4D97-AF65-F5344CB8AC3E}">
        <p14:creationId xmlns:p14="http://schemas.microsoft.com/office/powerpoint/2010/main" val="2715102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382F8-452B-88C6-A84D-650D7D2C348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5A4E05F-DA50-6B99-BED1-648587EBB414}"/>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Working in partnership</a:t>
            </a:r>
          </a:p>
        </p:txBody>
      </p:sp>
      <p:sp>
        <p:nvSpPr>
          <p:cNvPr id="6" name="Oval 5"/>
          <p:cNvSpPr/>
          <p:nvPr/>
        </p:nvSpPr>
        <p:spPr>
          <a:xfrm>
            <a:off x="109728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7" name="TextBox 6"/>
          <p:cNvSpPr txBox="1"/>
          <p:nvPr/>
        </p:nvSpPr>
        <p:spPr>
          <a:xfrm>
            <a:off x="123444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Family</a:t>
            </a:r>
          </a:p>
        </p:txBody>
      </p:sp>
      <p:sp>
        <p:nvSpPr>
          <p:cNvPr id="8" name="Oval 7"/>
          <p:cNvSpPr/>
          <p:nvPr/>
        </p:nvSpPr>
        <p:spPr>
          <a:xfrm>
            <a:off x="2834640" y="173736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9" name="TextBox 8"/>
          <p:cNvSpPr txBox="1"/>
          <p:nvPr/>
        </p:nvSpPr>
        <p:spPr>
          <a:xfrm>
            <a:off x="3611880" y="297180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School staff</a:t>
            </a:r>
          </a:p>
        </p:txBody>
      </p:sp>
      <p:sp>
        <p:nvSpPr>
          <p:cNvPr id="10" name="Oval 9"/>
          <p:cNvSpPr/>
          <p:nvPr/>
        </p:nvSpPr>
        <p:spPr>
          <a:xfrm>
            <a:off x="1965960" y="3154680"/>
            <a:ext cx="3200400" cy="3200400"/>
          </a:xfrm>
          <a:prstGeom prst="ellipse">
            <a:avLst/>
          </a:prstGeom>
          <a:solidFill>
            <a:srgbClr val="C9BCE0">
              <a:alpha val="45000"/>
            </a:srgbClr>
          </a:solidFill>
          <a:ln w="19050">
            <a:solidFill>
              <a:srgbClr val="584099"/>
            </a:solidFill>
          </a:ln>
        </p:spPr>
        <p:txBody>
          <a:bodyPr rtlCol="0" anchor="ctr"/>
          <a:lstStyle/>
          <a:p>
            <a:pPr algn="ctr"/>
            <a:endParaRPr/>
          </a:p>
        </p:txBody>
      </p:sp>
      <p:sp>
        <p:nvSpPr>
          <p:cNvPr id="11" name="TextBox 10"/>
          <p:cNvSpPr txBox="1"/>
          <p:nvPr/>
        </p:nvSpPr>
        <p:spPr>
          <a:xfrm>
            <a:off x="2377440" y="5303520"/>
            <a:ext cx="2377440" cy="411480"/>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3D2A6B"/>
                </a:solidFill>
                <a:latin typeface="Arial"/>
                <a:ea typeface="Arial"/>
                <a:cs typeface="Arial"/>
              </a:rPr>
              <a:t>Support staff</a:t>
            </a:r>
          </a:p>
        </p:txBody>
      </p:sp>
      <p:sp>
        <p:nvSpPr>
          <p:cNvPr id="12" name="Oval 11"/>
          <p:cNvSpPr/>
          <p:nvPr/>
        </p:nvSpPr>
        <p:spPr>
          <a:xfrm>
            <a:off x="2890311" y="3337560"/>
            <a:ext cx="1316736" cy="640080"/>
          </a:xfrm>
          <a:prstGeom prst="ellipse">
            <a:avLst/>
          </a:prstGeom>
          <a:solidFill>
            <a:srgbClr val="584099"/>
          </a:solidFill>
          <a:ln>
            <a:noFill/>
          </a:ln>
        </p:spPr>
        <p:txBody>
          <a:bodyPr rtlCol="0" anchor="ctr"/>
          <a:lstStyle/>
          <a:p>
            <a:pPr algn="ctr"/>
            <a:endParaRPr/>
          </a:p>
        </p:txBody>
      </p:sp>
      <p:sp>
        <p:nvSpPr>
          <p:cNvPr id="14" name="Rounded Rectangle 13"/>
          <p:cNvSpPr/>
          <p:nvPr/>
        </p:nvSpPr>
        <p:spPr>
          <a:xfrm>
            <a:off x="6949440" y="1920240"/>
            <a:ext cx="4556455" cy="3291840"/>
          </a:xfrm>
          <a:prstGeom prst="roundRect">
            <a:avLst>
              <a:gd name="adj" fmla="val 8000"/>
            </a:avLst>
          </a:prstGeom>
          <a:solidFill>
            <a:srgbClr val="F3F0FA"/>
          </a:solidFill>
          <a:ln>
            <a:noFill/>
          </a:ln>
        </p:spPr>
        <p:txBody>
          <a:bodyPr rtlCol="0" anchor="ctr"/>
          <a:lstStyle/>
          <a:p>
            <a:pPr algn="ctr"/>
            <a:endParaRPr/>
          </a:p>
        </p:txBody>
      </p:sp>
      <p:pic>
        <p:nvPicPr>
          <p:cNvPr id="15"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69480" y="2240280"/>
            <a:ext cx="658368" cy="658368"/>
          </a:xfrm>
          <a:prstGeom prst="rect">
            <a:avLst/>
          </a:prstGeom>
        </p:spPr>
      </p:pic>
      <p:sp>
        <p:nvSpPr>
          <p:cNvPr id="16" name="TextBox 15"/>
          <p:cNvSpPr txBox="1"/>
          <p:nvPr/>
        </p:nvSpPr>
        <p:spPr>
          <a:xfrm>
            <a:off x="7269480" y="3017520"/>
            <a:ext cx="3931920" cy="2011680"/>
          </a:xfrm>
          <a:prstGeom prst="rect">
            <a:avLst/>
          </a:prstGeom>
          <a:noFill/>
        </p:spPr>
        <p:txBody>
          <a:bodyPr wrap="square" lIns="0" tIns="0" rIns="0" bIns="0" anchor="t">
            <a:noAutofit/>
          </a:bodyPr>
          <a:lstStyle/>
          <a:p>
            <a:pPr marL="0" indent="0" algn="l">
              <a:lnSpc>
                <a:spcPct val="105000"/>
              </a:lnSpc>
              <a:spcBef>
                <a:spcPts val="0"/>
              </a:spcBef>
              <a:buNone/>
            </a:pPr>
            <a:r>
              <a:rPr lang="en-AU" sz="2200" b="1">
                <a:solidFill>
                  <a:srgbClr val="3D2A6B"/>
                </a:solidFill>
                <a:latin typeface="Arial"/>
                <a:ea typeface="Arial"/>
                <a:cs typeface="Arial"/>
              </a:rPr>
              <a:t>What is the goal of these intersecting partnerships?</a:t>
            </a:r>
          </a:p>
          <a:p>
            <a:pPr marL="0" indent="0" algn="l">
              <a:lnSpc>
                <a:spcPct val="100000"/>
              </a:lnSpc>
              <a:spcBef>
                <a:spcPts val="1200"/>
              </a:spcBef>
              <a:buNone/>
            </a:pPr>
            <a:r>
              <a:rPr lang="en-AU" sz="1600" b="0">
                <a:solidFill>
                  <a:srgbClr val="2D2440"/>
                </a:solidFill>
                <a:latin typeface="Arial"/>
                <a:ea typeface="Arial"/>
                <a:cs typeface="Arial"/>
              </a:rPr>
              <a:t>Every partner brings different knowledge and a different relationship with your child.</a:t>
            </a:r>
          </a:p>
          <a:p>
            <a:pPr marL="0" indent="0" algn="l">
              <a:lnSpc>
                <a:spcPct val="100000"/>
              </a:lnSpc>
              <a:spcBef>
                <a:spcPts val="1200"/>
              </a:spcBef>
              <a:buNone/>
            </a:pPr>
            <a:r>
              <a:rPr lang="en-AU" sz="1600" b="1">
                <a:solidFill>
                  <a:srgbClr val="584099"/>
                </a:solidFill>
                <a:latin typeface="Arial"/>
                <a:ea typeface="Arial"/>
                <a:cs typeface="Arial"/>
              </a:rPr>
              <a:t>Your child is at the centre of every partnership.</a:t>
            </a:r>
          </a:p>
        </p:txBody>
      </p:sp>
      <p:sp>
        <p:nvSpPr>
          <p:cNvPr id="2" name="TextBox 1">
            <a:extLst>
              <a:ext uri="{FF2B5EF4-FFF2-40B4-BE49-F238E27FC236}">
                <a16:creationId xmlns:a16="http://schemas.microsoft.com/office/drawing/2014/main" id="{C758B936-5435-16D0-6819-E05EF9A278A0}"/>
              </a:ext>
            </a:extLst>
          </p:cNvPr>
          <p:cNvSpPr txBox="1"/>
          <p:nvPr/>
        </p:nvSpPr>
        <p:spPr>
          <a:xfrm>
            <a:off x="2743200" y="3322768"/>
            <a:ext cx="1645920" cy="640080"/>
          </a:xfrm>
          <a:prstGeom prst="rect">
            <a:avLst/>
          </a:prstGeom>
          <a:noFill/>
        </p:spPr>
        <p:txBody>
          <a:bodyPr wrap="square" lIns="0" tIns="0" rIns="0" bIns="0" anchor="ctr">
            <a:noAutofit/>
          </a:bodyPr>
          <a:lstStyle/>
          <a:p>
            <a:pPr marL="0" indent="0" algn="ctr">
              <a:lnSpc>
                <a:spcPct val="100000"/>
              </a:lnSpc>
              <a:spcBef>
                <a:spcPts val="0"/>
              </a:spcBef>
              <a:buNone/>
            </a:pPr>
            <a:r>
              <a:rPr lang="en-AU" sz="1700" b="0">
                <a:solidFill>
                  <a:srgbClr val="FFFFFF"/>
                </a:solidFill>
                <a:latin typeface="Arial Black"/>
                <a:ea typeface="Arial Black"/>
                <a:cs typeface="Arial Black"/>
              </a:rPr>
              <a:t>Your child</a:t>
            </a:r>
          </a:p>
        </p:txBody>
      </p:sp>
    </p:spTree>
    <p:extLst>
      <p:ext uri="{BB962C8B-B14F-4D97-AF65-F5344CB8AC3E}">
        <p14:creationId xmlns:p14="http://schemas.microsoft.com/office/powerpoint/2010/main" val="1040241880"/>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72A71-DB4E-97BC-3132-9E28665CA63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EB504D76-083F-2200-C970-1C646DB25B35}"/>
              </a:ext>
            </a:extLst>
          </p:cNvPr>
          <p:cNvSpPr txBox="1"/>
          <p:nvPr/>
        </p:nvSpPr>
        <p:spPr>
          <a:xfrm>
            <a:off x="685800" y="457200"/>
            <a:ext cx="5445106" cy="1188720"/>
          </a:xfrm>
          <a:prstGeom prst="rect">
            <a:avLst/>
          </a:prstGeom>
          <a:solidFill>
            <a:schemeClr val="bg1"/>
          </a:solidFill>
        </p:spPr>
        <p:txBody>
          <a:bodyPr wrap="square" lIns="0" tIns="0" rIns="0" bIns="0" rtlCol="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Building a home-school partnership</a:t>
            </a:r>
          </a:p>
        </p:txBody>
      </p:sp>
      <p:pic>
        <p:nvPicPr>
          <p:cNvPr id="7" name="Picture 6">
            <a:extLst>
              <a:ext uri="{FF2B5EF4-FFF2-40B4-BE49-F238E27FC236}">
                <a16:creationId xmlns:a16="http://schemas.microsoft.com/office/drawing/2014/main" id="{5C0225A2-F084-EEFE-AA8A-46A192737F61}"/>
              </a:ext>
            </a:extLst>
          </p:cNvPr>
          <p:cNvPicPr>
            <a:picLocks noChangeAspect="1"/>
          </p:cNvPicPr>
          <p:nvPr/>
        </p:nvPicPr>
        <p:blipFill>
          <a:blip r:embed="rId3">
            <a:extLst>
              <a:ext uri="{28A0092B-C50C-407E-A947-70E740481C1C}">
                <a14:useLocalDpi xmlns:a14="http://schemas.microsoft.com/office/drawing/2010/main" val="0"/>
              </a:ext>
            </a:extLst>
          </a:blip>
          <a:srcRect l="3919" r="29143"/>
          <a:stretch>
            <a:fillRect/>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783080"/>
            <a:ext cx="5353666" cy="603504"/>
          </a:xfrm>
          <a:prstGeom prst="roundRect">
            <a:avLst>
              <a:gd name="adj" fmla="val 25000"/>
            </a:avLst>
          </a:prstGeom>
          <a:solidFill>
            <a:srgbClr val="F3F0FA"/>
          </a:solidFill>
          <a:ln>
            <a:noFill/>
          </a:ln>
        </p:spPr>
        <p:txBody>
          <a:bodyPr rtlCol="0" anchor="ctr"/>
          <a:lstStyle/>
          <a:p>
            <a:pPr algn="ctr"/>
            <a:endParaRPr/>
          </a:p>
        </p:txBody>
      </p:sp>
      <p:sp>
        <p:nvSpPr>
          <p:cNvPr id="10" name="TextBox 9"/>
          <p:cNvSpPr txBox="1"/>
          <p:nvPr/>
        </p:nvSpPr>
        <p:spPr>
          <a:xfrm>
            <a:off x="960120" y="178308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Parents and families are the first and continuing educators of their children</a:t>
            </a:r>
          </a:p>
        </p:txBody>
      </p:sp>
      <p:sp>
        <p:nvSpPr>
          <p:cNvPr id="11" name="Rounded Rectangle 10"/>
          <p:cNvSpPr/>
          <p:nvPr/>
        </p:nvSpPr>
        <p:spPr>
          <a:xfrm>
            <a:off x="685800" y="2478024"/>
            <a:ext cx="5353666" cy="603504"/>
          </a:xfrm>
          <a:prstGeom prst="roundRect">
            <a:avLst>
              <a:gd name="adj" fmla="val 25000"/>
            </a:avLst>
          </a:prstGeom>
          <a:solidFill>
            <a:srgbClr val="F3F0FA"/>
          </a:solidFill>
          <a:ln>
            <a:noFill/>
          </a:ln>
        </p:spPr>
        <p:txBody>
          <a:bodyPr rtlCol="0" anchor="ctr"/>
          <a:lstStyle/>
          <a:p>
            <a:pPr algn="ctr"/>
            <a:endParaRPr/>
          </a:p>
        </p:txBody>
      </p:sp>
      <p:sp>
        <p:nvSpPr>
          <p:cNvPr id="12" name="TextBox 11"/>
          <p:cNvSpPr txBox="1"/>
          <p:nvPr/>
        </p:nvSpPr>
        <p:spPr>
          <a:xfrm>
            <a:off x="960120" y="2478024"/>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Learning is lifelong and occurs in multiple settings</a:t>
            </a:r>
          </a:p>
        </p:txBody>
      </p:sp>
      <p:sp>
        <p:nvSpPr>
          <p:cNvPr id="13" name="Rounded Rectangle 12"/>
          <p:cNvSpPr/>
          <p:nvPr/>
        </p:nvSpPr>
        <p:spPr>
          <a:xfrm>
            <a:off x="685800" y="3172968"/>
            <a:ext cx="5353666" cy="603504"/>
          </a:xfrm>
          <a:prstGeom prst="roundRect">
            <a:avLst>
              <a:gd name="adj" fmla="val 25000"/>
            </a:avLst>
          </a:prstGeom>
          <a:solidFill>
            <a:srgbClr val="F3F0FA"/>
          </a:solidFill>
          <a:ln>
            <a:noFill/>
          </a:ln>
        </p:spPr>
        <p:txBody>
          <a:bodyPr rtlCol="0" anchor="ctr"/>
          <a:lstStyle/>
          <a:p>
            <a:pPr algn="ctr"/>
            <a:endParaRPr/>
          </a:p>
        </p:txBody>
      </p:sp>
      <p:sp>
        <p:nvSpPr>
          <p:cNvPr id="14" name="TextBox 13"/>
          <p:cNvSpPr txBox="1"/>
          <p:nvPr/>
        </p:nvSpPr>
        <p:spPr>
          <a:xfrm>
            <a:off x="960120" y="3172968"/>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schools and school communities flourish when the diversity and strengths of families are valued and leveraged</a:t>
            </a:r>
          </a:p>
        </p:txBody>
      </p:sp>
      <p:sp>
        <p:nvSpPr>
          <p:cNvPr id="15" name="Rounded Rectangle 14"/>
          <p:cNvSpPr/>
          <p:nvPr/>
        </p:nvSpPr>
        <p:spPr>
          <a:xfrm>
            <a:off x="685800" y="3867912"/>
            <a:ext cx="5353666" cy="603504"/>
          </a:xfrm>
          <a:prstGeom prst="roundRect">
            <a:avLst>
              <a:gd name="adj" fmla="val 25000"/>
            </a:avLst>
          </a:prstGeom>
          <a:solidFill>
            <a:srgbClr val="F3F0FA"/>
          </a:solidFill>
          <a:ln>
            <a:noFill/>
          </a:ln>
        </p:spPr>
        <p:txBody>
          <a:bodyPr rtlCol="0" anchor="ctr"/>
          <a:lstStyle/>
          <a:p>
            <a:pPr algn="ctr"/>
            <a:endParaRPr/>
          </a:p>
        </p:txBody>
      </p:sp>
      <p:sp>
        <p:nvSpPr>
          <p:cNvPr id="16" name="TextBox 15"/>
          <p:cNvSpPr txBox="1"/>
          <p:nvPr/>
        </p:nvSpPr>
        <p:spPr>
          <a:xfrm>
            <a:off x="960120" y="3867912"/>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Community engagement expands responsibility and resources</a:t>
            </a:r>
          </a:p>
        </p:txBody>
      </p:sp>
      <p:sp>
        <p:nvSpPr>
          <p:cNvPr id="17" name="Rounded Rectangle 16"/>
          <p:cNvSpPr/>
          <p:nvPr/>
        </p:nvSpPr>
        <p:spPr>
          <a:xfrm>
            <a:off x="685800" y="4562856"/>
            <a:ext cx="5353666" cy="603504"/>
          </a:xfrm>
          <a:prstGeom prst="roundRect">
            <a:avLst>
              <a:gd name="adj" fmla="val 25000"/>
            </a:avLst>
          </a:prstGeom>
          <a:solidFill>
            <a:srgbClr val="F3F0FA"/>
          </a:solidFill>
          <a:ln>
            <a:noFill/>
          </a:ln>
        </p:spPr>
        <p:txBody>
          <a:bodyPr rtlCol="0" anchor="ctr"/>
          <a:lstStyle/>
          <a:p>
            <a:pPr algn="ctr"/>
            <a:endParaRPr/>
          </a:p>
        </p:txBody>
      </p:sp>
      <p:sp>
        <p:nvSpPr>
          <p:cNvPr id="18" name="TextBox 17"/>
          <p:cNvSpPr txBox="1"/>
          <p:nvPr/>
        </p:nvSpPr>
        <p:spPr>
          <a:xfrm>
            <a:off x="960120" y="4562856"/>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grow from mutual trust, respect and responsibility</a:t>
            </a:r>
          </a:p>
        </p:txBody>
      </p:sp>
      <p:sp>
        <p:nvSpPr>
          <p:cNvPr id="19" name="Rounded Rectangle 18"/>
          <p:cNvSpPr/>
          <p:nvPr/>
        </p:nvSpPr>
        <p:spPr>
          <a:xfrm>
            <a:off x="685800" y="5257800"/>
            <a:ext cx="5353666" cy="603504"/>
          </a:xfrm>
          <a:prstGeom prst="roundRect">
            <a:avLst>
              <a:gd name="adj" fmla="val 25000"/>
            </a:avLst>
          </a:prstGeom>
          <a:solidFill>
            <a:srgbClr val="F3F0FA"/>
          </a:solidFill>
          <a:ln>
            <a:noFill/>
          </a:ln>
        </p:spPr>
        <p:txBody>
          <a:bodyPr rtlCol="0" anchor="ctr"/>
          <a:lstStyle/>
          <a:p>
            <a:pPr algn="ctr"/>
            <a:endParaRPr/>
          </a:p>
        </p:txBody>
      </p:sp>
      <p:sp>
        <p:nvSpPr>
          <p:cNvPr id="20" name="TextBox 19"/>
          <p:cNvSpPr txBox="1"/>
          <p:nvPr/>
        </p:nvSpPr>
        <p:spPr>
          <a:xfrm>
            <a:off x="960120" y="5257800"/>
            <a:ext cx="4896466" cy="603504"/>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Partnerships need committed, collaborative and creative leadership</a:t>
            </a:r>
          </a:p>
        </p:txBody>
      </p:sp>
      <p:sp>
        <p:nvSpPr>
          <p:cNvPr id="21" name="TextBox 20"/>
          <p:cNvSpPr txBox="1"/>
          <p:nvPr/>
        </p:nvSpPr>
        <p:spPr>
          <a:xfrm>
            <a:off x="685800" y="5998464"/>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100" b="0">
                <a:solidFill>
                  <a:srgbClr val="5B5670"/>
                </a:solidFill>
                <a:latin typeface="Arial"/>
                <a:ea typeface="Arial"/>
                <a:cs typeface="Arial"/>
              </a:rPr>
              <a:t>Family-School Partnerships Framework, Department of Education, 2020</a:t>
            </a:r>
          </a:p>
        </p:txBody>
      </p:sp>
    </p:spTree>
    <p:extLst>
      <p:ext uri="{BB962C8B-B14F-4D97-AF65-F5344CB8AC3E}">
        <p14:creationId xmlns:p14="http://schemas.microsoft.com/office/powerpoint/2010/main" val="5897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244D-510C-C6BB-761F-A461E115D58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867876DD-2B34-7063-87FE-E7FB353BEA9D}"/>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What is effective collaboration?</a:t>
            </a:r>
          </a:p>
        </p:txBody>
      </p:sp>
      <p:pic>
        <p:nvPicPr>
          <p:cNvPr id="3" name="Graphic 2" descr="Open hand with plant with solid fill">
            <a:extLst>
              <a:ext uri="{FF2B5EF4-FFF2-40B4-BE49-F238E27FC236}">
                <a16:creationId xmlns:a16="http://schemas.microsoft.com/office/drawing/2014/main" id="{3100122F-92D3-EF73-C7AD-7DFAAD7A4BF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32808" y="2148840"/>
            <a:ext cx="2926080" cy="2926080"/>
          </a:xfrm>
          <a:prstGeom prst="rect">
            <a:avLst/>
          </a:prstGeom>
        </p:spPr>
      </p:pic>
      <p:sp>
        <p:nvSpPr>
          <p:cNvPr id="23" name="Rounded Rectangle 22"/>
          <p:cNvSpPr/>
          <p:nvPr/>
        </p:nvSpPr>
        <p:spPr>
          <a:xfrm>
            <a:off x="685800"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24" name="TextBox 23"/>
          <p:cNvSpPr txBox="1"/>
          <p:nvPr/>
        </p:nvSpPr>
        <p:spPr>
          <a:xfrm>
            <a:off x="960120"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goals</a:t>
            </a:r>
          </a:p>
        </p:txBody>
      </p:sp>
      <p:sp>
        <p:nvSpPr>
          <p:cNvPr id="25" name="Rounded Rectangle 24"/>
          <p:cNvSpPr/>
          <p:nvPr/>
        </p:nvSpPr>
        <p:spPr>
          <a:xfrm>
            <a:off x="685800" y="2624328"/>
            <a:ext cx="3931920" cy="731520"/>
          </a:xfrm>
          <a:prstGeom prst="roundRect">
            <a:avLst>
              <a:gd name="adj" fmla="val 25000"/>
            </a:avLst>
          </a:prstGeom>
          <a:solidFill>
            <a:srgbClr val="F3F0FA"/>
          </a:solidFill>
          <a:ln>
            <a:noFill/>
          </a:ln>
        </p:spPr>
        <p:txBody>
          <a:bodyPr rtlCol="0" anchor="ctr"/>
          <a:lstStyle/>
          <a:p>
            <a:pPr algn="ctr"/>
            <a:endParaRPr/>
          </a:p>
        </p:txBody>
      </p:sp>
      <p:sp>
        <p:nvSpPr>
          <p:cNvPr id="26" name="TextBox 25"/>
          <p:cNvSpPr txBox="1"/>
          <p:nvPr/>
        </p:nvSpPr>
        <p:spPr>
          <a:xfrm>
            <a:off x="960120" y="2624328"/>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Shared values</a:t>
            </a:r>
          </a:p>
        </p:txBody>
      </p:sp>
      <p:sp>
        <p:nvSpPr>
          <p:cNvPr id="27" name="Rounded Rectangle 26"/>
          <p:cNvSpPr/>
          <p:nvPr/>
        </p:nvSpPr>
        <p:spPr>
          <a:xfrm>
            <a:off x="685800" y="3511296"/>
            <a:ext cx="3931920" cy="731520"/>
          </a:xfrm>
          <a:prstGeom prst="roundRect">
            <a:avLst>
              <a:gd name="adj" fmla="val 25000"/>
            </a:avLst>
          </a:prstGeom>
          <a:solidFill>
            <a:srgbClr val="F3F0FA"/>
          </a:solidFill>
          <a:ln>
            <a:noFill/>
          </a:ln>
        </p:spPr>
        <p:txBody>
          <a:bodyPr rtlCol="0" anchor="ctr"/>
          <a:lstStyle/>
          <a:p>
            <a:pPr algn="ctr"/>
            <a:endParaRPr/>
          </a:p>
        </p:txBody>
      </p:sp>
      <p:sp>
        <p:nvSpPr>
          <p:cNvPr id="28" name="TextBox 27"/>
          <p:cNvSpPr txBox="1"/>
          <p:nvPr/>
        </p:nvSpPr>
        <p:spPr>
          <a:xfrm>
            <a:off x="960120" y="351129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Mutual trust and respect</a:t>
            </a:r>
          </a:p>
        </p:txBody>
      </p:sp>
      <p:sp>
        <p:nvSpPr>
          <p:cNvPr id="29" name="Rounded Rectangle 28"/>
          <p:cNvSpPr/>
          <p:nvPr/>
        </p:nvSpPr>
        <p:spPr>
          <a:xfrm>
            <a:off x="685800" y="4398264"/>
            <a:ext cx="3931920" cy="731520"/>
          </a:xfrm>
          <a:prstGeom prst="roundRect">
            <a:avLst>
              <a:gd name="adj" fmla="val 25000"/>
            </a:avLst>
          </a:prstGeom>
          <a:solidFill>
            <a:srgbClr val="F3F0FA"/>
          </a:solidFill>
          <a:ln>
            <a:noFill/>
          </a:ln>
        </p:spPr>
        <p:txBody>
          <a:bodyPr rtlCol="0" anchor="ctr"/>
          <a:lstStyle/>
          <a:p>
            <a:pPr algn="ctr"/>
            <a:endParaRPr/>
          </a:p>
        </p:txBody>
      </p:sp>
      <p:sp>
        <p:nvSpPr>
          <p:cNvPr id="30" name="TextBox 29"/>
          <p:cNvSpPr txBox="1"/>
          <p:nvPr/>
        </p:nvSpPr>
        <p:spPr>
          <a:xfrm>
            <a:off x="960120" y="439826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Consult on decision-making</a:t>
            </a:r>
          </a:p>
        </p:txBody>
      </p:sp>
      <p:sp>
        <p:nvSpPr>
          <p:cNvPr id="31" name="Rounded Rectangle 30"/>
          <p:cNvSpPr/>
          <p:nvPr/>
        </p:nvSpPr>
        <p:spPr>
          <a:xfrm>
            <a:off x="7573975" y="1737360"/>
            <a:ext cx="3931920" cy="731520"/>
          </a:xfrm>
          <a:prstGeom prst="roundRect">
            <a:avLst>
              <a:gd name="adj" fmla="val 25000"/>
            </a:avLst>
          </a:prstGeom>
          <a:solidFill>
            <a:srgbClr val="F3F0FA"/>
          </a:solidFill>
          <a:ln>
            <a:noFill/>
          </a:ln>
        </p:spPr>
        <p:txBody>
          <a:bodyPr rtlCol="0" anchor="ctr"/>
          <a:lstStyle/>
          <a:p>
            <a:pPr algn="ctr"/>
            <a:endParaRPr/>
          </a:p>
        </p:txBody>
      </p:sp>
      <p:sp>
        <p:nvSpPr>
          <p:cNvPr id="32" name="TextBox 31"/>
          <p:cNvSpPr txBox="1"/>
          <p:nvPr/>
        </p:nvSpPr>
        <p:spPr>
          <a:xfrm>
            <a:off x="7848295" y="1737360"/>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Seeing other perspectives</a:t>
            </a:r>
          </a:p>
        </p:txBody>
      </p:sp>
      <p:sp>
        <p:nvSpPr>
          <p:cNvPr id="33" name="Rounded Rectangle 32"/>
          <p:cNvSpPr/>
          <p:nvPr/>
        </p:nvSpPr>
        <p:spPr>
          <a:xfrm>
            <a:off x="7573975" y="2624328"/>
            <a:ext cx="3931920" cy="914400"/>
          </a:xfrm>
          <a:prstGeom prst="roundRect">
            <a:avLst>
              <a:gd name="adj" fmla="val 25000"/>
            </a:avLst>
          </a:prstGeom>
          <a:solidFill>
            <a:srgbClr val="F3F0FA"/>
          </a:solidFill>
          <a:ln>
            <a:noFill/>
          </a:ln>
        </p:spPr>
        <p:txBody>
          <a:bodyPr rtlCol="0" anchor="ctr"/>
          <a:lstStyle/>
          <a:p>
            <a:pPr algn="ctr"/>
            <a:endParaRPr/>
          </a:p>
        </p:txBody>
      </p:sp>
      <p:sp>
        <p:nvSpPr>
          <p:cNvPr id="34" name="TextBox 33"/>
          <p:cNvSpPr txBox="1"/>
          <p:nvPr/>
        </p:nvSpPr>
        <p:spPr>
          <a:xfrm>
            <a:off x="7848295" y="2624328"/>
            <a:ext cx="3383280" cy="914400"/>
          </a:xfrm>
          <a:prstGeom prst="rect">
            <a:avLst/>
          </a:prstGeom>
          <a:noFill/>
        </p:spPr>
        <p:txBody>
          <a:bodyPr wrap="square" lIns="0" tIns="0" rIns="0" bIns="0" anchor="ctr">
            <a:noAutofit/>
          </a:bodyPr>
          <a:lstStyle/>
          <a:p>
            <a:pPr marL="0" indent="0" algn="l">
              <a:lnSpc>
                <a:spcPct val="100000"/>
              </a:lnSpc>
              <a:spcBef>
                <a:spcPts val="0"/>
              </a:spcBef>
              <a:buNone/>
            </a:pPr>
            <a:r>
              <a:rPr lang="en-AU" sz="1700" b="1">
                <a:solidFill>
                  <a:srgbClr val="3D2A6B"/>
                </a:solidFill>
                <a:latin typeface="Arial"/>
                <a:ea typeface="Arial"/>
                <a:cs typeface="Arial"/>
              </a:rPr>
              <a:t>Invite curiosity: How could we work together so school goes well for my child?</a:t>
            </a:r>
          </a:p>
        </p:txBody>
      </p:sp>
      <p:sp>
        <p:nvSpPr>
          <p:cNvPr id="35" name="Rounded Rectangle 34"/>
          <p:cNvSpPr/>
          <p:nvPr/>
        </p:nvSpPr>
        <p:spPr>
          <a:xfrm>
            <a:off x="7573975" y="3694176"/>
            <a:ext cx="3931920" cy="731520"/>
          </a:xfrm>
          <a:prstGeom prst="roundRect">
            <a:avLst>
              <a:gd name="adj" fmla="val 25000"/>
            </a:avLst>
          </a:prstGeom>
          <a:solidFill>
            <a:srgbClr val="F3F0FA"/>
          </a:solidFill>
          <a:ln>
            <a:noFill/>
          </a:ln>
        </p:spPr>
        <p:txBody>
          <a:bodyPr rtlCol="0" anchor="ctr"/>
          <a:lstStyle/>
          <a:p>
            <a:pPr algn="ctr"/>
            <a:endParaRPr/>
          </a:p>
        </p:txBody>
      </p:sp>
      <p:sp>
        <p:nvSpPr>
          <p:cNvPr id="36" name="TextBox 35"/>
          <p:cNvSpPr txBox="1"/>
          <p:nvPr/>
        </p:nvSpPr>
        <p:spPr>
          <a:xfrm>
            <a:off x="7848295" y="3694176"/>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Centring your child’s voice</a:t>
            </a:r>
          </a:p>
        </p:txBody>
      </p:sp>
      <p:sp>
        <p:nvSpPr>
          <p:cNvPr id="37" name="Rounded Rectangle 36"/>
          <p:cNvSpPr/>
          <p:nvPr/>
        </p:nvSpPr>
        <p:spPr>
          <a:xfrm>
            <a:off x="7573975" y="4581144"/>
            <a:ext cx="3931920" cy="731520"/>
          </a:xfrm>
          <a:prstGeom prst="roundRect">
            <a:avLst>
              <a:gd name="adj" fmla="val 25000"/>
            </a:avLst>
          </a:prstGeom>
          <a:solidFill>
            <a:srgbClr val="F3F0FA"/>
          </a:solidFill>
          <a:ln>
            <a:noFill/>
          </a:ln>
        </p:spPr>
        <p:txBody>
          <a:bodyPr rtlCol="0" anchor="ctr"/>
          <a:lstStyle/>
          <a:p>
            <a:pPr algn="ctr"/>
            <a:endParaRPr/>
          </a:p>
        </p:txBody>
      </p:sp>
      <p:sp>
        <p:nvSpPr>
          <p:cNvPr id="38" name="TextBox 37"/>
          <p:cNvSpPr txBox="1"/>
          <p:nvPr/>
        </p:nvSpPr>
        <p:spPr>
          <a:xfrm>
            <a:off x="7848295" y="4581144"/>
            <a:ext cx="3383280" cy="7315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Assume good intent</a:t>
            </a:r>
          </a:p>
        </p:txBody>
      </p:sp>
    </p:spTree>
    <p:extLst>
      <p:ext uri="{BB962C8B-B14F-4D97-AF65-F5344CB8AC3E}">
        <p14:creationId xmlns:p14="http://schemas.microsoft.com/office/powerpoint/2010/main" val="2825758316"/>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40FC69C-54F3-05A7-B346-4E036CA9F2D3}"/>
              </a:ext>
            </a:extLst>
          </p:cNvPr>
          <p:cNvPicPr>
            <a:picLocks noChangeAspect="1"/>
          </p:cNvPicPr>
          <p:nvPr/>
        </p:nvPicPr>
        <p:blipFill>
          <a:blip r:embed="rId4"/>
          <a:stretch>
            <a:fillRect/>
          </a:stretch>
        </p:blipFill>
        <p:spPr>
          <a:xfrm>
            <a:off x="5078454" y="2003743"/>
            <a:ext cx="6608395" cy="3094461"/>
          </a:xfrm>
          <a:prstGeom prst="rect">
            <a:avLst/>
          </a:prstGeom>
        </p:spPr>
      </p:pic>
      <p:sp>
        <p:nvSpPr>
          <p:cNvPr id="3" name="Title 3">
            <a:extLst>
              <a:ext uri="{FF2B5EF4-FFF2-40B4-BE49-F238E27FC236}">
                <a16:creationId xmlns:a16="http://schemas.microsoft.com/office/drawing/2014/main" id="{017F69A2-4E80-48E0-BDCA-6D087D9DE7AF}"/>
              </a:ext>
            </a:extLst>
          </p:cNvPr>
          <p:cNvSpPr txBox="1">
            <a:spLocks/>
          </p:cNvSpPr>
          <p:nvPr/>
        </p:nvSpPr>
        <p:spPr>
          <a:xfrm>
            <a:off x="685800" y="457200"/>
            <a:ext cx="10789920"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l">
              <a:lnSpc>
                <a:spcPct val="95000"/>
              </a:lnSpc>
              <a:spcBef>
                <a:spcPts val="0"/>
              </a:spcBef>
              <a:buNone/>
            </a:pPr>
            <a:r>
              <a:rPr lang="en-AU" sz="3600" b="0">
                <a:solidFill>
                  <a:srgbClr val="584099"/>
                </a:solidFill>
                <a:latin typeface="Arial Black"/>
                <a:ea typeface="Arial Black"/>
                <a:cs typeface="Arial Black"/>
              </a:rPr>
              <a:t>Power dynamics</a:t>
            </a:r>
          </a:p>
        </p:txBody>
      </p:sp>
      <p:sp>
        <p:nvSpPr>
          <p:cNvPr id="5" name="TextBox 4">
            <a:extLst>
              <a:ext uri="{FF2B5EF4-FFF2-40B4-BE49-F238E27FC236}">
                <a16:creationId xmlns:a16="http://schemas.microsoft.com/office/drawing/2014/main" id="{5C3E7BD3-ACD6-4A5D-B3A7-83716831489D}"/>
              </a:ext>
            </a:extLst>
          </p:cNvPr>
          <p:cNvSpPr txBox="1"/>
          <p:nvPr/>
        </p:nvSpPr>
        <p:spPr>
          <a:xfrm>
            <a:off x="9123426" y="4227460"/>
            <a:ext cx="1887474"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School</a:t>
            </a:r>
          </a:p>
        </p:txBody>
      </p:sp>
      <p:sp>
        <p:nvSpPr>
          <p:cNvPr id="8" name="TextBox 7">
            <a:extLst>
              <a:ext uri="{FF2B5EF4-FFF2-40B4-BE49-F238E27FC236}">
                <a16:creationId xmlns:a16="http://schemas.microsoft.com/office/drawing/2014/main" id="{A39AF474-49DB-4994-9B0B-E907B650A5BE}"/>
              </a:ext>
            </a:extLst>
          </p:cNvPr>
          <p:cNvSpPr txBox="1"/>
          <p:nvPr/>
        </p:nvSpPr>
        <p:spPr>
          <a:xfrm>
            <a:off x="5424419" y="4227461"/>
            <a:ext cx="1751167"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Home</a:t>
            </a:r>
          </a:p>
        </p:txBody>
      </p:sp>
      <p:pic>
        <p:nvPicPr>
          <p:cNvPr id="7" name="Graphic 6" descr="Confused person">
            <a:extLst>
              <a:ext uri="{FF2B5EF4-FFF2-40B4-BE49-F238E27FC236}">
                <a16:creationId xmlns:a16="http://schemas.microsoft.com/office/drawing/2014/main" id="{5436BB0C-EB1E-4C4A-A071-D6F24BFC669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02768" y="2132525"/>
            <a:ext cx="1503427" cy="1418449"/>
          </a:xfrm>
          <a:prstGeom prst="rect">
            <a:avLst/>
          </a:prstGeom>
        </p:spPr>
      </p:pic>
      <p:sp>
        <p:nvSpPr>
          <p:cNvPr id="9" name="TextBox 8">
            <a:extLst>
              <a:ext uri="{FF2B5EF4-FFF2-40B4-BE49-F238E27FC236}">
                <a16:creationId xmlns:a16="http://schemas.microsoft.com/office/drawing/2014/main" id="{FB9EA08C-CE5C-4006-A049-2F14C8C74149}"/>
              </a:ext>
            </a:extLst>
          </p:cNvPr>
          <p:cNvSpPr txBox="1"/>
          <p:nvPr/>
        </p:nvSpPr>
        <p:spPr>
          <a:xfrm>
            <a:off x="7255326" y="1283934"/>
            <a:ext cx="1998309" cy="584775"/>
          </a:xfrm>
          <a:prstGeom prst="rect">
            <a:avLst/>
          </a:prstGeom>
          <a:noFill/>
        </p:spPr>
        <p:txBody>
          <a:bodyPr wrap="square" rtlCol="0">
            <a:spAutoFit/>
          </a:bodyPr>
          <a:lstStyle/>
          <a:p>
            <a:pPr algn="ctr"/>
            <a:r>
              <a:rPr lang="en-AU" sz="2000" b="1">
                <a:solidFill>
                  <a:srgbClr val="3D2A6B"/>
                </a:solidFill>
                <a:latin typeface="Arial Black" panose="020B0A04020102020204" pitchFamily="34" charset="0"/>
                <a:cs typeface="Arial" panose="020B0604020202020204" pitchFamily="34" charset="0"/>
              </a:rPr>
              <a:t>Your child</a:t>
            </a:r>
          </a:p>
        </p:txBody>
      </p:sp>
      <p:sp>
        <p:nvSpPr>
          <p:cNvPr id="11" name="TextBox 10"/>
          <p:cNvSpPr txBox="1"/>
          <p:nvPr/>
        </p:nvSpPr>
        <p:spPr>
          <a:xfrm>
            <a:off x="685800" y="1325880"/>
            <a:ext cx="4206240" cy="457200"/>
          </a:xfrm>
          <a:prstGeom prst="rect">
            <a:avLst/>
          </a:prstGeom>
          <a:noFill/>
        </p:spPr>
        <p:txBody>
          <a:bodyPr wrap="square" lIns="0" tIns="0" rIns="0" bIns="0" anchor="t">
            <a:noAutofit/>
          </a:bodyPr>
          <a:lstStyle/>
          <a:p>
            <a:pPr marL="0" indent="0" algn="l">
              <a:lnSpc>
                <a:spcPct val="100000"/>
              </a:lnSpc>
              <a:spcBef>
                <a:spcPts val="0"/>
              </a:spcBef>
              <a:buNone/>
            </a:pPr>
            <a:r>
              <a:rPr lang="en-AU" sz="2000" b="1">
                <a:solidFill>
                  <a:srgbClr val="3D2A6B"/>
                </a:solidFill>
                <a:latin typeface="Arial"/>
                <a:ea typeface="Arial"/>
                <a:cs typeface="Arial"/>
              </a:rPr>
              <a:t>Power can sit in:</a:t>
            </a:r>
          </a:p>
        </p:txBody>
      </p:sp>
      <p:sp>
        <p:nvSpPr>
          <p:cNvPr id="12" name="Rounded Rectangle 11"/>
          <p:cNvSpPr/>
          <p:nvPr/>
        </p:nvSpPr>
        <p:spPr>
          <a:xfrm>
            <a:off x="685800" y="1874520"/>
            <a:ext cx="4206240" cy="713232"/>
          </a:xfrm>
          <a:prstGeom prst="roundRect">
            <a:avLst>
              <a:gd name="adj" fmla="val 20000"/>
            </a:avLst>
          </a:prstGeom>
          <a:solidFill>
            <a:srgbClr val="F3F0FA"/>
          </a:solidFill>
          <a:ln>
            <a:noFill/>
          </a:ln>
        </p:spPr>
        <p:txBody>
          <a:bodyPr rtlCol="0" anchor="ctr"/>
          <a:lstStyle/>
          <a:p>
            <a:pPr algn="ctr"/>
            <a:endParaRPr/>
          </a:p>
        </p:txBody>
      </p:sp>
      <p:sp>
        <p:nvSpPr>
          <p:cNvPr id="13" name="TextBox 12"/>
          <p:cNvSpPr txBox="1"/>
          <p:nvPr/>
        </p:nvSpPr>
        <p:spPr>
          <a:xfrm>
            <a:off x="960120" y="187452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Socio-economic status</a:t>
            </a:r>
          </a:p>
        </p:txBody>
      </p:sp>
      <p:sp>
        <p:nvSpPr>
          <p:cNvPr id="14" name="Rounded Rectangle 13"/>
          <p:cNvSpPr/>
          <p:nvPr/>
        </p:nvSpPr>
        <p:spPr>
          <a:xfrm>
            <a:off x="685800" y="2697480"/>
            <a:ext cx="4206240" cy="713232"/>
          </a:xfrm>
          <a:prstGeom prst="roundRect">
            <a:avLst>
              <a:gd name="adj" fmla="val 20000"/>
            </a:avLst>
          </a:prstGeom>
          <a:solidFill>
            <a:srgbClr val="F3F0FA"/>
          </a:solidFill>
          <a:ln>
            <a:noFill/>
          </a:ln>
        </p:spPr>
        <p:txBody>
          <a:bodyPr rtlCol="0" anchor="ctr"/>
          <a:lstStyle/>
          <a:p>
            <a:pPr algn="ctr"/>
            <a:endParaRPr/>
          </a:p>
        </p:txBody>
      </p:sp>
      <p:sp>
        <p:nvSpPr>
          <p:cNvPr id="15" name="TextBox 14"/>
          <p:cNvSpPr txBox="1"/>
          <p:nvPr/>
        </p:nvSpPr>
        <p:spPr>
          <a:xfrm>
            <a:off x="960120" y="269748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Historical / cultural experiences of education</a:t>
            </a:r>
          </a:p>
        </p:txBody>
      </p:sp>
      <p:sp>
        <p:nvSpPr>
          <p:cNvPr id="16" name="Rounded Rectangle 15"/>
          <p:cNvSpPr/>
          <p:nvPr/>
        </p:nvSpPr>
        <p:spPr>
          <a:xfrm>
            <a:off x="685800" y="3520440"/>
            <a:ext cx="4206240" cy="713232"/>
          </a:xfrm>
          <a:prstGeom prst="roundRect">
            <a:avLst>
              <a:gd name="adj" fmla="val 20000"/>
            </a:avLst>
          </a:prstGeom>
          <a:solidFill>
            <a:srgbClr val="F3F0FA"/>
          </a:solidFill>
          <a:ln>
            <a:noFill/>
          </a:ln>
        </p:spPr>
        <p:txBody>
          <a:bodyPr rtlCol="0" anchor="ctr"/>
          <a:lstStyle/>
          <a:p>
            <a:pPr algn="ctr"/>
            <a:endParaRPr/>
          </a:p>
        </p:txBody>
      </p:sp>
      <p:sp>
        <p:nvSpPr>
          <p:cNvPr id="17" name="TextBox 16"/>
          <p:cNvSpPr txBox="1"/>
          <p:nvPr/>
        </p:nvSpPr>
        <p:spPr>
          <a:xfrm>
            <a:off x="960120" y="352044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Speaking English vs speaking a language other than English</a:t>
            </a:r>
          </a:p>
        </p:txBody>
      </p:sp>
      <p:sp>
        <p:nvSpPr>
          <p:cNvPr id="18" name="Rounded Rectangle 17"/>
          <p:cNvSpPr/>
          <p:nvPr/>
        </p:nvSpPr>
        <p:spPr>
          <a:xfrm>
            <a:off x="685800" y="4343400"/>
            <a:ext cx="4206240" cy="713232"/>
          </a:xfrm>
          <a:prstGeom prst="roundRect">
            <a:avLst>
              <a:gd name="adj" fmla="val 20000"/>
            </a:avLst>
          </a:prstGeom>
          <a:solidFill>
            <a:srgbClr val="F3F0FA"/>
          </a:solidFill>
          <a:ln>
            <a:noFill/>
          </a:ln>
        </p:spPr>
        <p:txBody>
          <a:bodyPr rtlCol="0" anchor="ctr"/>
          <a:lstStyle/>
          <a:p>
            <a:pPr algn="ctr"/>
            <a:endParaRPr/>
          </a:p>
        </p:txBody>
      </p:sp>
      <p:sp>
        <p:nvSpPr>
          <p:cNvPr id="19" name="TextBox 18"/>
          <p:cNvSpPr txBox="1"/>
          <p:nvPr/>
        </p:nvSpPr>
        <p:spPr>
          <a:xfrm>
            <a:off x="960120" y="434340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How school works: teaching approaches, school systems and curriculum</a:t>
            </a:r>
          </a:p>
        </p:txBody>
      </p:sp>
      <p:sp>
        <p:nvSpPr>
          <p:cNvPr id="20" name="Rounded Rectangle 19"/>
          <p:cNvSpPr/>
          <p:nvPr/>
        </p:nvSpPr>
        <p:spPr>
          <a:xfrm>
            <a:off x="685800" y="5166360"/>
            <a:ext cx="4206240" cy="713232"/>
          </a:xfrm>
          <a:prstGeom prst="roundRect">
            <a:avLst>
              <a:gd name="adj" fmla="val 20000"/>
            </a:avLst>
          </a:prstGeom>
          <a:solidFill>
            <a:srgbClr val="F3F0FA"/>
          </a:solidFill>
          <a:ln>
            <a:noFill/>
          </a:ln>
        </p:spPr>
        <p:txBody>
          <a:bodyPr rtlCol="0" anchor="ctr"/>
          <a:lstStyle/>
          <a:p>
            <a:pPr algn="ctr"/>
            <a:endParaRPr/>
          </a:p>
        </p:txBody>
      </p:sp>
      <p:sp>
        <p:nvSpPr>
          <p:cNvPr id="21" name="TextBox 20"/>
          <p:cNvSpPr txBox="1"/>
          <p:nvPr/>
        </p:nvSpPr>
        <p:spPr>
          <a:xfrm>
            <a:off x="960120" y="5166360"/>
            <a:ext cx="3657600" cy="713232"/>
          </a:xfrm>
          <a:prstGeom prst="rect">
            <a:avLst/>
          </a:prstGeom>
          <a:noFill/>
        </p:spPr>
        <p:txBody>
          <a:bodyPr wrap="square" lIns="0" tIns="0" rIns="0" bIns="0" anchor="ctr">
            <a:noAutofit/>
          </a:bodyPr>
          <a:lstStyle/>
          <a:p>
            <a:pPr marL="0" indent="0" algn="l">
              <a:lnSpc>
                <a:spcPct val="100000"/>
              </a:lnSpc>
              <a:spcBef>
                <a:spcPts val="0"/>
              </a:spcBef>
              <a:buNone/>
            </a:pPr>
            <a:r>
              <a:rPr lang="en-AU" sz="1500" b="1">
                <a:solidFill>
                  <a:srgbClr val="3D2A6B"/>
                </a:solidFill>
                <a:latin typeface="Arial"/>
                <a:ea typeface="Arial"/>
                <a:cs typeface="Arial"/>
              </a:rPr>
              <a:t>Perception of the importance / experience of school</a:t>
            </a:r>
          </a:p>
        </p:txBody>
      </p:sp>
    </p:spTree>
    <p:custDataLst>
      <p:tags r:id="rId1"/>
    </p:custDataLst>
    <p:extLst>
      <p:ext uri="{BB962C8B-B14F-4D97-AF65-F5344CB8AC3E}">
        <p14:creationId xmlns:p14="http://schemas.microsoft.com/office/powerpoint/2010/main" val="580302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repeatCount="indefinite" fill="hold" nodeType="withEffect">
                                  <p:stCondLst>
                                    <p:cond delay="0"/>
                                  </p:stCondLst>
                                  <p:childTnLst>
                                    <p:animRot by="120000">
                                      <p:cBhvr>
                                        <p:cTn id="6" dur="200" fill="hold">
                                          <p:stCondLst>
                                            <p:cond delay="0"/>
                                          </p:stCondLst>
                                        </p:cTn>
                                        <p:tgtEl>
                                          <p:spTgt spid="2"/>
                                        </p:tgtEl>
                                        <p:attrNameLst>
                                          <p:attrName>r</p:attrName>
                                        </p:attrNameLst>
                                      </p:cBhvr>
                                    </p:animRot>
                                    <p:animRot by="-240000">
                                      <p:cBhvr>
                                        <p:cTn id="7" dur="400" fill="hold">
                                          <p:stCondLst>
                                            <p:cond delay="400"/>
                                          </p:stCondLst>
                                        </p:cTn>
                                        <p:tgtEl>
                                          <p:spTgt spid="2"/>
                                        </p:tgtEl>
                                        <p:attrNameLst>
                                          <p:attrName>r</p:attrName>
                                        </p:attrNameLst>
                                      </p:cBhvr>
                                    </p:animRot>
                                    <p:animRot by="240000">
                                      <p:cBhvr>
                                        <p:cTn id="8" dur="400" fill="hold">
                                          <p:stCondLst>
                                            <p:cond delay="800"/>
                                          </p:stCondLst>
                                        </p:cTn>
                                        <p:tgtEl>
                                          <p:spTgt spid="2"/>
                                        </p:tgtEl>
                                        <p:attrNameLst>
                                          <p:attrName>r</p:attrName>
                                        </p:attrNameLst>
                                      </p:cBhvr>
                                    </p:animRot>
                                    <p:animRot by="-240000">
                                      <p:cBhvr>
                                        <p:cTn id="9" dur="400" fill="hold">
                                          <p:stCondLst>
                                            <p:cond delay="1200"/>
                                          </p:stCondLst>
                                        </p:cTn>
                                        <p:tgtEl>
                                          <p:spTgt spid="2"/>
                                        </p:tgtEl>
                                        <p:attrNameLst>
                                          <p:attrName>r</p:attrName>
                                        </p:attrNameLst>
                                      </p:cBhvr>
                                    </p:animRot>
                                    <p:animRot by="120000">
                                      <p:cBhvr>
                                        <p:cTn id="10" dur="400" fill="hold">
                                          <p:stCondLst>
                                            <p:cond delay="160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584099"/>
          </a:solidFill>
          <a:ln>
            <a:noFill/>
          </a:ln>
        </p:spPr>
        <p:txBody>
          <a:bodyPr rtlCol="0" anchor="ctr"/>
          <a:lstStyle/>
          <a:p>
            <a:pPr algn="ctr"/>
            <a:endParaRPr/>
          </a:p>
        </p:txBody>
      </p:sp>
      <p:sp>
        <p:nvSpPr>
          <p:cNvPr id="3" name="Oval 2"/>
          <p:cNvSpPr/>
          <p:nvPr/>
        </p:nvSpPr>
        <p:spPr>
          <a:xfrm>
            <a:off x="8138160" y="3291840"/>
            <a:ext cx="5669280" cy="5669280"/>
          </a:xfrm>
          <a:prstGeom prst="ellipse">
            <a:avLst/>
          </a:prstGeom>
          <a:solidFill>
            <a:srgbClr val="6A52AB"/>
          </a:solidFill>
          <a:ln>
            <a:noFill/>
          </a:ln>
        </p:spPr>
        <p:txBody>
          <a:bodyPr rtlCol="0" anchor="ctr"/>
          <a:lstStyle/>
          <a:p>
            <a:pPr algn="ctr"/>
            <a:endParaRPr/>
          </a:p>
        </p:txBody>
      </p:sp>
      <p:sp>
        <p:nvSpPr>
          <p:cNvPr id="4"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FFFFFF"/>
                </a:solidFill>
                <a:latin typeface="Arial Black"/>
                <a:ea typeface="Arial Black"/>
                <a:cs typeface="Arial Black"/>
              </a:rPr>
              <a:t>Power dynamics activity</a:t>
            </a:r>
          </a:p>
        </p:txBody>
      </p:sp>
      <p:sp>
        <p:nvSpPr>
          <p:cNvPr id="5" name="TextBox 4"/>
          <p:cNvSpPr txBox="1"/>
          <p:nvPr/>
        </p:nvSpPr>
        <p:spPr>
          <a:xfrm>
            <a:off x="685800" y="132588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FFFFFF"/>
                </a:solidFill>
                <a:latin typeface="Arial"/>
                <a:ea typeface="Arial"/>
                <a:cs typeface="Arial"/>
              </a:rPr>
              <a:t>On sticky notes:</a:t>
            </a:r>
          </a:p>
        </p:txBody>
      </p:sp>
      <p:sp>
        <p:nvSpPr>
          <p:cNvPr id="6" name="Oval 5"/>
          <p:cNvSpPr/>
          <p:nvPr/>
        </p:nvSpPr>
        <p:spPr>
          <a:xfrm>
            <a:off x="685800" y="210312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7" name="TextBox 6"/>
          <p:cNvSpPr txBox="1"/>
          <p:nvPr/>
        </p:nvSpPr>
        <p:spPr>
          <a:xfrm>
            <a:off x="685800" y="210312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1</a:t>
            </a:r>
          </a:p>
        </p:txBody>
      </p:sp>
      <p:sp>
        <p:nvSpPr>
          <p:cNvPr id="8" name="TextBox 7"/>
          <p:cNvSpPr txBox="1"/>
          <p:nvPr/>
        </p:nvSpPr>
        <p:spPr>
          <a:xfrm>
            <a:off x="1325880" y="199339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home perspective.</a:t>
            </a:r>
          </a:p>
        </p:txBody>
      </p:sp>
      <p:sp>
        <p:nvSpPr>
          <p:cNvPr id="9" name="Oval 8"/>
          <p:cNvSpPr/>
          <p:nvPr/>
        </p:nvSpPr>
        <p:spPr>
          <a:xfrm>
            <a:off x="685800" y="297180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0" name="TextBox 9"/>
          <p:cNvSpPr txBox="1"/>
          <p:nvPr/>
        </p:nvSpPr>
        <p:spPr>
          <a:xfrm>
            <a:off x="685800" y="297180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2</a:t>
            </a:r>
          </a:p>
        </p:txBody>
      </p:sp>
      <p:sp>
        <p:nvSpPr>
          <p:cNvPr id="11" name="TextBox 10"/>
          <p:cNvSpPr txBox="1"/>
          <p:nvPr/>
        </p:nvSpPr>
        <p:spPr>
          <a:xfrm>
            <a:off x="1325880" y="286207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an example of an imbalance in power dynamics from a school perspective.</a:t>
            </a:r>
          </a:p>
        </p:txBody>
      </p:sp>
      <p:sp>
        <p:nvSpPr>
          <p:cNvPr id="12" name="Oval 11"/>
          <p:cNvSpPr/>
          <p:nvPr/>
        </p:nvSpPr>
        <p:spPr>
          <a:xfrm>
            <a:off x="685800" y="3840480"/>
            <a:ext cx="457200" cy="457200"/>
          </a:xfrm>
          <a:prstGeom prst="ellipse">
            <a:avLst/>
          </a:prstGeom>
          <a:solidFill>
            <a:srgbClr val="584099"/>
          </a:solidFill>
          <a:ln w="22225">
            <a:solidFill>
              <a:srgbClr val="FFFFFF"/>
            </a:solidFill>
          </a:ln>
        </p:spPr>
        <p:txBody>
          <a:bodyPr rtlCol="0" anchor="ctr"/>
          <a:lstStyle/>
          <a:p>
            <a:pPr algn="ctr"/>
            <a:endParaRPr/>
          </a:p>
        </p:txBody>
      </p:sp>
      <p:sp>
        <p:nvSpPr>
          <p:cNvPr id="13" name="TextBox 12"/>
          <p:cNvSpPr txBox="1"/>
          <p:nvPr/>
        </p:nvSpPr>
        <p:spPr>
          <a:xfrm>
            <a:off x="685800" y="3840480"/>
            <a:ext cx="457200" cy="457200"/>
          </a:xfrm>
          <a:prstGeom prst="rect">
            <a:avLst/>
          </a:prstGeom>
          <a:noFill/>
        </p:spPr>
        <p:txBody>
          <a:bodyPr wrap="square" lIns="0" tIns="0" rIns="0" bIns="0" anchor="ctr">
            <a:noAutofit/>
          </a:bodyPr>
          <a:lstStyle/>
          <a:p>
            <a:pPr marL="0" indent="0" algn="ctr">
              <a:lnSpc>
                <a:spcPct val="100000"/>
              </a:lnSpc>
              <a:spcBef>
                <a:spcPts val="0"/>
              </a:spcBef>
              <a:buNone/>
            </a:pPr>
            <a:r>
              <a:rPr lang="en-AU" sz="1500" b="0">
                <a:solidFill>
                  <a:srgbClr val="FFFFFF"/>
                </a:solidFill>
                <a:latin typeface="Arial Black"/>
                <a:ea typeface="Arial Black"/>
                <a:cs typeface="Arial Black"/>
              </a:rPr>
              <a:t>3</a:t>
            </a:r>
          </a:p>
        </p:txBody>
      </p:sp>
      <p:sp>
        <p:nvSpPr>
          <p:cNvPr id="14" name="TextBox 13"/>
          <p:cNvSpPr txBox="1"/>
          <p:nvPr/>
        </p:nvSpPr>
        <p:spPr>
          <a:xfrm>
            <a:off x="1325880" y="3730752"/>
            <a:ext cx="9509760" cy="676656"/>
          </a:xfrm>
          <a:prstGeom prst="rect">
            <a:avLst/>
          </a:prstGeom>
          <a:noFill/>
        </p:spPr>
        <p:txBody>
          <a:bodyPr wrap="square" lIns="0" tIns="0" rIns="0" bIns="0" anchor="ctr">
            <a:noAutofit/>
          </a:bodyPr>
          <a:lstStyle/>
          <a:p>
            <a:pPr marL="0" indent="0" algn="l">
              <a:lnSpc>
                <a:spcPct val="100000"/>
              </a:lnSpc>
              <a:spcBef>
                <a:spcPts val="0"/>
              </a:spcBef>
              <a:buNone/>
            </a:pPr>
            <a:r>
              <a:rPr lang="en-AU" sz="2000" b="0">
                <a:solidFill>
                  <a:srgbClr val="E6E0F5"/>
                </a:solidFill>
                <a:latin typeface="Arial"/>
                <a:ea typeface="Arial"/>
                <a:cs typeface="Arial"/>
              </a:rPr>
              <a:t>Write how you could address these imbalances.</a:t>
            </a:r>
          </a:p>
        </p:txBody>
      </p:sp>
      <p:sp>
        <p:nvSpPr>
          <p:cNvPr id="15" name="TextBox 14"/>
          <p:cNvSpPr txBox="1"/>
          <p:nvPr/>
        </p:nvSpPr>
        <p:spPr>
          <a:xfrm>
            <a:off x="685800" y="4800600"/>
            <a:ext cx="10058400" cy="548640"/>
          </a:xfrm>
          <a:prstGeom prst="rect">
            <a:avLst/>
          </a:prstGeom>
          <a:noFill/>
        </p:spPr>
        <p:txBody>
          <a:bodyPr wrap="square" lIns="0" tIns="0" rIns="0" bIns="0" anchor="t">
            <a:noAutofit/>
          </a:bodyPr>
          <a:lstStyle/>
          <a:p>
            <a:pPr marL="0" indent="0" algn="l">
              <a:lnSpc>
                <a:spcPct val="100000"/>
              </a:lnSpc>
              <a:spcBef>
                <a:spcPts val="0"/>
              </a:spcBef>
              <a:buNone/>
            </a:pPr>
            <a:r>
              <a:rPr lang="en-AU" sz="1700" b="0">
                <a:solidFill>
                  <a:srgbClr val="E6E0F5"/>
                </a:solidFill>
                <a:latin typeface="Arial"/>
                <a:ea typeface="Arial"/>
                <a:cs typeface="Arial"/>
              </a:rPr>
              <a:t>Share at your table, or add your notes to the wall under Home, School and Solutions.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val 12"/>
          <p:cNvSpPr/>
          <p:nvPr/>
        </p:nvSpPr>
        <p:spPr>
          <a:xfrm>
            <a:off x="9052560" y="3931920"/>
            <a:ext cx="5486400" cy="5486400"/>
          </a:xfrm>
          <a:prstGeom prst="ellipse">
            <a:avLst/>
          </a:prstGeom>
          <a:solidFill>
            <a:srgbClr val="EDE8F8"/>
          </a:solidFill>
          <a:ln>
            <a:noFill/>
          </a:ln>
        </p:spPr>
        <p:txBody>
          <a:bodyPr rtlCol="0" anchor="ctr"/>
          <a:lstStyle/>
          <a:p>
            <a:pPr algn="ctr"/>
            <a:endParaRPr/>
          </a:p>
        </p:txBody>
      </p:sp>
      <p:pic>
        <p:nvPicPr>
          <p:cNvPr id="11" name="Graphic 19">
            <a:extLst>
              <a:ext uri="{FF2B5EF4-FFF2-40B4-BE49-F238E27FC236}">
                <a16:creationId xmlns:a16="http://schemas.microsoft.com/office/drawing/2014/main" id="{5AADB8DD-F243-4F8D-BC60-11443AF4F579}"/>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85800" y="1551622"/>
            <a:ext cx="914400" cy="914400"/>
          </a:xfrm>
          <a:prstGeom prst="rect">
            <a:avLst/>
          </a:prstGeom>
        </p:spPr>
      </p:pic>
      <p:pic>
        <p:nvPicPr>
          <p:cNvPr id="9" name="Diversity_Self_care_slide_26">
            <a:hlinkClick r:id="" action="ppaction://media"/>
            <a:extLst>
              <a:ext uri="{FF2B5EF4-FFF2-40B4-BE49-F238E27FC236}">
                <a16:creationId xmlns:a16="http://schemas.microsoft.com/office/drawing/2014/main" id="{2528EEDD-2764-4D95-BAB4-AC44ACE96B2B}"/>
              </a:ext>
            </a:extLst>
          </p:cNvPr>
          <p:cNvPicPr>
            <a:picLocks noChangeAspect="1"/>
          </p:cNvPicPr>
          <p:nvPr>
            <a:videoFile r:link="rId3"/>
            <p:extLst>
              <p:ext uri="{DAA4B4D4-6D71-4841-9C94-3DE7FCFB9230}">
                <p14:media xmlns:p14="http://schemas.microsoft.com/office/powerpoint/2010/main" r:embed="rId2"/>
              </p:ext>
            </p:extLst>
          </p:nvPr>
        </p:nvPicPr>
        <p:blipFill>
          <a:blip r:embed="rId7"/>
          <a:stretch>
            <a:fillRect/>
          </a:stretch>
        </p:blipFill>
        <p:spPr>
          <a:xfrm>
            <a:off x="4830775" y="1551622"/>
            <a:ext cx="6675120" cy="3754755"/>
          </a:xfrm>
          <a:prstGeom prst="roundRect">
            <a:avLst>
              <a:gd name="adj" fmla="val 5000"/>
            </a:avLst>
          </a:prstGeom>
        </p:spPr>
      </p:pic>
      <p:sp>
        <p:nvSpPr>
          <p:cNvPr id="14" name="Title"/>
          <p:cNvSpPr txBox="1"/>
          <p:nvPr/>
        </p:nvSpPr>
        <p:spPr>
          <a:xfrm>
            <a:off x="685800" y="2740342"/>
            <a:ext cx="3687775" cy="1463040"/>
          </a:xfrm>
          <a:prstGeom prst="rect">
            <a:avLst/>
          </a:prstGeom>
          <a:noFill/>
        </p:spPr>
        <p:txBody>
          <a:bodyPr wrap="square" lIns="0" tIns="0" rIns="0" bIns="0" anchor="t">
            <a:noAutofit/>
          </a:bodyPr>
          <a:lstStyle/>
          <a:p>
            <a:pPr marL="0" indent="0" algn="l">
              <a:lnSpc>
                <a:spcPct val="95000"/>
              </a:lnSpc>
              <a:spcBef>
                <a:spcPts val="0"/>
              </a:spcBef>
              <a:buNone/>
            </a:pPr>
            <a:r>
              <a:rPr lang="en-AU" sz="3000" b="0">
                <a:solidFill>
                  <a:srgbClr val="584099"/>
                </a:solidFill>
                <a:latin typeface="Arial Black"/>
                <a:ea typeface="Arial Black"/>
                <a:cs typeface="Arial Black"/>
              </a:rPr>
              <a:t>Student voice</a:t>
            </a:r>
          </a:p>
        </p:txBody>
      </p:sp>
      <p:sp>
        <p:nvSpPr>
          <p:cNvPr id="15" name="Rounded Rectangle 14"/>
          <p:cNvSpPr/>
          <p:nvPr/>
        </p:nvSpPr>
        <p:spPr>
          <a:xfrm>
            <a:off x="685800" y="4218242"/>
            <a:ext cx="3687775" cy="1088136"/>
          </a:xfrm>
          <a:prstGeom prst="roundRect">
            <a:avLst>
              <a:gd name="adj" fmla="val 10000"/>
            </a:avLst>
          </a:prstGeom>
          <a:solidFill>
            <a:srgbClr val="F3F0FA"/>
          </a:solidFill>
          <a:ln>
            <a:noFill/>
          </a:ln>
        </p:spPr>
        <p:txBody>
          <a:bodyPr rtlCol="0" anchor="ctr"/>
          <a:lstStyle/>
          <a:p>
            <a:pPr algn="ctr"/>
            <a:endParaRPr/>
          </a:p>
        </p:txBody>
      </p:sp>
      <p:sp>
        <p:nvSpPr>
          <p:cNvPr id="16" name="TextBox 15"/>
          <p:cNvSpPr txBox="1"/>
          <p:nvPr/>
        </p:nvSpPr>
        <p:spPr>
          <a:xfrm>
            <a:off x="914400" y="4218242"/>
            <a:ext cx="3230575" cy="1088136"/>
          </a:xfrm>
          <a:prstGeom prst="rect">
            <a:avLst/>
          </a:prstGeom>
          <a:noFill/>
        </p:spPr>
        <p:txBody>
          <a:bodyPr wrap="square" lIns="0" tIns="0" rIns="0" bIns="0" anchor="ctr">
            <a:noAutofit/>
          </a:bodyPr>
          <a:lstStyle/>
          <a:p>
            <a:pPr marL="0" indent="0" algn="l">
              <a:lnSpc>
                <a:spcPct val="100000"/>
              </a:lnSpc>
              <a:spcBef>
                <a:spcPts val="0"/>
              </a:spcBef>
              <a:buNone/>
            </a:pPr>
            <a:r>
              <a:rPr lang="en-AU" sz="1600" b="1">
                <a:solidFill>
                  <a:srgbClr val="3D2A6B"/>
                </a:solidFill>
                <a:latin typeface="Arial"/>
                <a:ea typeface="Arial"/>
                <a:cs typeface="Arial"/>
              </a:rPr>
              <a:t>What decisions were made, and who made them?</a:t>
            </a:r>
          </a:p>
          <a:p>
            <a:pPr marL="0" indent="0" algn="l">
              <a:lnSpc>
                <a:spcPct val="100000"/>
              </a:lnSpc>
              <a:spcBef>
                <a:spcPts val="400"/>
              </a:spcBef>
              <a:buNone/>
            </a:pPr>
            <a:r>
              <a:rPr lang="en-AU" sz="1600" b="1">
                <a:solidFill>
                  <a:srgbClr val="3D2A6B"/>
                </a:solidFill>
                <a:latin typeface="Arial"/>
                <a:ea typeface="Arial"/>
                <a:cs typeface="Arial"/>
              </a:rPr>
              <a:t>What impact did those decisions have on Adon?</a:t>
            </a:r>
          </a:p>
        </p:txBody>
      </p:sp>
    </p:spTree>
    <p:custDataLst>
      <p:tags r:id="rId1"/>
    </p:custDataLst>
    <p:extLst>
      <p:ext uri="{BB962C8B-B14F-4D97-AF65-F5344CB8AC3E}">
        <p14:creationId xmlns:p14="http://schemas.microsoft.com/office/powerpoint/2010/main" val="3747052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11000"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2A8AD-30E8-445B-A354-028A833B793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D4838D88-E610-403C-B6B2-EC64CB6D651F}"/>
              </a:ext>
            </a:extLst>
          </p:cNvPr>
          <p:cNvSpPr txBox="1"/>
          <p:nvPr/>
        </p:nvSpPr>
        <p:spPr>
          <a:xfrm>
            <a:off x="685800" y="457200"/>
            <a:ext cx="5445106" cy="822960"/>
          </a:xfrm>
          <a:prstGeom prst="rect">
            <a:avLst/>
          </a:prstGeom>
          <a:solidFill>
            <a:schemeClr val="bg1"/>
          </a:solidFill>
        </p:spPr>
        <p:txBody>
          <a:bodyPr wrap="square" lIns="0" tIns="0" rIns="0" bIns="0" rtlCol="0" anchor="t">
            <a:noAutofit/>
          </a:bodyPr>
          <a:lstStyle/>
          <a:p>
            <a:pPr marL="0" indent="0" algn="l">
              <a:lnSpc>
                <a:spcPct val="100000"/>
              </a:lnSpc>
              <a:spcBef>
                <a:spcPts val="0"/>
              </a:spcBef>
              <a:buNone/>
            </a:pPr>
            <a:r>
              <a:rPr lang="en-AU" sz="3600" b="0">
                <a:solidFill>
                  <a:srgbClr val="584099"/>
                </a:solidFill>
                <a:latin typeface="Arial Black"/>
                <a:ea typeface="Arial Black"/>
                <a:cs typeface="Arial Black"/>
              </a:rPr>
              <a:t>What works?</a:t>
            </a:r>
          </a:p>
        </p:txBody>
      </p:sp>
      <p:pic>
        <p:nvPicPr>
          <p:cNvPr id="7" name="Picture 6" descr="Father standing with child on shoulders indoors, both smiling with flexed arm muscles">
            <a:extLst>
              <a:ext uri="{FF2B5EF4-FFF2-40B4-BE49-F238E27FC236}">
                <a16:creationId xmlns:a16="http://schemas.microsoft.com/office/drawing/2014/main" id="{BFCF9B49-A0F6-5B3D-B16E-6779F56A6B26}"/>
              </a:ext>
            </a:extLst>
          </p:cNvPr>
          <p:cNvPicPr>
            <a:picLocks noChangeAspect="1"/>
          </p:cNvPicPr>
          <p:nvPr/>
        </p:nvPicPr>
        <p:blipFill>
          <a:blip r:embed="rId3">
            <a:extLst>
              <a:ext uri="{28A0092B-C50C-407E-A947-70E740481C1C}">
                <a14:useLocalDpi xmlns:a14="http://schemas.microsoft.com/office/drawing/2010/main" val="0"/>
              </a:ext>
            </a:extLst>
          </a:blip>
          <a:srcRect l="16530" r="16530"/>
          <a:stretch/>
        </p:blipFill>
        <p:spPr>
          <a:xfrm>
            <a:off x="6405226" y="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9" name="Rounded Rectangle 8"/>
          <p:cNvSpPr/>
          <p:nvPr/>
        </p:nvSpPr>
        <p:spPr>
          <a:xfrm>
            <a:off x="685800" y="1417320"/>
            <a:ext cx="5353666" cy="2011680"/>
          </a:xfrm>
          <a:prstGeom prst="roundRect">
            <a:avLst>
              <a:gd name="adj" fmla="val 8000"/>
            </a:avLst>
          </a:prstGeom>
          <a:solidFill>
            <a:srgbClr val="F3F0FA"/>
          </a:solidFill>
          <a:ln>
            <a:noFill/>
          </a:ln>
        </p:spPr>
        <p:txBody>
          <a:bodyPr rtlCol="0" anchor="ctr"/>
          <a:lstStyle/>
          <a:p>
            <a:pPr algn="ctr"/>
            <a:endParaRPr/>
          </a:p>
        </p:txBody>
      </p:sp>
      <p:pic>
        <p:nvPicPr>
          <p:cNvPr id="10" name="Discussion icon" descr="Speech bubble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1645920"/>
            <a:ext cx="548640" cy="548640"/>
          </a:xfrm>
          <a:prstGeom prst="rect">
            <a:avLst/>
          </a:prstGeom>
        </p:spPr>
      </p:pic>
      <p:sp>
        <p:nvSpPr>
          <p:cNvPr id="11" name="TextBox 10"/>
          <p:cNvSpPr txBox="1"/>
          <p:nvPr/>
        </p:nvSpPr>
        <p:spPr>
          <a:xfrm>
            <a:off x="1691640" y="1417320"/>
            <a:ext cx="4073506" cy="201168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Think of a time you worked well with someone at school.</a:t>
            </a:r>
          </a:p>
          <a:p>
            <a:pPr marL="0" indent="0" algn="l">
              <a:lnSpc>
                <a:spcPct val="100000"/>
              </a:lnSpc>
              <a:spcBef>
                <a:spcPts val="800"/>
              </a:spcBef>
              <a:buNone/>
            </a:pPr>
            <a:r>
              <a:rPr lang="en-AU" sz="1600" b="0">
                <a:solidFill>
                  <a:srgbClr val="2D2440"/>
                </a:solidFill>
                <a:latin typeface="Arial"/>
                <a:ea typeface="Arial"/>
                <a:cs typeface="Arial"/>
              </a:rPr>
              <a:t>What made it work? What did they do, and what did you do?</a:t>
            </a:r>
          </a:p>
        </p:txBody>
      </p:sp>
      <p:sp>
        <p:nvSpPr>
          <p:cNvPr id="12" name="TextBox 11"/>
          <p:cNvSpPr txBox="1"/>
          <p:nvPr/>
        </p:nvSpPr>
        <p:spPr>
          <a:xfrm>
            <a:off x="685800" y="3611880"/>
            <a:ext cx="5353666" cy="365760"/>
          </a:xfrm>
          <a:prstGeom prst="rect">
            <a:avLst/>
          </a:prstGeom>
          <a:noFill/>
        </p:spPr>
        <p:txBody>
          <a:bodyPr wrap="square" lIns="0" tIns="0" rIns="0" bIns="0" anchor="t">
            <a:noAutofit/>
          </a:bodyPr>
          <a:lstStyle/>
          <a:p>
            <a:pPr marL="0" indent="0" algn="l">
              <a:lnSpc>
                <a:spcPct val="100000"/>
              </a:lnSpc>
              <a:spcBef>
                <a:spcPts val="0"/>
              </a:spcBef>
              <a:buNone/>
            </a:pPr>
            <a:r>
              <a:rPr lang="en-AU" sz="1600" b="1">
                <a:solidFill>
                  <a:srgbClr val="584099"/>
                </a:solidFill>
                <a:latin typeface="Arial"/>
                <a:ea typeface="Arial"/>
                <a:cs typeface="Arial"/>
              </a:rPr>
              <a:t>What works for everyone at the table:</a:t>
            </a:r>
          </a:p>
        </p:txBody>
      </p:sp>
      <p:sp>
        <p:nvSpPr>
          <p:cNvPr id="13" name="Rounded Rectangle 12"/>
          <p:cNvSpPr/>
          <p:nvPr/>
        </p:nvSpPr>
        <p:spPr>
          <a:xfrm>
            <a:off x="685800"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4" name="TextBox 13"/>
          <p:cNvSpPr txBox="1"/>
          <p:nvPr/>
        </p:nvSpPr>
        <p:spPr>
          <a:xfrm>
            <a:off x="960120"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Be prepared for meetings</a:t>
            </a:r>
          </a:p>
        </p:txBody>
      </p:sp>
      <p:sp>
        <p:nvSpPr>
          <p:cNvPr id="15" name="Rounded Rectangle 14"/>
          <p:cNvSpPr/>
          <p:nvPr/>
        </p:nvSpPr>
        <p:spPr>
          <a:xfrm>
            <a:off x="3408353" y="4023360"/>
            <a:ext cx="2631113" cy="475488"/>
          </a:xfrm>
          <a:prstGeom prst="roundRect">
            <a:avLst>
              <a:gd name="adj" fmla="val 40000"/>
            </a:avLst>
          </a:prstGeom>
          <a:solidFill>
            <a:srgbClr val="F3F0FA"/>
          </a:solidFill>
          <a:ln>
            <a:noFill/>
          </a:ln>
        </p:spPr>
        <p:txBody>
          <a:bodyPr rtlCol="0" anchor="ctr"/>
          <a:lstStyle/>
          <a:p>
            <a:pPr algn="ctr"/>
            <a:endParaRPr/>
          </a:p>
        </p:txBody>
      </p:sp>
      <p:sp>
        <p:nvSpPr>
          <p:cNvPr id="16" name="TextBox 15"/>
          <p:cNvSpPr txBox="1"/>
          <p:nvPr/>
        </p:nvSpPr>
        <p:spPr>
          <a:xfrm>
            <a:off x="3682673" y="4023360"/>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Share information</a:t>
            </a:r>
          </a:p>
        </p:txBody>
      </p:sp>
      <p:sp>
        <p:nvSpPr>
          <p:cNvPr id="17" name="Rounded Rectangle 16"/>
          <p:cNvSpPr/>
          <p:nvPr/>
        </p:nvSpPr>
        <p:spPr>
          <a:xfrm>
            <a:off x="685800"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18" name="TextBox 17"/>
          <p:cNvSpPr txBox="1"/>
          <p:nvPr/>
        </p:nvSpPr>
        <p:spPr>
          <a:xfrm>
            <a:off x="960120"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Ask questions</a:t>
            </a:r>
          </a:p>
        </p:txBody>
      </p:sp>
      <p:sp>
        <p:nvSpPr>
          <p:cNvPr id="19" name="Rounded Rectangle 18"/>
          <p:cNvSpPr/>
          <p:nvPr/>
        </p:nvSpPr>
        <p:spPr>
          <a:xfrm>
            <a:off x="3408353" y="4590288"/>
            <a:ext cx="2631113" cy="475488"/>
          </a:xfrm>
          <a:prstGeom prst="roundRect">
            <a:avLst>
              <a:gd name="adj" fmla="val 40000"/>
            </a:avLst>
          </a:prstGeom>
          <a:solidFill>
            <a:srgbClr val="F3F0FA"/>
          </a:solidFill>
          <a:ln>
            <a:noFill/>
          </a:ln>
        </p:spPr>
        <p:txBody>
          <a:bodyPr rtlCol="0" anchor="ctr"/>
          <a:lstStyle/>
          <a:p>
            <a:pPr algn="ctr"/>
            <a:endParaRPr/>
          </a:p>
        </p:txBody>
      </p:sp>
      <p:sp>
        <p:nvSpPr>
          <p:cNvPr id="20" name="TextBox 19"/>
          <p:cNvSpPr txBox="1"/>
          <p:nvPr/>
        </p:nvSpPr>
        <p:spPr>
          <a:xfrm>
            <a:off x="3682673" y="4590288"/>
            <a:ext cx="2082473"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Seek clarification</a:t>
            </a:r>
          </a:p>
        </p:txBody>
      </p:sp>
      <p:sp>
        <p:nvSpPr>
          <p:cNvPr id="21" name="Rounded Rectangle 20"/>
          <p:cNvSpPr/>
          <p:nvPr/>
        </p:nvSpPr>
        <p:spPr>
          <a:xfrm>
            <a:off x="685800" y="5157216"/>
            <a:ext cx="5353666" cy="475488"/>
          </a:xfrm>
          <a:prstGeom prst="roundRect">
            <a:avLst>
              <a:gd name="adj" fmla="val 40000"/>
            </a:avLst>
          </a:prstGeom>
          <a:solidFill>
            <a:srgbClr val="F3F0FA"/>
          </a:solidFill>
          <a:ln>
            <a:noFill/>
          </a:ln>
        </p:spPr>
        <p:txBody>
          <a:bodyPr rtlCol="0" anchor="ctr"/>
          <a:lstStyle/>
          <a:p>
            <a:pPr algn="ctr"/>
            <a:endParaRPr/>
          </a:p>
        </p:txBody>
      </p:sp>
      <p:sp>
        <p:nvSpPr>
          <p:cNvPr id="22" name="TextBox 21"/>
          <p:cNvSpPr txBox="1"/>
          <p:nvPr/>
        </p:nvSpPr>
        <p:spPr>
          <a:xfrm>
            <a:off x="960120" y="5157216"/>
            <a:ext cx="4805026" cy="475488"/>
          </a:xfrm>
          <a:prstGeom prst="rect">
            <a:avLst/>
          </a:prstGeom>
          <a:noFill/>
        </p:spPr>
        <p:txBody>
          <a:bodyPr wrap="square" lIns="0" tIns="0" rIns="0" bIns="0" anchor="ctr">
            <a:noAutofit/>
          </a:bodyPr>
          <a:lstStyle/>
          <a:p>
            <a:pPr marL="0" indent="0" algn="l">
              <a:lnSpc>
                <a:spcPct val="100000"/>
              </a:lnSpc>
              <a:spcBef>
                <a:spcPts val="0"/>
              </a:spcBef>
              <a:buNone/>
            </a:pPr>
            <a:r>
              <a:rPr lang="en-AU" sz="1400" b="1">
                <a:solidFill>
                  <a:srgbClr val="3D2A6B"/>
                </a:solidFill>
                <a:latin typeface="Arial"/>
                <a:ea typeface="Arial"/>
                <a:cs typeface="Arial"/>
              </a:rPr>
              <a:t>Start from what you both want for your child</a:t>
            </a:r>
          </a:p>
        </p:txBody>
      </p:sp>
    </p:spTree>
    <p:extLst>
      <p:ext uri="{BB962C8B-B14F-4D97-AF65-F5344CB8AC3E}">
        <p14:creationId xmlns:p14="http://schemas.microsoft.com/office/powerpoint/2010/main" val="3394352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Consultation literacy</a:t>
            </a:r>
          </a:p>
        </p:txBody>
      </p:sp>
      <p:sp>
        <p:nvSpPr>
          <p:cNvPr id="3" name="TextBox 2"/>
          <p:cNvSpPr txBox="1"/>
          <p:nvPr/>
        </p:nvSpPr>
        <p:spPr>
          <a:xfrm>
            <a:off x="685800" y="1325880"/>
            <a:ext cx="10789920" cy="548640"/>
          </a:xfrm>
          <a:prstGeom prst="rect">
            <a:avLst/>
          </a:prstGeom>
          <a:noFill/>
        </p:spPr>
        <p:txBody>
          <a:bodyPr wrap="square" lIns="0" tIns="0" rIns="0" bIns="0" anchor="t">
            <a:noAutofit/>
          </a:bodyPr>
          <a:lstStyle/>
          <a:p>
            <a:pPr marL="0" indent="0" algn="l">
              <a:lnSpc>
                <a:spcPct val="100000"/>
              </a:lnSpc>
              <a:spcBef>
                <a:spcPts val="0"/>
              </a:spcBef>
              <a:buNone/>
            </a:pPr>
            <a:r>
              <a:rPr lang="en-AU" sz="2200" b="1">
                <a:solidFill>
                  <a:srgbClr val="3D2A6B"/>
                </a:solidFill>
                <a:latin typeface="Arial"/>
                <a:ea typeface="Arial"/>
                <a:cs typeface="Arial"/>
              </a:rPr>
              <a:t>Useful consultation includes:</a:t>
            </a:r>
          </a:p>
        </p:txBody>
      </p:sp>
      <p:sp>
        <p:nvSpPr>
          <p:cNvPr id="4" name="Rounded Rectangle 3"/>
          <p:cNvSpPr/>
          <p:nvPr/>
        </p:nvSpPr>
        <p:spPr>
          <a:xfrm>
            <a:off x="685800"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5" name="TextBox 4"/>
          <p:cNvSpPr txBox="1"/>
          <p:nvPr/>
        </p:nvSpPr>
        <p:spPr>
          <a:xfrm>
            <a:off x="960120"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 clear, shared purpose</a:t>
            </a:r>
          </a:p>
        </p:txBody>
      </p:sp>
      <p:sp>
        <p:nvSpPr>
          <p:cNvPr id="6" name="Rounded Rectangle 5"/>
          <p:cNvSpPr/>
          <p:nvPr/>
        </p:nvSpPr>
        <p:spPr>
          <a:xfrm>
            <a:off x="4368698"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7" name="TextBox 6"/>
          <p:cNvSpPr txBox="1"/>
          <p:nvPr/>
        </p:nvSpPr>
        <p:spPr>
          <a:xfrm>
            <a:off x="4643018"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Open questions</a:t>
            </a:r>
          </a:p>
        </p:txBody>
      </p:sp>
      <p:sp>
        <p:nvSpPr>
          <p:cNvPr id="8" name="Rounded Rectangle 7"/>
          <p:cNvSpPr/>
          <p:nvPr/>
        </p:nvSpPr>
        <p:spPr>
          <a:xfrm>
            <a:off x="8051597" y="2011680"/>
            <a:ext cx="3454298" cy="1188720"/>
          </a:xfrm>
          <a:prstGeom prst="roundRect">
            <a:avLst>
              <a:gd name="adj" fmla="val 12000"/>
            </a:avLst>
          </a:prstGeom>
          <a:solidFill>
            <a:srgbClr val="F3F0FA"/>
          </a:solidFill>
          <a:ln>
            <a:noFill/>
          </a:ln>
        </p:spPr>
        <p:txBody>
          <a:bodyPr rtlCol="0" anchor="ctr"/>
          <a:lstStyle/>
          <a:p>
            <a:pPr algn="ctr"/>
            <a:endParaRPr/>
          </a:p>
        </p:txBody>
      </p:sp>
      <p:sp>
        <p:nvSpPr>
          <p:cNvPr id="9" name="TextBox 8"/>
          <p:cNvSpPr txBox="1"/>
          <p:nvPr/>
        </p:nvSpPr>
        <p:spPr>
          <a:xfrm>
            <a:off x="8325917" y="201168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More than one way to contribute</a:t>
            </a:r>
          </a:p>
        </p:txBody>
      </p:sp>
      <p:sp>
        <p:nvSpPr>
          <p:cNvPr id="10" name="Rounded Rectangle 9"/>
          <p:cNvSpPr/>
          <p:nvPr/>
        </p:nvSpPr>
        <p:spPr>
          <a:xfrm>
            <a:off x="685800"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1" name="TextBox 10"/>
          <p:cNvSpPr txBox="1"/>
          <p:nvPr/>
        </p:nvSpPr>
        <p:spPr>
          <a:xfrm>
            <a:off x="960120"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Respect for your knowledge and your child’s</a:t>
            </a:r>
          </a:p>
        </p:txBody>
      </p:sp>
      <p:sp>
        <p:nvSpPr>
          <p:cNvPr id="12" name="Rounded Rectangle 11"/>
          <p:cNvSpPr/>
          <p:nvPr/>
        </p:nvSpPr>
        <p:spPr>
          <a:xfrm>
            <a:off x="4368698"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3" name="TextBox 12"/>
          <p:cNvSpPr txBox="1"/>
          <p:nvPr/>
        </p:nvSpPr>
        <p:spPr>
          <a:xfrm>
            <a:off x="4643018"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Accurate recording of what was heard</a:t>
            </a:r>
          </a:p>
        </p:txBody>
      </p:sp>
      <p:sp>
        <p:nvSpPr>
          <p:cNvPr id="14" name="Rounded Rectangle 13"/>
          <p:cNvSpPr/>
          <p:nvPr/>
        </p:nvSpPr>
        <p:spPr>
          <a:xfrm>
            <a:off x="8051597" y="3429000"/>
            <a:ext cx="3454298" cy="1188720"/>
          </a:xfrm>
          <a:prstGeom prst="roundRect">
            <a:avLst>
              <a:gd name="adj" fmla="val 12000"/>
            </a:avLst>
          </a:prstGeom>
          <a:solidFill>
            <a:srgbClr val="F3F0FA"/>
          </a:solidFill>
          <a:ln>
            <a:noFill/>
          </a:ln>
        </p:spPr>
        <p:txBody>
          <a:bodyPr rtlCol="0" anchor="ctr"/>
          <a:lstStyle/>
          <a:p>
            <a:pPr algn="ctr"/>
            <a:endParaRPr/>
          </a:p>
        </p:txBody>
      </p:sp>
      <p:sp>
        <p:nvSpPr>
          <p:cNvPr id="15" name="TextBox 14"/>
          <p:cNvSpPr txBox="1"/>
          <p:nvPr/>
        </p:nvSpPr>
        <p:spPr>
          <a:xfrm>
            <a:off x="8325917" y="3429000"/>
            <a:ext cx="2905658" cy="1188720"/>
          </a:xfrm>
          <a:prstGeom prst="rect">
            <a:avLst/>
          </a:prstGeom>
          <a:noFill/>
        </p:spPr>
        <p:txBody>
          <a:bodyPr wrap="square" lIns="0" tIns="0" rIns="0" bIns="0" anchor="ctr">
            <a:noAutofit/>
          </a:bodyPr>
          <a:lstStyle/>
          <a:p>
            <a:pPr marL="0" indent="0" algn="l">
              <a:lnSpc>
                <a:spcPct val="100000"/>
              </a:lnSpc>
              <a:spcBef>
                <a:spcPts val="0"/>
              </a:spcBef>
              <a:buNone/>
            </a:pPr>
            <a:r>
              <a:rPr lang="en-AU" sz="1900" b="1">
                <a:solidFill>
                  <a:srgbClr val="3D2A6B"/>
                </a:solidFill>
                <a:latin typeface="Arial"/>
                <a:ea typeface="Arial"/>
                <a:cs typeface="Arial"/>
              </a:rPr>
              <a:t>An agreed action, responsibility and follow-up</a:t>
            </a:r>
          </a:p>
        </p:txBody>
      </p:sp>
      <p:sp>
        <p:nvSpPr>
          <p:cNvPr id="16" name="Rounded Rectangle 15"/>
          <p:cNvSpPr/>
          <p:nvPr/>
        </p:nvSpPr>
        <p:spPr>
          <a:xfrm>
            <a:off x="685800" y="5074920"/>
            <a:ext cx="10820095"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17" name="TextBox 16"/>
          <p:cNvSpPr txBox="1"/>
          <p:nvPr/>
        </p:nvSpPr>
        <p:spPr>
          <a:xfrm>
            <a:off x="960120" y="5074920"/>
            <a:ext cx="10271455"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800" b="1">
                <a:solidFill>
                  <a:srgbClr val="584099"/>
                </a:solidFill>
                <a:latin typeface="Arial"/>
                <a:ea typeface="Arial"/>
                <a:cs typeface="Arial"/>
              </a:rPr>
              <a:t>Ask, listen, and follow up.</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BFB307-C748-4190-B8CD-319D0F096407}"/>
              </a:ext>
            </a:extLst>
          </p:cNvPr>
          <p:cNvSpPr txBox="1">
            <a:spLocks/>
          </p:cNvSpPr>
          <p:nvPr/>
        </p:nvSpPr>
        <p:spPr>
          <a:xfrm>
            <a:off x="6309360" y="457200"/>
            <a:ext cx="5196535" cy="777240"/>
          </a:xfrm>
          <a:prstGeom prst="rect">
            <a:avLst/>
          </a:prstGeom>
        </p:spPr>
        <p:txBody>
          <a:bodyPr wrap="square" lIns="0" tIns="0" rIns="0" bIns="0" anchor="t">
            <a:noAutofit/>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indent="0" algn="r">
              <a:lnSpc>
                <a:spcPct val="100000"/>
              </a:lnSpc>
              <a:spcBef>
                <a:spcPts val="0"/>
              </a:spcBef>
              <a:buNone/>
            </a:pPr>
            <a:r>
              <a:rPr lang="en-AU" sz="3600" b="0">
                <a:solidFill>
                  <a:srgbClr val="584099"/>
                </a:solidFill>
                <a:latin typeface="Arial Black"/>
                <a:ea typeface="Arial Black"/>
                <a:cs typeface="Arial Black"/>
              </a:rPr>
              <a:t>Partnership tools</a:t>
            </a:r>
          </a:p>
        </p:txBody>
      </p:sp>
      <p:pic>
        <p:nvPicPr>
          <p:cNvPr id="5" name="Picture 4"/>
          <p:cNvPicPr>
            <a:picLocks noChangeAspect="1"/>
          </p:cNvPicPr>
          <p:nvPr/>
        </p:nvPicPr>
        <p:blipFill rotWithShape="1">
          <a:blip r:embed="rId3"/>
          <a:srcRect l="-2850" t="-3367" r="-2431" b="1"/>
          <a:stretch/>
        </p:blipFill>
        <p:spPr>
          <a:xfrm rot="474070">
            <a:off x="5401381" y="1708714"/>
            <a:ext cx="6048605" cy="38713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3" name="Picture 2">
            <a:extLst>
              <a:ext uri="{FF2B5EF4-FFF2-40B4-BE49-F238E27FC236}">
                <a16:creationId xmlns:a16="http://schemas.microsoft.com/office/drawing/2014/main" id="{9937E829-43C9-4A63-A885-D69DCA04E947}"/>
              </a:ext>
            </a:extLst>
          </p:cNvPr>
          <p:cNvPicPr>
            <a:picLocks noChangeAspect="1"/>
          </p:cNvPicPr>
          <p:nvPr/>
        </p:nvPicPr>
        <p:blipFill>
          <a:blip r:embed="rId4"/>
          <a:stretch>
            <a:fillRect/>
          </a:stretch>
        </p:blipFill>
        <p:spPr>
          <a:xfrm rot="21295906">
            <a:off x="1264142" y="536121"/>
            <a:ext cx="4069586" cy="578575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5873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C9AB3-31EC-27A9-8206-7C0BE658E8B7}"/>
              </a:ext>
            </a:extLst>
          </p:cNvPr>
          <p:cNvSpPr>
            <a:spLocks noGrp="1"/>
          </p:cNvSpPr>
          <p:nvPr>
            <p:ph type="title"/>
          </p:nvPr>
        </p:nvSpPr>
        <p:spPr>
          <a:xfrm>
            <a:off x="685800" y="457200"/>
            <a:ext cx="10789920" cy="777240"/>
          </a:xfrm>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NCCD Meetings Tool Kit</a:t>
            </a:r>
          </a:p>
        </p:txBody>
      </p:sp>
      <p:pic>
        <p:nvPicPr>
          <p:cNvPr id="4" name="Content Placeholder 3">
            <a:extLst>
              <a:ext uri="{FF2B5EF4-FFF2-40B4-BE49-F238E27FC236}">
                <a16:creationId xmlns:a16="http://schemas.microsoft.com/office/drawing/2014/main" id="{A5C575AF-C7D4-085E-94F7-3A72A52D6DAC}"/>
              </a:ext>
            </a:extLst>
          </p:cNvPr>
          <p:cNvPicPr>
            <a:picLocks noGrp="1" noChangeAspect="1"/>
          </p:cNvPicPr>
          <p:nvPr>
            <p:ph idx="1"/>
          </p:nvPr>
        </p:nvPicPr>
        <p:blipFill>
          <a:blip r:embed="rId3"/>
          <a:stretch>
            <a:fillRect/>
          </a:stretch>
        </p:blipFill>
        <p:spPr>
          <a:xfrm>
            <a:off x="5486400" y="1463040"/>
            <a:ext cx="6019495" cy="3017520"/>
          </a:xfrm>
          <a:prstGeom prst="rect">
            <a:avLst/>
          </a:prstGeom>
          <a:ln w="12700">
            <a:solidFill>
              <a:schemeClr val="tx1"/>
            </a:solidFill>
          </a:ln>
        </p:spPr>
      </p:pic>
      <p:pic>
        <p:nvPicPr>
          <p:cNvPr id="5" name="Picture 4">
            <a:extLst>
              <a:ext uri="{FF2B5EF4-FFF2-40B4-BE49-F238E27FC236}">
                <a16:creationId xmlns:a16="http://schemas.microsoft.com/office/drawing/2014/main" id="{C27A36B8-FF2A-0D74-971A-0E4E85BADCA9}"/>
              </a:ext>
            </a:extLst>
          </p:cNvPr>
          <p:cNvPicPr>
            <a:picLocks noChangeAspect="1"/>
          </p:cNvPicPr>
          <p:nvPr/>
        </p:nvPicPr>
        <p:blipFill>
          <a:blip r:embed="rId4"/>
          <a:stretch>
            <a:fillRect/>
          </a:stretch>
        </p:blipFill>
        <p:spPr>
          <a:xfrm>
            <a:off x="6675120" y="3566160"/>
            <a:ext cx="4830775" cy="2240280"/>
          </a:xfrm>
          <a:prstGeom prst="rect">
            <a:avLst/>
          </a:prstGeom>
          <a:ln w="12700" cap="sq">
            <a:solidFill>
              <a:srgbClr val="000000"/>
            </a:solidFill>
            <a:miter lim="800000"/>
          </a:ln>
          <a:effectLst>
            <a:outerShdw blurRad="57150" dist="50800" dir="2700000" algn="tl" rotWithShape="0">
              <a:srgbClr val="000000">
                <a:alpha val="40000"/>
              </a:srgbClr>
            </a:outerShdw>
          </a:effectLst>
        </p:spPr>
      </p:pic>
      <p:sp>
        <p:nvSpPr>
          <p:cNvPr id="6" name="Rounded Rectangle 5"/>
          <p:cNvSpPr/>
          <p:nvPr/>
        </p:nvSpPr>
        <p:spPr>
          <a:xfrm>
            <a:off x="685800" y="1463040"/>
            <a:ext cx="4480560" cy="4480560"/>
          </a:xfrm>
          <a:prstGeom prst="roundRect">
            <a:avLst>
              <a:gd name="adj" fmla="val 7000"/>
            </a:avLst>
          </a:prstGeom>
          <a:solidFill>
            <a:srgbClr val="F3F0FA"/>
          </a:solidFill>
          <a:ln>
            <a:noFill/>
          </a:ln>
        </p:spPr>
        <p:txBody>
          <a:bodyPr rtlCol="0" anchor="ctr"/>
          <a:lstStyle/>
          <a:p>
            <a:pPr algn="ctr"/>
            <a:endParaRPr/>
          </a:p>
        </p:txBody>
      </p:sp>
      <p:sp>
        <p:nvSpPr>
          <p:cNvPr id="7" name="TextBox 6"/>
          <p:cNvSpPr txBox="1"/>
          <p:nvPr/>
        </p:nvSpPr>
        <p:spPr>
          <a:xfrm>
            <a:off x="1005840" y="1463040"/>
            <a:ext cx="3840480" cy="4480560"/>
          </a:xfrm>
          <a:prstGeom prst="rect">
            <a:avLst/>
          </a:prstGeom>
          <a:noFill/>
        </p:spPr>
        <p:txBody>
          <a:bodyPr wrap="square" lIns="0" tIns="0" rIns="0" bIns="0" anchor="ctr">
            <a:noAutofit/>
          </a:bodyPr>
          <a:lstStyle/>
          <a:p>
            <a:pPr marL="0" indent="0" algn="l">
              <a:lnSpc>
                <a:spcPct val="110000"/>
              </a:lnSpc>
              <a:spcBef>
                <a:spcPts val="0"/>
              </a:spcBef>
              <a:buNone/>
            </a:pPr>
            <a:r>
              <a:rPr lang="en-AU" sz="1800" b="0">
                <a:solidFill>
                  <a:srgbClr val="3D2A6B"/>
                </a:solidFill>
                <a:latin typeface="Arial"/>
                <a:ea typeface="Arial"/>
                <a:cs typeface="Arial"/>
              </a:rPr>
              <a:t>A free tool kit to help families and schools prepare for meetings about adjustments: before, during and after the meeting.</a:t>
            </a:r>
          </a:p>
        </p:txBody>
      </p:sp>
    </p:spTree>
    <p:extLst>
      <p:ext uri="{BB962C8B-B14F-4D97-AF65-F5344CB8AC3E}">
        <p14:creationId xmlns:p14="http://schemas.microsoft.com/office/powerpoint/2010/main" val="3674033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AB5F87-071D-404A-980A-F2281B7B03AC}"/>
              </a:ext>
            </a:extLst>
          </p:cNvPr>
          <p:cNvPicPr>
            <a:picLocks noChangeAspect="1"/>
          </p:cNvPicPr>
          <p:nvPr/>
        </p:nvPicPr>
        <p:blipFill>
          <a:blip r:embed="rId4"/>
          <a:stretch>
            <a:fillRect/>
          </a:stretch>
        </p:blipFill>
        <p:spPr>
          <a:xfrm>
            <a:off x="3236087" y="1021709"/>
            <a:ext cx="7316089" cy="3384721"/>
          </a:xfrm>
          <a:prstGeom prst="rect">
            <a:avLst/>
          </a:prstGeom>
        </p:spPr>
      </p:pic>
      <p:sp>
        <p:nvSpPr>
          <p:cNvPr id="9" name="TextBox 1"/>
          <p:cNvSpPr txBox="1">
            <a:spLocks noChangeArrowheads="1"/>
          </p:cNvSpPr>
          <p:nvPr/>
        </p:nvSpPr>
        <p:spPr bwMode="auto">
          <a:xfrm>
            <a:off x="685800" y="457200"/>
            <a:ext cx="3108960" cy="1828800"/>
          </a:xfrm>
          <a:prstGeom prst="rect">
            <a:avLst/>
          </a:prstGeom>
        </p:spPr>
        <p:txBody>
          <a:bodyPr wrap="square" lIns="0" tIns="0" rIns="0" bIns="0" anchor="t">
            <a:noAutofit/>
          </a:bodyPr>
          <a:lstStyle>
            <a:defPPr>
              <a:defRPr lang="en-US"/>
            </a:defPPr>
            <a:lvl1pPr>
              <a:defRPr sz="4400" b="1">
                <a:solidFill>
                  <a:srgbClr val="BBD64A"/>
                </a:solidFill>
                <a:latin typeface="Arial Black" panose="020B0A04020102020204" pitchFamily="34" charset="0"/>
              </a:defRPr>
            </a:lvl1pPr>
          </a:lstStyle>
          <a:p>
            <a:pPr marL="0" indent="0" algn="l">
              <a:lnSpc>
                <a:spcPct val="95000"/>
              </a:lnSpc>
              <a:spcBef>
                <a:spcPts val="0"/>
              </a:spcBef>
              <a:buNone/>
            </a:pPr>
            <a:r>
              <a:rPr lang="en-AU" sz="3200" b="0">
                <a:solidFill>
                  <a:srgbClr val="584099"/>
                </a:solidFill>
                <a:latin typeface="Arial Black"/>
                <a:ea typeface="Arial Black"/>
                <a:cs typeface="Arial Black"/>
              </a:rPr>
              <a:t>Other practical supports</a:t>
            </a:r>
          </a:p>
        </p:txBody>
      </p:sp>
      <p:pic>
        <p:nvPicPr>
          <p:cNvPr id="3" name="Picture 2">
            <a:extLst>
              <a:ext uri="{FF2B5EF4-FFF2-40B4-BE49-F238E27FC236}">
                <a16:creationId xmlns:a16="http://schemas.microsoft.com/office/drawing/2014/main" id="{3DB99A03-8A97-4FE0-A7C3-EE23BB83DC5F}"/>
              </a:ext>
            </a:extLst>
          </p:cNvPr>
          <p:cNvPicPr>
            <a:picLocks noChangeAspect="1"/>
          </p:cNvPicPr>
          <p:nvPr/>
        </p:nvPicPr>
        <p:blipFill>
          <a:blip r:embed="rId5"/>
          <a:stretch>
            <a:fillRect/>
          </a:stretch>
        </p:blipFill>
        <p:spPr>
          <a:xfrm>
            <a:off x="5378125" y="5026533"/>
            <a:ext cx="2686050" cy="1123950"/>
          </a:xfrm>
          <a:prstGeom prst="rect">
            <a:avLst/>
          </a:prstGeom>
        </p:spPr>
      </p:pic>
      <p:pic>
        <p:nvPicPr>
          <p:cNvPr id="4" name="Picture 3">
            <a:extLst>
              <a:ext uri="{FF2B5EF4-FFF2-40B4-BE49-F238E27FC236}">
                <a16:creationId xmlns:a16="http://schemas.microsoft.com/office/drawing/2014/main" id="{FAC9DECC-D55E-40AE-B8AC-04D7790C5A76}"/>
              </a:ext>
            </a:extLst>
          </p:cNvPr>
          <p:cNvPicPr>
            <a:picLocks noChangeAspect="1"/>
          </p:cNvPicPr>
          <p:nvPr/>
        </p:nvPicPr>
        <p:blipFill>
          <a:blip r:embed="rId6"/>
          <a:stretch>
            <a:fillRect/>
          </a:stretch>
        </p:blipFill>
        <p:spPr>
          <a:xfrm>
            <a:off x="7989775" y="4989207"/>
            <a:ext cx="3726997" cy="1437208"/>
          </a:xfrm>
          <a:prstGeom prst="rect">
            <a:avLst/>
          </a:prstGeom>
        </p:spPr>
      </p:pic>
      <p:pic>
        <p:nvPicPr>
          <p:cNvPr id="7" name="Picture 6">
            <a:extLst>
              <a:ext uri="{FF2B5EF4-FFF2-40B4-BE49-F238E27FC236}">
                <a16:creationId xmlns:a16="http://schemas.microsoft.com/office/drawing/2014/main" id="{7C84697F-26B5-4810-B0E5-ED47D75ABC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414587" y="4914304"/>
            <a:ext cx="3378775" cy="911310"/>
          </a:xfrm>
          <a:prstGeom prst="rect">
            <a:avLst/>
          </a:prstGeom>
        </p:spPr>
      </p:pic>
      <p:pic>
        <p:nvPicPr>
          <p:cNvPr id="11" name="Picture 10">
            <a:extLst>
              <a:ext uri="{FF2B5EF4-FFF2-40B4-BE49-F238E27FC236}">
                <a16:creationId xmlns:a16="http://schemas.microsoft.com/office/drawing/2014/main" id="{8203F3AC-DC1E-46D5-8169-88AF76468301}"/>
              </a:ext>
            </a:extLst>
          </p:cNvPr>
          <p:cNvPicPr>
            <a:picLocks noChangeAspect="1"/>
          </p:cNvPicPr>
          <p:nvPr/>
        </p:nvPicPr>
        <p:blipFill>
          <a:blip r:embed="rId8"/>
          <a:stretch>
            <a:fillRect/>
          </a:stretch>
        </p:blipFill>
        <p:spPr>
          <a:xfrm>
            <a:off x="1579975" y="5752462"/>
            <a:ext cx="3048000" cy="581025"/>
          </a:xfrm>
          <a:prstGeom prst="rect">
            <a:avLst/>
          </a:prstGeom>
        </p:spPr>
      </p:pic>
      <p:sp>
        <p:nvSpPr>
          <p:cNvPr id="12" name="Support lines"/>
          <p:cNvSpPr txBox="1"/>
          <p:nvPr/>
        </p:nvSpPr>
        <p:spPr>
          <a:xfrm>
            <a:off x="685800" y="2514600"/>
            <a:ext cx="2468880" cy="2194560"/>
          </a:xfrm>
          <a:prstGeom prst="rect">
            <a:avLst/>
          </a:prstGeom>
          <a:noFill/>
        </p:spPr>
        <p:txBody>
          <a:bodyPr wrap="square" lIns="0" tIns="0" rIns="0" bIns="0">
            <a:spAutoFit/>
          </a:bodyPr>
          <a:lstStyle/>
          <a:p>
            <a:r>
              <a:rPr sz="1800" b="1">
                <a:solidFill>
                  <a:srgbClr val="584099"/>
                </a:solidFill>
                <a:latin typeface="Arial"/>
              </a:rPr>
              <a:t>Lifeline</a:t>
            </a:r>
          </a:p>
          <a:p>
            <a:r>
              <a:rPr sz="2000" b="1">
                <a:solidFill>
                  <a:srgbClr val="3D2A6B"/>
                </a:solidFill>
                <a:latin typeface="Arial"/>
              </a:rPr>
              <a:t>13 11 14</a:t>
            </a:r>
          </a:p>
          <a:p>
            <a:pPr>
              <a:spcBef>
                <a:spcPts val="1000"/>
              </a:spcBef>
            </a:pPr>
            <a:r>
              <a:rPr sz="1800" b="1">
                <a:solidFill>
                  <a:srgbClr val="584099"/>
                </a:solidFill>
                <a:latin typeface="Arial"/>
              </a:rPr>
              <a:t>Kids Helpline</a:t>
            </a:r>
          </a:p>
          <a:p>
            <a:r>
              <a:rPr sz="2000" b="1">
                <a:solidFill>
                  <a:srgbClr val="3D2A6B"/>
                </a:solidFill>
                <a:latin typeface="Arial"/>
              </a:rPr>
              <a:t>1800 55 1800</a:t>
            </a:r>
          </a:p>
          <a:p>
            <a:r>
              <a:rPr sz="1400" b="0">
                <a:solidFill>
                  <a:srgbClr val="3D2A6B"/>
                </a:solidFill>
                <a:latin typeface="Arial"/>
              </a:rPr>
              <a:t>Also supports parents and carers</a:t>
            </a:r>
          </a:p>
        </p:txBody>
      </p:sp>
    </p:spTree>
    <p:custDataLst>
      <p:tags r:id="rId1"/>
    </p:custDataLst>
    <p:extLst>
      <p:ext uri="{BB962C8B-B14F-4D97-AF65-F5344CB8AC3E}">
        <p14:creationId xmlns:p14="http://schemas.microsoft.com/office/powerpoint/2010/main" val="3024513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8549640" y="3840480"/>
            <a:ext cx="4873752" cy="4873752"/>
          </a:xfrm>
          <a:prstGeom prst="ellipse">
            <a:avLst/>
          </a:prstGeom>
          <a:solidFill>
            <a:srgbClr val="EDE8F8"/>
          </a:solidFill>
          <a:ln>
            <a:noFill/>
          </a:ln>
        </p:spPr>
        <p:txBody>
          <a:bodyPr rtlCol="0" anchor="ctr"/>
          <a:lstStyle/>
          <a:p>
            <a:pPr algn="ctr"/>
            <a:endParaRPr/>
          </a:p>
        </p:txBody>
      </p:sp>
      <p:sp>
        <p:nvSpPr>
          <p:cNvPr id="2" name="Title"/>
          <p:cNvSpPr txBox="1"/>
          <p:nvPr/>
        </p:nvSpPr>
        <p:spPr>
          <a:xfrm>
            <a:off x="685800" y="457200"/>
            <a:ext cx="10789920" cy="777240"/>
          </a:xfrm>
          <a:prstGeom prst="rect">
            <a:avLst/>
          </a:prstGeom>
          <a:noFill/>
        </p:spPr>
        <p:txBody>
          <a:bodyPr wrap="square" lIns="0" tIns="0" rIns="0" bIns="0" anchor="t">
            <a:noAutofit/>
          </a:bodyPr>
          <a:lstStyle/>
          <a:p>
            <a:pPr marL="0" indent="0" algn="l">
              <a:lnSpc>
                <a:spcPct val="95000"/>
              </a:lnSpc>
              <a:spcBef>
                <a:spcPts val="0"/>
              </a:spcBef>
              <a:buNone/>
            </a:pPr>
            <a:r>
              <a:rPr lang="en-AU" sz="3600" b="0">
                <a:solidFill>
                  <a:srgbClr val="584099"/>
                </a:solidFill>
                <a:latin typeface="Arial Black"/>
                <a:ea typeface="Arial Black"/>
                <a:cs typeface="Arial Black"/>
              </a:rPr>
              <a:t>Prepare for a conversation with school</a:t>
            </a:r>
          </a:p>
        </p:txBody>
      </p:sp>
      <p:sp>
        <p:nvSpPr>
          <p:cNvPr id="4" name="Rounded Rectangle 3"/>
          <p:cNvSpPr/>
          <p:nvPr/>
        </p:nvSpPr>
        <p:spPr>
          <a:xfrm>
            <a:off x="685800" y="1554480"/>
            <a:ext cx="9509760" cy="3840480"/>
          </a:xfrm>
          <a:prstGeom prst="roundRect">
            <a:avLst>
              <a:gd name="adj" fmla="val 7000"/>
            </a:avLst>
          </a:prstGeom>
          <a:solidFill>
            <a:srgbClr val="F3F0FA"/>
          </a:solidFill>
          <a:ln>
            <a:noFill/>
          </a:ln>
        </p:spPr>
        <p:txBody>
          <a:bodyPr rtlCol="0" anchor="ctr"/>
          <a:lstStyle/>
          <a:p>
            <a:pPr algn="ctr"/>
            <a:endParaRPr/>
          </a:p>
        </p:txBody>
      </p:sp>
      <p:pic>
        <p:nvPicPr>
          <p:cNvPr id="5" name="Discussion icon" descr="Speech bubbles"/>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3000" y="1965960"/>
            <a:ext cx="658368" cy="658368"/>
          </a:xfrm>
          <a:prstGeom prst="rect">
            <a:avLst/>
          </a:prstGeom>
        </p:spPr>
      </p:pic>
      <p:sp>
        <p:nvSpPr>
          <p:cNvPr id="6" name="TextBox 5"/>
          <p:cNvSpPr txBox="1"/>
          <p:nvPr/>
        </p:nvSpPr>
        <p:spPr>
          <a:xfrm>
            <a:off x="2194560" y="1828800"/>
            <a:ext cx="7680960" cy="3383280"/>
          </a:xfrm>
          <a:prstGeom prst="rect">
            <a:avLst/>
          </a:prstGeom>
          <a:noFill/>
        </p:spPr>
        <p:txBody>
          <a:bodyPr wrap="square" lIns="0" tIns="0" rIns="0" bIns="0" anchor="ctr">
            <a:noAutofit/>
          </a:bodyPr>
          <a:lstStyle/>
          <a:p>
            <a:pPr marL="0" indent="0" algn="l">
              <a:lnSpc>
                <a:spcPct val="100000"/>
              </a:lnSpc>
              <a:spcBef>
                <a:spcPts val="0"/>
              </a:spcBef>
              <a:buNone/>
            </a:pPr>
            <a:r>
              <a:rPr lang="en-AU" sz="2400" b="1">
                <a:solidFill>
                  <a:srgbClr val="3D2A6B"/>
                </a:solidFill>
                <a:latin typeface="Arial"/>
                <a:ea typeface="Arial"/>
                <a:cs typeface="Arial"/>
              </a:rPr>
              <a:t>Prepare for one purposeful conversation.</a:t>
            </a:r>
          </a:p>
          <a:p>
            <a:pPr marL="347472" indent="-347472" algn="l">
              <a:lnSpc>
                <a:spcPct val="100000"/>
              </a:lnSpc>
              <a:spcBef>
                <a:spcPts val="1400"/>
              </a:spcBef>
              <a:buClr>
                <a:srgbClr val="584099"/>
              </a:buClr>
              <a:buFont typeface="Arial"/>
              <a:buChar char="•"/>
            </a:pPr>
            <a:r>
              <a:rPr lang="en-AU" sz="2000" b="0">
                <a:solidFill>
                  <a:srgbClr val="3D2A6B"/>
                </a:solidFill>
                <a:latin typeface="Arial"/>
                <a:ea typeface="Arial"/>
                <a:cs typeface="Arial"/>
              </a:rPr>
              <a:t>What needs to be understood?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question will open the conversation?</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will your child’s voice be included?</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What can be decided together?</a:t>
            </a:r>
          </a:p>
          <a:p>
            <a:pPr marL="347472" indent="-347472" algn="l">
              <a:lnSpc>
                <a:spcPct val="100000"/>
              </a:lnSpc>
              <a:spcBef>
                <a:spcPts val="1000"/>
              </a:spcBef>
              <a:buClr>
                <a:srgbClr val="584099"/>
              </a:buClr>
              <a:buFont typeface="Arial"/>
              <a:buChar char="•"/>
            </a:pPr>
            <a:r>
              <a:rPr lang="en-AU" sz="2000" b="0">
                <a:solidFill>
                  <a:srgbClr val="3D2A6B"/>
                </a:solidFill>
                <a:latin typeface="Arial"/>
                <a:ea typeface="Arial"/>
                <a:cs typeface="Arial"/>
              </a:rPr>
              <a:t>How and when will we follow up?</a:t>
            </a:r>
          </a:p>
        </p:txBody>
      </p:sp>
      <p:sp>
        <p:nvSpPr>
          <p:cNvPr id="7" name="Rounded Rectangle 6"/>
          <p:cNvSpPr/>
          <p:nvPr/>
        </p:nvSpPr>
        <p:spPr>
          <a:xfrm>
            <a:off x="685800" y="5623560"/>
            <a:ext cx="9509760" cy="566928"/>
          </a:xfrm>
          <a:prstGeom prst="roundRect">
            <a:avLst>
              <a:gd name="adj" fmla="val 50000"/>
            </a:avLst>
          </a:prstGeom>
          <a:solidFill>
            <a:srgbClr val="FFFFFF"/>
          </a:solidFill>
          <a:ln w="19050">
            <a:solidFill>
              <a:srgbClr val="584099"/>
            </a:solidFill>
          </a:ln>
        </p:spPr>
        <p:txBody>
          <a:bodyPr rtlCol="0" anchor="ctr"/>
          <a:lstStyle/>
          <a:p>
            <a:pPr algn="ctr"/>
            <a:endParaRPr/>
          </a:p>
        </p:txBody>
      </p:sp>
      <p:sp>
        <p:nvSpPr>
          <p:cNvPr id="8" name="TextBox 7"/>
          <p:cNvSpPr txBox="1"/>
          <p:nvPr/>
        </p:nvSpPr>
        <p:spPr>
          <a:xfrm>
            <a:off x="960120" y="5623560"/>
            <a:ext cx="8961120" cy="566928"/>
          </a:xfrm>
          <a:prstGeom prst="rect">
            <a:avLst/>
          </a:prstGeom>
          <a:noFill/>
        </p:spPr>
        <p:txBody>
          <a:bodyPr wrap="square" lIns="0" tIns="0" rIns="0" bIns="0" anchor="ctr">
            <a:noAutofit/>
          </a:bodyPr>
          <a:lstStyle/>
          <a:p>
            <a:pPr marL="0" indent="0" algn="ctr">
              <a:lnSpc>
                <a:spcPct val="100000"/>
              </a:lnSpc>
              <a:spcBef>
                <a:spcPts val="0"/>
              </a:spcBef>
              <a:buNone/>
            </a:pPr>
            <a:r>
              <a:rPr lang="en-AU" sz="1700" b="1">
                <a:solidFill>
                  <a:srgbClr val="584099"/>
                </a:solidFill>
                <a:latin typeface="Arial"/>
                <a:ea typeface="Arial"/>
                <a:cs typeface="Arial"/>
              </a:rPr>
              <a:t>Bring these notes to Session 6.</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5DF672D9920B44888613C845FEE28C" ma:contentTypeVersion="13" ma:contentTypeDescription="Create a new document." ma:contentTypeScope="" ma:versionID="f74e0793e4bbea6511fcde495954d792">
  <xsd:schema xmlns:xsd="http://www.w3.org/2001/XMLSchema" xmlns:xs="http://www.w3.org/2001/XMLSchema" xmlns:p="http://schemas.microsoft.com/office/2006/metadata/properties" xmlns:ns2="f0bb3e21-4545-485a-b693-7e527aa5b0a1" xmlns:ns3="27f1137f-2ca6-4fef-8072-b9e4ddf9f88d" targetNamespace="http://schemas.microsoft.com/office/2006/metadata/properties" ma:root="true" ma:fieldsID="83fb0c578da1c893ab66577103c670f4" ns2:_="" ns3:_="">
    <xsd:import namespace="f0bb3e21-4545-485a-b693-7e527aa5b0a1"/>
    <xsd:import namespace="27f1137f-2ca6-4fef-8072-b9e4ddf9f88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bb3e21-4545-485a-b693-7e527aa5b0a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0234d0ea-ced3-483a-ade0-71e1f4ad4276"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7f1137f-2ca6-4fef-8072-b9e4ddf9f88d"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25baa329-1694-49a7-99b3-a1d2375b9e3c}" ma:internalName="TaxCatchAll" ma:showField="CatchAllData" ma:web="27f1137f-2ca6-4fef-8072-b9e4ddf9f88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0bb3e21-4545-485a-b693-7e527aa5b0a1">
      <Terms xmlns="http://schemas.microsoft.com/office/infopath/2007/PartnerControls"/>
    </lcf76f155ced4ddcb4097134ff3c332f>
    <TaxCatchAll xmlns="27f1137f-2ca6-4fef-8072-b9e4ddf9f88d" xsi:nil="true"/>
  </documentManagement>
</p:properties>
</file>

<file path=customXml/itemProps1.xml><?xml version="1.0" encoding="utf-8"?>
<ds:datastoreItem xmlns:ds="http://schemas.openxmlformats.org/officeDocument/2006/customXml" ds:itemID="{8F38CC49-5BCA-4AE9-8473-8E73B8C1E934}">
  <ds:schemaRefs>
    <ds:schemaRef ds:uri="27f1137f-2ca6-4fef-8072-b9e4ddf9f88d"/>
    <ds:schemaRef ds:uri="f0bb3e21-4545-485a-b693-7e527aa5b0a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B494170-94B9-4839-8B23-312C5CAD4F7F}">
  <ds:schemaRefs>
    <ds:schemaRef ds:uri="http://schemas.microsoft.com/sharepoint/v3/contenttype/forms"/>
  </ds:schemaRefs>
</ds:datastoreItem>
</file>

<file path=customXml/itemProps3.xml><?xml version="1.0" encoding="utf-8"?>
<ds:datastoreItem xmlns:ds="http://schemas.openxmlformats.org/officeDocument/2006/customXml" ds:itemID="{E21C6D3C-3208-4C9A-BB97-4BF1FDBC9CA8}">
  <ds:schemaRefs>
    <ds:schemaRef ds:uri="27f1137f-2ca6-4fef-8072-b9e4ddf9f88d"/>
    <ds:schemaRef ds:uri="f0bb3e21-4545-485a-b693-7e527aa5b0a1"/>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TotalTime>
  <Words>4948</Words>
  <Application>Microsoft Macintosh PowerPoint</Application>
  <PresentationFormat>Widescreen</PresentationFormat>
  <Paragraphs>526</Paragraphs>
  <Slides>17</Slides>
  <Notes>17</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Arial Black</vt:lpstr>
      <vt:lpstr>Calibri</vt:lpstr>
      <vt:lpstr>Office Theme</vt:lpstr>
      <vt:lpstr>PowerPoint Presentation</vt:lpstr>
      <vt:lpstr>Working in partnerships</vt:lpstr>
      <vt:lpstr>PowerPoint Presentation</vt:lpstr>
      <vt:lpstr>What is effective collaboration?</vt:lpstr>
      <vt:lpstr>PowerPoint Presentation</vt:lpstr>
      <vt:lpstr>PowerPoint Presentation</vt:lpstr>
      <vt:lpstr>PowerPoint Presentation</vt:lpstr>
      <vt:lpstr>Partnership activity</vt:lpstr>
      <vt:lpstr>PowerPoint Presentation</vt:lpstr>
      <vt:lpstr>PowerPoint Presentation</vt:lpstr>
      <vt:lpstr>PowerPoint Presentation</vt:lpstr>
      <vt:lpstr>PowerPoint Presentation</vt:lpstr>
      <vt:lpstr>PowerPoint Presentation</vt:lpstr>
      <vt:lpstr>PowerPoint Presentation</vt:lpstr>
      <vt:lpstr>NCCD Meetings Tool Kit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Jen Cousins</dc:creator>
  <cp:lastModifiedBy>Craig Smith</cp:lastModifiedBy>
  <cp:revision>3</cp:revision>
  <dcterms:created xsi:type="dcterms:W3CDTF">2026-08-24T06:22:15Z</dcterms:created>
  <dcterms:modified xsi:type="dcterms:W3CDTF">2026-09-25T06:44:30Z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0x010100C75DF672D9920B44888613C845FEE28C</vt:lpwstr>
  </property>
  <property fmtid="{D5CDD505-2E9C-101B-9397-08002B2CF9AE}" pid="3" name="MediaServiceImageTags">
    <vt:lpwstr/>
  </property>
</Properties>
</file>